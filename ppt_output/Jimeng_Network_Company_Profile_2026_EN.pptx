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slideLayout" Target="../slideLayouts/slideLayout1.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image" Target="../media/image-18-2.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website/1713201c-620c-5ce1-b439-a99d37e654e6/scratchpad/build/../assets/jm_cove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website/1713201c-620c-5ce1-b439-a99d37e654e6/scratchpad/build/../assets/jm_logo.png">    </p:cNvPr>
          <p:cNvPicPr>
            <a:picLocks noChangeAspect="1"/>
          </p:cNvPicPr>
          <p:nvPr/>
        </p:nvPicPr>
        <p:blipFill>
          <a:blip r:embed="rId2">
            <a:alphaModFix amt="12000"/>
          </a:blip>
          <a:stretch>
            <a:fillRect/>
          </a:stretch>
        </p:blipFill>
        <p:spPr>
          <a:xfrm>
            <a:off x="7223760" y="822960"/>
            <a:ext cx="5852160" cy="5029200"/>
          </a:xfrm>
          <a:prstGeom prst="rect">
            <a:avLst/>
          </a:prstGeom>
        </p:spPr>
      </p:pic>
      <p:pic>
        <p:nvPicPr>
          <p:cNvPr id="4" name="Image 2" descr="/tmp/claude-0/-home-user-website/1713201c-620c-5ce1-b439-a99d37e654e6/scratchpad/build/../assets/jm_logo.png">    </p:cNvPr>
          <p:cNvPicPr>
            <a:picLocks noChangeAspect="1"/>
          </p:cNvPicPr>
          <p:nvPr/>
        </p:nvPicPr>
        <p:blipFill>
          <a:blip r:embed="rId3"/>
          <a:stretch>
            <a:fillRect/>
          </a:stretch>
        </p:blipFill>
        <p:spPr>
          <a:xfrm>
            <a:off x="731520" y="685800"/>
            <a:ext cx="713232" cy="612648"/>
          </a:xfrm>
          <a:prstGeom prst="rect">
            <a:avLst/>
          </a:prstGeom>
        </p:spPr>
      </p:pic>
      <p:sp>
        <p:nvSpPr>
          <p:cNvPr id="5" name="Text 0"/>
          <p:cNvSpPr txBox="1"/>
          <p:nvPr/>
        </p:nvSpPr>
        <p:spPr>
          <a:xfrm>
            <a:off x="1572768" y="658368"/>
            <a:ext cx="3657600" cy="6858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Jimeng Network</a:t>
            </a:r>
            <a:endParaRPr lang="en-US" sz="2000" dirty="0"/>
          </a:p>
          <a:p>
            <a:pPr indent="0" marL="0">
              <a:buNone/>
            </a:pPr>
            <a:r>
              <a:rPr lang="en-US" sz="1000" spc="200" kern="0" dirty="0">
                <a:solidFill>
                  <a:srgbClr val="7FD9DF"/>
                </a:solidFill>
                <a:latin typeface="Microsoft YaHei" pitchFamily="34" charset="0"/>
                <a:ea typeface="Microsoft YaHei" pitchFamily="34" charset="-122"/>
                <a:cs typeface="Microsoft YaHei" pitchFamily="34" charset="-120"/>
              </a:rPr>
              <a:t>绩盟网络</a:t>
            </a:r>
            <a:endParaRPr lang="en-US" sz="2000" dirty="0"/>
          </a:p>
        </p:txBody>
      </p:sp>
      <p:sp>
        <p:nvSpPr>
          <p:cNvPr id="6" name="Text 1"/>
          <p:cNvSpPr txBox="1"/>
          <p:nvPr/>
        </p:nvSpPr>
        <p:spPr>
          <a:xfrm>
            <a:off x="731520" y="2148840"/>
            <a:ext cx="5486400" cy="274320"/>
          </a:xfrm>
          <a:prstGeom prst="rect">
            <a:avLst/>
          </a:prstGeom>
          <a:noFill/>
          <a:ln/>
        </p:spPr>
        <p:txBody>
          <a:bodyPr wrap="square" lIns="0" tIns="0" rIns="0" bIns="0" rtlCol="0" anchor="ctr"/>
          <a:lstStyle/>
          <a:p>
            <a:pPr indent="0" marL="0">
              <a:buNone/>
            </a:pPr>
            <a:r>
              <a:rPr lang="en-US" sz="1200" b="1" spc="600" kern="0" dirty="0">
                <a:solidFill>
                  <a:srgbClr val="2FB8C4"/>
                </a:solidFill>
                <a:latin typeface="Arial" pitchFamily="34" charset="0"/>
                <a:ea typeface="Arial" pitchFamily="34" charset="-122"/>
                <a:cs typeface="Arial" pitchFamily="34" charset="-120"/>
              </a:rPr>
              <a:t>COMPANY PROFILE  2026</a:t>
            </a:r>
            <a:endParaRPr lang="en-US" sz="1200" dirty="0"/>
          </a:p>
        </p:txBody>
      </p:sp>
      <p:sp>
        <p:nvSpPr>
          <p:cNvPr id="7" name="Text 2"/>
          <p:cNvSpPr txBox="1"/>
          <p:nvPr/>
        </p:nvSpPr>
        <p:spPr>
          <a:xfrm>
            <a:off x="731520" y="2514600"/>
            <a:ext cx="8229600" cy="1920240"/>
          </a:xfrm>
          <a:prstGeom prst="rect">
            <a:avLst/>
          </a:prstGeom>
          <a:noFill/>
          <a:ln/>
        </p:spPr>
        <p:txBody>
          <a:bodyPr wrap="square" lIns="0" tIns="0" rIns="0" bIns="0" rtlCol="0" anchor="ctr"/>
          <a:lstStyle/>
          <a:p>
            <a:pPr indent="0" marL="0">
              <a:lnSpc>
                <a:spcPct val="100000"/>
              </a:lnSpc>
              <a:buNone/>
            </a:pPr>
            <a:r>
              <a:rPr lang="en-US" sz="5400" b="1" dirty="0">
                <a:solidFill>
                  <a:srgbClr val="FFFFFF"/>
                </a:solidFill>
                <a:latin typeface="Arial" pitchFamily="34" charset="0"/>
                <a:ea typeface="Arial" pitchFamily="34" charset="-122"/>
                <a:cs typeface="Arial" pitchFamily="34" charset="-120"/>
              </a:rPr>
              <a:t>Engineering that lives</a:t>
            </a:r>
            <a:endParaRPr lang="en-US" sz="5400" dirty="0"/>
          </a:p>
          <a:p>
            <a:pPr indent="0" marL="0">
              <a:lnSpc>
                <a:spcPct val="100000"/>
              </a:lnSpc>
              <a:buNone/>
            </a:pPr>
            <a:r>
              <a:rPr lang="en-US" sz="5400" b="1" dirty="0">
                <a:solidFill>
                  <a:srgbClr val="2FB8C4"/>
                </a:solidFill>
                <a:latin typeface="Arial" pitchFamily="34" charset="0"/>
                <a:ea typeface="Arial" pitchFamily="34" charset="-122"/>
                <a:cs typeface="Arial" pitchFamily="34" charset="-120"/>
              </a:rPr>
              <a:t>inside your business.</a:t>
            </a:r>
            <a:endParaRPr lang="en-US" sz="5400" dirty="0"/>
          </a:p>
        </p:txBody>
      </p:sp>
      <p:sp>
        <p:nvSpPr>
          <p:cNvPr id="8" name="Text 3"/>
          <p:cNvSpPr txBox="1"/>
          <p:nvPr/>
        </p:nvSpPr>
        <p:spPr>
          <a:xfrm>
            <a:off x="731520" y="4572000"/>
            <a:ext cx="7772400" cy="411480"/>
          </a:xfrm>
          <a:prstGeom prst="rect">
            <a:avLst/>
          </a:prstGeom>
          <a:noFill/>
          <a:ln/>
        </p:spPr>
        <p:txBody>
          <a:bodyPr wrap="square" lIns="0" tIns="0" rIns="0" bIns="0" rtlCol="0" anchor="ctr"/>
          <a:lstStyle/>
          <a:p>
            <a:pPr indent="0" marL="0">
              <a:buNone/>
            </a:pPr>
            <a:r>
              <a:rPr lang="en-US" sz="1700" i="1" dirty="0">
                <a:solidFill>
                  <a:srgbClr val="7FD9DF"/>
                </a:solidFill>
                <a:latin typeface="Arial" pitchFamily="34" charset="0"/>
                <a:ea typeface="Arial" pitchFamily="34" charset="-122"/>
                <a:cs typeface="Arial" pitchFamily="34" charset="-120"/>
              </a:rPr>
              <a:t>Digital and AI engineering for brands — from strategy to systems in production.</a:t>
            </a:r>
            <a:endParaRPr lang="en-US" sz="1700" dirty="0"/>
          </a:p>
        </p:txBody>
      </p:sp>
      <p:sp>
        <p:nvSpPr>
          <p:cNvPr id="9" name="Text 4"/>
          <p:cNvSpPr txBox="1"/>
          <p:nvPr/>
        </p:nvSpPr>
        <p:spPr>
          <a:xfrm>
            <a:off x="731520" y="5166360"/>
            <a:ext cx="8229600" cy="320040"/>
          </a:xfrm>
          <a:prstGeom prst="rect">
            <a:avLst/>
          </a:prstGeom>
          <a:noFill/>
          <a:ln/>
        </p:spPr>
        <p:txBody>
          <a:bodyPr wrap="square" lIns="0" tIns="0" rIns="0" bIns="0" rtlCol="0" anchor="ctr"/>
          <a:lstStyle/>
          <a:p>
            <a:pPr indent="0" marL="0">
              <a:buNone/>
            </a:pPr>
            <a:r>
              <a:rPr lang="en-US" sz="1250" dirty="0">
                <a:solidFill>
                  <a:srgbClr val="E6F1F3"/>
                </a:solidFill>
                <a:latin typeface="Arial" pitchFamily="34" charset="0"/>
                <a:ea typeface="Arial" pitchFamily="34" charset="-122"/>
                <a:cs typeface="Arial" pitchFamily="34" charset="-120"/>
              </a:rPr>
              <a:t>Strategy   ·   Engineering   ·   Operations   ·   AI Forward Deployed Engineering</a:t>
            </a:r>
            <a:endParaRPr lang="en-US" sz="1250" dirty="0"/>
          </a:p>
        </p:txBody>
      </p:sp>
      <p:sp>
        <p:nvSpPr>
          <p:cNvPr id="10" name="Text 5"/>
          <p:cNvSpPr txBox="1"/>
          <p:nvPr/>
        </p:nvSpPr>
        <p:spPr>
          <a:xfrm>
            <a:off x="731520" y="6172200"/>
            <a:ext cx="7315200" cy="274320"/>
          </a:xfrm>
          <a:prstGeom prst="rect">
            <a:avLst/>
          </a:prstGeom>
          <a:noFill/>
          <a:ln/>
        </p:spPr>
        <p:txBody>
          <a:bodyPr wrap="square" lIns="0" tIns="0" rIns="0" bIns="0" rtlCol="0" anchor="ctr"/>
          <a:lstStyle/>
          <a:p>
            <a:pPr indent="0" marL="0">
              <a:buNone/>
            </a:pPr>
            <a:r>
              <a:rPr lang="en-US" sz="1000" dirty="0">
                <a:solidFill>
                  <a:srgbClr val="8FA9AE"/>
                </a:solidFill>
                <a:latin typeface="Arial" pitchFamily="34" charset="0"/>
                <a:ea typeface="Arial" pitchFamily="34" charset="-122"/>
                <a:cs typeface="Arial" pitchFamily="34" charset="-120"/>
              </a:rPr>
              <a:t>Shanghai Jimeng Network Technology Co., Ltd.   |   Since 2014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claude-0/-home-user-website/1713201c-620c-5ce1-b439-a99d37e654e6/scratchpad/build/../assets/jm_bg.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WHO WE ARE</a:t>
            </a:r>
            <a:endParaRPr lang="en-US" sz="1100" dirty="0"/>
          </a:p>
        </p:txBody>
      </p:sp>
      <p:sp>
        <p:nvSpPr>
          <p:cNvPr id="4" name="Text 1"/>
          <p:cNvSpPr txBox="1"/>
          <p:nvPr/>
        </p:nvSpPr>
        <p:spPr>
          <a:xfrm>
            <a:off x="548640" y="74980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Twelve years of getting things shipped</a:t>
            </a:r>
            <a:endParaRPr lang="en-US" sz="3000" dirty="0"/>
          </a:p>
        </p:txBody>
      </p:sp>
      <p:sp>
        <p:nvSpPr>
          <p:cNvPr id="5" name="Text 2"/>
          <p:cNvSpPr txBox="1"/>
          <p:nvPr/>
        </p:nvSpPr>
        <p:spPr>
          <a:xfrm>
            <a:off x="548640" y="1389888"/>
            <a:ext cx="1097280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An engineering-first team that turns ideas into working systems.</a:t>
            </a:r>
            <a:endParaRPr lang="en-US" sz="1300" dirty="0"/>
          </a:p>
        </p:txBody>
      </p:sp>
      <p:sp>
        <p:nvSpPr>
          <p:cNvPr id="6" name="Text 3"/>
          <p:cNvSpPr txBox="1"/>
          <p:nvPr/>
        </p:nvSpPr>
        <p:spPr>
          <a:xfrm>
            <a:off x="548640" y="2103120"/>
            <a:ext cx="5577840" cy="1828800"/>
          </a:xfrm>
          <a:prstGeom prst="rect">
            <a:avLst/>
          </a:prstGeom>
          <a:noFill/>
          <a:ln/>
        </p:spPr>
        <p:txBody>
          <a:bodyPr wrap="square" lIns="0" tIns="0" rIns="0" bIns="0" rtlCol="0" anchor="t"/>
          <a:lstStyle/>
          <a:p>
            <a:pPr indent="0" marL="0">
              <a:lnSpc>
                <a:spcPct val="130000"/>
              </a:lnSpc>
              <a:buNone/>
            </a:pPr>
            <a:r>
              <a:rPr lang="en-US" sz="1350" dirty="0">
                <a:solidFill>
                  <a:srgbClr val="E6F1F3"/>
                </a:solidFill>
                <a:latin typeface="Arial" pitchFamily="34" charset="0"/>
                <a:ea typeface="Arial" pitchFamily="34" charset="-122"/>
                <a:cs typeface="Arial" pitchFamily="34" charset="-120"/>
              </a:rPr>
              <a:t>Founded in Shanghai in 2014, Jimeng Network is an engineering-first digital and AI services company. Our team brings together internet marketing specialists, brand strategists, senior engineers and designers — and our core engineering team has worked side by side for over a decade.</a:t>
            </a:r>
            <a:endParaRPr lang="en-US" sz="1350" dirty="0"/>
          </a:p>
        </p:txBody>
      </p:sp>
      <p:sp>
        <p:nvSpPr>
          <p:cNvPr id="7" name="Text 4"/>
          <p:cNvSpPr txBox="1"/>
          <p:nvPr/>
        </p:nvSpPr>
        <p:spPr>
          <a:xfrm>
            <a:off x="548640" y="4023360"/>
            <a:ext cx="5577840" cy="1737360"/>
          </a:xfrm>
          <a:prstGeom prst="rect">
            <a:avLst/>
          </a:prstGeom>
          <a:noFill/>
          <a:ln/>
        </p:spPr>
        <p:txBody>
          <a:bodyPr wrap="square" lIns="0" tIns="0" rIns="0" bIns="0" rtlCol="0" anchor="t"/>
          <a:lstStyle/>
          <a:p>
            <a:pPr indent="0" marL="0">
              <a:lnSpc>
                <a:spcPct val="130000"/>
              </a:lnSpc>
              <a:buNone/>
            </a:pPr>
            <a:r>
              <a:rPr lang="en-US" sz="1350" dirty="0">
                <a:solidFill>
                  <a:srgbClr val="E6F1F3"/>
                </a:solidFill>
                <a:latin typeface="Arial" pitchFamily="34" charset="0"/>
                <a:ea typeface="Arial" pitchFamily="34" charset="-122"/>
                <a:cs typeface="Arial" pitchFamily="34" charset="-120"/>
              </a:rPr>
              <a:t>We deliver end-to-end strategy, engineering and operations for brands across beauty, luxury, e-commerce and internet platforms. Today, we also deploy AI directly into our clients' day-to-day operations through Forward Deployed Engineering (FDE).</a:t>
            </a:r>
            <a:endParaRPr lang="en-US" sz="1350" dirty="0"/>
          </a:p>
        </p:txBody>
      </p:sp>
      <p:sp>
        <p:nvSpPr>
          <p:cNvPr id="8" name="Shape 5"/>
          <p:cNvSpPr/>
          <p:nvPr/>
        </p:nvSpPr>
        <p:spPr>
          <a:xfrm>
            <a:off x="6583680" y="2103120"/>
            <a:ext cx="2423160" cy="1828800"/>
          </a:xfrm>
          <a:prstGeom prst="roundRect">
            <a:avLst>
              <a:gd name="adj" fmla="val 6000"/>
            </a:avLst>
          </a:prstGeom>
          <a:solidFill>
            <a:srgbClr val="0F2A33">
              <a:alpha val="75000"/>
            </a:srgbClr>
          </a:solidFill>
          <a:ln w="9525">
            <a:solidFill>
              <a:srgbClr val="1F4A55"/>
            </a:solidFill>
            <a:prstDash val="solid"/>
          </a:ln>
        </p:spPr>
      </p:sp>
      <p:sp>
        <p:nvSpPr>
          <p:cNvPr id="9" name="Text 6"/>
          <p:cNvSpPr txBox="1"/>
          <p:nvPr/>
        </p:nvSpPr>
        <p:spPr>
          <a:xfrm>
            <a:off x="6858000" y="2359152"/>
            <a:ext cx="2011680" cy="777240"/>
          </a:xfrm>
          <a:prstGeom prst="rect">
            <a:avLst/>
          </a:prstGeom>
          <a:noFill/>
          <a:ln/>
        </p:spPr>
        <p:txBody>
          <a:bodyPr wrap="square" lIns="0" tIns="0" rIns="0" bIns="0" rtlCol="0" anchor="ctr"/>
          <a:lstStyle/>
          <a:p>
            <a:pPr indent="0" marL="0">
              <a:buNone/>
            </a:pPr>
            <a:r>
              <a:rPr lang="en-US" sz="3800" b="1" dirty="0">
                <a:solidFill>
                  <a:srgbClr val="2FB8C4"/>
                </a:solidFill>
                <a:latin typeface="Arial" pitchFamily="34" charset="0"/>
                <a:ea typeface="Arial" pitchFamily="34" charset="-122"/>
                <a:cs typeface="Arial" pitchFamily="34" charset="-120"/>
              </a:rPr>
              <a:t>2014</a:t>
            </a:r>
            <a:endParaRPr lang="en-US" sz="3800" dirty="0"/>
          </a:p>
        </p:txBody>
      </p:sp>
      <p:sp>
        <p:nvSpPr>
          <p:cNvPr id="10" name="Text 7"/>
          <p:cNvSpPr txBox="1"/>
          <p:nvPr/>
        </p:nvSpPr>
        <p:spPr>
          <a:xfrm>
            <a:off x="6858000" y="3154680"/>
            <a:ext cx="201168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Founded</a:t>
            </a:r>
            <a:endParaRPr lang="en-US" sz="1300" dirty="0"/>
          </a:p>
        </p:txBody>
      </p:sp>
      <p:sp>
        <p:nvSpPr>
          <p:cNvPr id="11" name="Text 8"/>
          <p:cNvSpPr txBox="1"/>
          <p:nvPr/>
        </p:nvSpPr>
        <p:spPr>
          <a:xfrm>
            <a:off x="6858000" y="3447288"/>
            <a:ext cx="2103120" cy="274320"/>
          </a:xfrm>
          <a:prstGeom prst="rect">
            <a:avLst/>
          </a:prstGeom>
          <a:noFill/>
          <a:ln/>
        </p:spPr>
        <p:txBody>
          <a:bodyPr wrap="square" lIns="0" tIns="0" rIns="0" bIns="0" rtlCol="0" anchor="ctr"/>
          <a:lstStyle/>
          <a:p>
            <a:pPr indent="0" marL="0">
              <a:buNone/>
            </a:pPr>
            <a:r>
              <a:rPr lang="en-US" sz="950" dirty="0">
                <a:solidFill>
                  <a:srgbClr val="8FA9AE"/>
                </a:solidFill>
                <a:latin typeface="Arial" pitchFamily="34" charset="0"/>
                <a:ea typeface="Arial" pitchFamily="34" charset="-122"/>
                <a:cs typeface="Arial" pitchFamily="34" charset="-120"/>
              </a:rPr>
              <a:t>Headquartered in Shanghai</a:t>
            </a:r>
            <a:endParaRPr lang="en-US" sz="950" dirty="0"/>
          </a:p>
        </p:txBody>
      </p:sp>
      <p:sp>
        <p:nvSpPr>
          <p:cNvPr id="12" name="Shape 9"/>
          <p:cNvSpPr/>
          <p:nvPr/>
        </p:nvSpPr>
        <p:spPr>
          <a:xfrm>
            <a:off x="9189720" y="2103120"/>
            <a:ext cx="2423160" cy="1828800"/>
          </a:xfrm>
          <a:prstGeom prst="roundRect">
            <a:avLst>
              <a:gd name="adj" fmla="val 6000"/>
            </a:avLst>
          </a:prstGeom>
          <a:solidFill>
            <a:srgbClr val="0F2A33">
              <a:alpha val="75000"/>
            </a:srgbClr>
          </a:solidFill>
          <a:ln w="9525">
            <a:solidFill>
              <a:srgbClr val="1F4A55"/>
            </a:solidFill>
            <a:prstDash val="solid"/>
          </a:ln>
        </p:spPr>
      </p:sp>
      <p:sp>
        <p:nvSpPr>
          <p:cNvPr id="13" name="Text 10"/>
          <p:cNvSpPr txBox="1"/>
          <p:nvPr/>
        </p:nvSpPr>
        <p:spPr>
          <a:xfrm>
            <a:off x="9464040" y="2359152"/>
            <a:ext cx="2011680" cy="777240"/>
          </a:xfrm>
          <a:prstGeom prst="rect">
            <a:avLst/>
          </a:prstGeom>
          <a:noFill/>
          <a:ln/>
        </p:spPr>
        <p:txBody>
          <a:bodyPr wrap="square" lIns="0" tIns="0" rIns="0" bIns="0" rtlCol="0" anchor="ctr"/>
          <a:lstStyle/>
          <a:p>
            <a:pPr indent="0" marL="0">
              <a:buNone/>
            </a:pPr>
            <a:r>
              <a:rPr lang="en-US" sz="3800" b="1" dirty="0">
                <a:solidFill>
                  <a:srgbClr val="2FB8C4"/>
                </a:solidFill>
                <a:latin typeface="Arial" pitchFamily="34" charset="0"/>
                <a:ea typeface="Arial" pitchFamily="34" charset="-122"/>
                <a:cs typeface="Arial" pitchFamily="34" charset="-120"/>
              </a:rPr>
              <a:t>100+</a:t>
            </a:r>
            <a:endParaRPr lang="en-US" sz="3800" dirty="0"/>
          </a:p>
        </p:txBody>
      </p:sp>
      <p:sp>
        <p:nvSpPr>
          <p:cNvPr id="14" name="Text 11"/>
          <p:cNvSpPr txBox="1"/>
          <p:nvPr/>
        </p:nvSpPr>
        <p:spPr>
          <a:xfrm>
            <a:off x="9464040" y="3154680"/>
            <a:ext cx="201168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Projects delivered</a:t>
            </a:r>
            <a:endParaRPr lang="en-US" sz="1300" dirty="0"/>
          </a:p>
        </p:txBody>
      </p:sp>
      <p:sp>
        <p:nvSpPr>
          <p:cNvPr id="15" name="Text 12"/>
          <p:cNvSpPr txBox="1"/>
          <p:nvPr/>
        </p:nvSpPr>
        <p:spPr>
          <a:xfrm>
            <a:off x="9464040" y="3447288"/>
            <a:ext cx="2103120" cy="274320"/>
          </a:xfrm>
          <a:prstGeom prst="rect">
            <a:avLst/>
          </a:prstGeom>
          <a:noFill/>
          <a:ln/>
        </p:spPr>
        <p:txBody>
          <a:bodyPr wrap="square" lIns="0" tIns="0" rIns="0" bIns="0" rtlCol="0" anchor="ctr"/>
          <a:lstStyle/>
          <a:p>
            <a:pPr indent="0" marL="0">
              <a:buNone/>
            </a:pPr>
            <a:r>
              <a:rPr lang="en-US" sz="950" dirty="0">
                <a:solidFill>
                  <a:srgbClr val="8FA9AE"/>
                </a:solidFill>
                <a:latin typeface="Arial" pitchFamily="34" charset="0"/>
                <a:ea typeface="Arial" pitchFamily="34" charset="-122"/>
                <a:cs typeface="Arial" pitchFamily="34" charset="-120"/>
              </a:rPr>
              <a:t>Across web, mobile, platforms &amp; AI</a:t>
            </a:r>
            <a:endParaRPr lang="en-US" sz="950" dirty="0"/>
          </a:p>
        </p:txBody>
      </p:sp>
      <p:sp>
        <p:nvSpPr>
          <p:cNvPr id="16" name="Shape 13"/>
          <p:cNvSpPr/>
          <p:nvPr/>
        </p:nvSpPr>
        <p:spPr>
          <a:xfrm>
            <a:off x="6583680" y="4114800"/>
            <a:ext cx="2423160" cy="1828800"/>
          </a:xfrm>
          <a:prstGeom prst="roundRect">
            <a:avLst>
              <a:gd name="adj" fmla="val 6000"/>
            </a:avLst>
          </a:prstGeom>
          <a:solidFill>
            <a:srgbClr val="0F2A33">
              <a:alpha val="75000"/>
            </a:srgbClr>
          </a:solidFill>
          <a:ln w="9525">
            <a:solidFill>
              <a:srgbClr val="1F4A55"/>
            </a:solidFill>
            <a:prstDash val="solid"/>
          </a:ln>
        </p:spPr>
      </p:sp>
      <p:sp>
        <p:nvSpPr>
          <p:cNvPr id="17" name="Text 14"/>
          <p:cNvSpPr txBox="1"/>
          <p:nvPr/>
        </p:nvSpPr>
        <p:spPr>
          <a:xfrm>
            <a:off x="6858000" y="4370832"/>
            <a:ext cx="2011680" cy="777240"/>
          </a:xfrm>
          <a:prstGeom prst="rect">
            <a:avLst/>
          </a:prstGeom>
          <a:noFill/>
          <a:ln/>
        </p:spPr>
        <p:txBody>
          <a:bodyPr wrap="square" lIns="0" tIns="0" rIns="0" bIns="0" rtlCol="0" anchor="ctr"/>
          <a:lstStyle/>
          <a:p>
            <a:pPr indent="0" marL="0">
              <a:buNone/>
            </a:pPr>
            <a:r>
              <a:rPr lang="en-US" sz="3800" b="1" dirty="0">
                <a:solidFill>
                  <a:srgbClr val="2FB8C4"/>
                </a:solidFill>
                <a:latin typeface="Arial" pitchFamily="34" charset="0"/>
                <a:ea typeface="Arial" pitchFamily="34" charset="-122"/>
                <a:cs typeface="Arial" pitchFamily="34" charset="-120"/>
              </a:rPr>
              <a:t>10M+</a:t>
            </a:r>
            <a:endParaRPr lang="en-US" sz="3800" dirty="0"/>
          </a:p>
        </p:txBody>
      </p:sp>
      <p:sp>
        <p:nvSpPr>
          <p:cNvPr id="18" name="Text 15"/>
          <p:cNvSpPr txBox="1"/>
          <p:nvPr/>
        </p:nvSpPr>
        <p:spPr>
          <a:xfrm>
            <a:off x="6858000" y="5166360"/>
            <a:ext cx="201168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Scale systems</a:t>
            </a:r>
            <a:endParaRPr lang="en-US" sz="1300" dirty="0"/>
          </a:p>
        </p:txBody>
      </p:sp>
      <p:sp>
        <p:nvSpPr>
          <p:cNvPr id="19" name="Text 16"/>
          <p:cNvSpPr txBox="1"/>
          <p:nvPr/>
        </p:nvSpPr>
        <p:spPr>
          <a:xfrm>
            <a:off x="6858000" y="5458968"/>
            <a:ext cx="2103120" cy="274320"/>
          </a:xfrm>
          <a:prstGeom prst="rect">
            <a:avLst/>
          </a:prstGeom>
          <a:noFill/>
          <a:ln/>
        </p:spPr>
        <p:txBody>
          <a:bodyPr wrap="square" lIns="0" tIns="0" rIns="0" bIns="0" rtlCol="0" anchor="ctr"/>
          <a:lstStyle/>
          <a:p>
            <a:pPr indent="0" marL="0">
              <a:buNone/>
            </a:pPr>
            <a:r>
              <a:rPr lang="en-US" sz="950" dirty="0">
                <a:solidFill>
                  <a:srgbClr val="8FA9AE"/>
                </a:solidFill>
                <a:latin typeface="Arial" pitchFamily="34" charset="0"/>
                <a:ea typeface="Arial" pitchFamily="34" charset="-122"/>
                <a:cs typeface="Arial" pitchFamily="34" charset="-120"/>
              </a:rPr>
              <a:t>Built and operated long-term</a:t>
            </a:r>
            <a:endParaRPr lang="en-US" sz="950" dirty="0"/>
          </a:p>
        </p:txBody>
      </p:sp>
      <p:sp>
        <p:nvSpPr>
          <p:cNvPr id="20" name="Shape 17"/>
          <p:cNvSpPr/>
          <p:nvPr/>
        </p:nvSpPr>
        <p:spPr>
          <a:xfrm>
            <a:off x="9189720" y="4114800"/>
            <a:ext cx="2423160" cy="1828800"/>
          </a:xfrm>
          <a:prstGeom prst="roundRect">
            <a:avLst>
              <a:gd name="adj" fmla="val 6000"/>
            </a:avLst>
          </a:prstGeom>
          <a:solidFill>
            <a:srgbClr val="0F2A33">
              <a:alpha val="75000"/>
            </a:srgbClr>
          </a:solidFill>
          <a:ln w="9525">
            <a:solidFill>
              <a:srgbClr val="1F4A55"/>
            </a:solidFill>
            <a:prstDash val="solid"/>
          </a:ln>
        </p:spPr>
      </p:sp>
      <p:sp>
        <p:nvSpPr>
          <p:cNvPr id="21" name="Text 18"/>
          <p:cNvSpPr txBox="1"/>
          <p:nvPr/>
        </p:nvSpPr>
        <p:spPr>
          <a:xfrm>
            <a:off x="9464040" y="4370832"/>
            <a:ext cx="2011680" cy="777240"/>
          </a:xfrm>
          <a:prstGeom prst="rect">
            <a:avLst/>
          </a:prstGeom>
          <a:noFill/>
          <a:ln/>
        </p:spPr>
        <p:txBody>
          <a:bodyPr wrap="square" lIns="0" tIns="0" rIns="0" bIns="0" rtlCol="0" anchor="ctr"/>
          <a:lstStyle/>
          <a:p>
            <a:pPr indent="0" marL="0">
              <a:buNone/>
            </a:pPr>
            <a:r>
              <a:rPr lang="en-US" sz="3800" b="1" dirty="0">
                <a:solidFill>
                  <a:srgbClr val="2FB8C4"/>
                </a:solidFill>
                <a:latin typeface="Arial" pitchFamily="34" charset="0"/>
                <a:ea typeface="Arial" pitchFamily="34" charset="-122"/>
                <a:cs typeface="Arial" pitchFamily="34" charset="-120"/>
              </a:rPr>
              <a:t>1,000+</a:t>
            </a:r>
            <a:endParaRPr lang="en-US" sz="3800" dirty="0"/>
          </a:p>
        </p:txBody>
      </p:sp>
      <p:sp>
        <p:nvSpPr>
          <p:cNvPr id="22" name="Text 19"/>
          <p:cNvSpPr txBox="1"/>
          <p:nvPr/>
        </p:nvSpPr>
        <p:spPr>
          <a:xfrm>
            <a:off x="9464040" y="5166360"/>
            <a:ext cx="201168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AI videos / month</a:t>
            </a:r>
            <a:endParaRPr lang="en-US" sz="1300" dirty="0"/>
          </a:p>
        </p:txBody>
      </p:sp>
      <p:sp>
        <p:nvSpPr>
          <p:cNvPr id="23" name="Text 20"/>
          <p:cNvSpPr txBox="1"/>
          <p:nvPr/>
        </p:nvSpPr>
        <p:spPr>
          <a:xfrm>
            <a:off x="9464040" y="5458968"/>
            <a:ext cx="2103120" cy="274320"/>
          </a:xfrm>
          <a:prstGeom prst="rect">
            <a:avLst/>
          </a:prstGeom>
          <a:noFill/>
          <a:ln/>
        </p:spPr>
        <p:txBody>
          <a:bodyPr wrap="square" lIns="0" tIns="0" rIns="0" bIns="0" rtlCol="0" anchor="ctr"/>
          <a:lstStyle/>
          <a:p>
            <a:pPr indent="0" marL="0">
              <a:buNone/>
            </a:pPr>
            <a:r>
              <a:rPr lang="en-US" sz="950" dirty="0">
                <a:solidFill>
                  <a:srgbClr val="8FA9AE"/>
                </a:solidFill>
                <a:latin typeface="Arial" pitchFamily="34" charset="0"/>
                <a:ea typeface="Arial" pitchFamily="34" charset="-122"/>
                <a:cs typeface="Arial" pitchFamily="34" charset="-120"/>
              </a:rPr>
              <a:t>Produced at scale for brands</a:t>
            </a:r>
            <a:endParaRPr lang="en-US" sz="950" dirty="0"/>
          </a:p>
        </p:txBody>
      </p:sp>
      <p:pic>
        <p:nvPicPr>
          <p:cNvPr id="24" name="Image 1" descr="/tmp/claude-0/-home-user-website/1713201c-620c-5ce1-b439-a99d37e654e6/scratchpad/build/../assets/jm_logo.png">    </p:cNvPr>
          <p:cNvPicPr>
            <a:picLocks noChangeAspect="1"/>
          </p:cNvPicPr>
          <p:nvPr/>
        </p:nvPicPr>
        <p:blipFill>
          <a:blip r:embed="rId2"/>
          <a:stretch>
            <a:fillRect/>
          </a:stretch>
        </p:blipFill>
        <p:spPr>
          <a:xfrm>
            <a:off x="548640" y="6336792"/>
            <a:ext cx="274320" cy="235915"/>
          </a:xfrm>
          <a:prstGeom prst="rect">
            <a:avLst/>
          </a:prstGeom>
        </p:spPr>
      </p:pic>
      <p:sp>
        <p:nvSpPr>
          <p:cNvPr id="25" name="Text 21"/>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26" name="Text 22"/>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claude-0/-home-user-website/1713201c-620c-5ce1-b439-a99d37e654e6/scratchpad/build/../assets/jm_bg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OUR JOURNEY</a:t>
            </a:r>
            <a:endParaRPr lang="en-US" sz="1100" dirty="0"/>
          </a:p>
        </p:txBody>
      </p:sp>
      <p:sp>
        <p:nvSpPr>
          <p:cNvPr id="4" name="Text 1"/>
          <p:cNvSpPr txBox="1"/>
          <p:nvPr/>
        </p:nvSpPr>
        <p:spPr>
          <a:xfrm>
            <a:off x="548640" y="74980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On the front line of every technology wave</a:t>
            </a:r>
            <a:endParaRPr lang="en-US" sz="3000" dirty="0"/>
          </a:p>
        </p:txBody>
      </p:sp>
      <p:sp>
        <p:nvSpPr>
          <p:cNvPr id="5" name="Text 2"/>
          <p:cNvSpPr txBox="1"/>
          <p:nvPr/>
        </p:nvSpPr>
        <p:spPr>
          <a:xfrm>
            <a:off x="548640" y="1389888"/>
            <a:ext cx="1097280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From the first websites to AI in production — we have shipped through every shift since 2014.</a:t>
            </a:r>
            <a:endParaRPr lang="en-US" sz="1300" dirty="0"/>
          </a:p>
        </p:txBody>
      </p:sp>
      <p:sp>
        <p:nvSpPr>
          <p:cNvPr id="6" name="Shape 3"/>
          <p:cNvSpPr/>
          <p:nvPr/>
        </p:nvSpPr>
        <p:spPr>
          <a:xfrm>
            <a:off x="822960" y="3246120"/>
            <a:ext cx="10607040" cy="0"/>
          </a:xfrm>
          <a:prstGeom prst="line">
            <a:avLst/>
          </a:prstGeom>
          <a:noFill/>
          <a:ln w="19050">
            <a:solidFill>
              <a:srgbClr val="1F4A55"/>
            </a:solidFill>
            <a:prstDash val="solid"/>
          </a:ln>
        </p:spPr>
      </p:sp>
      <p:sp>
        <p:nvSpPr>
          <p:cNvPr id="7" name="Shape 4"/>
          <p:cNvSpPr/>
          <p:nvPr/>
        </p:nvSpPr>
        <p:spPr>
          <a:xfrm>
            <a:off x="8686800" y="3246120"/>
            <a:ext cx="2743200" cy="0"/>
          </a:xfrm>
          <a:prstGeom prst="line">
            <a:avLst/>
          </a:prstGeom>
          <a:noFill/>
          <a:ln w="31750">
            <a:solidFill>
              <a:srgbClr val="2FB8C4"/>
            </a:solidFill>
            <a:prstDash val="solid"/>
          </a:ln>
        </p:spPr>
      </p:sp>
      <p:sp>
        <p:nvSpPr>
          <p:cNvPr id="8" name="Shape 5"/>
          <p:cNvSpPr/>
          <p:nvPr/>
        </p:nvSpPr>
        <p:spPr>
          <a:xfrm>
            <a:off x="713232" y="3136392"/>
            <a:ext cx="219456" cy="219456"/>
          </a:xfrm>
          <a:prstGeom prst="ellipse">
            <a:avLst/>
          </a:prstGeom>
          <a:solidFill>
            <a:srgbClr val="061116"/>
          </a:solidFill>
          <a:ln w="25400">
            <a:solidFill>
              <a:srgbClr val="2FB8C4"/>
            </a:solidFill>
            <a:prstDash val="solid"/>
          </a:ln>
        </p:spPr>
      </p:sp>
      <p:sp>
        <p:nvSpPr>
          <p:cNvPr id="9" name="Text 6"/>
          <p:cNvSpPr txBox="1"/>
          <p:nvPr/>
        </p:nvSpPr>
        <p:spPr>
          <a:xfrm>
            <a:off x="731520" y="2331720"/>
            <a:ext cx="256032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2014</a:t>
            </a:r>
            <a:endParaRPr lang="en-US" sz="2400" dirty="0"/>
          </a:p>
        </p:txBody>
      </p:sp>
      <p:sp>
        <p:nvSpPr>
          <p:cNvPr id="10" name="Text 7"/>
          <p:cNvSpPr txBox="1"/>
          <p:nvPr/>
        </p:nvSpPr>
        <p:spPr>
          <a:xfrm>
            <a:off x="731520" y="3611880"/>
            <a:ext cx="2560320" cy="274320"/>
          </a:xfrm>
          <a:prstGeom prst="rect">
            <a:avLst/>
          </a:prstGeom>
          <a:noFill/>
          <a:ln/>
        </p:spPr>
        <p:txBody>
          <a:bodyPr wrap="square" lIns="0" tIns="0" rIns="0" bIns="0" rtlCol="0" anchor="ctr"/>
          <a:lstStyle/>
          <a:p>
            <a:pPr indent="0" marL="0">
              <a:buNone/>
            </a:pPr>
            <a:r>
              <a:rPr lang="en-US" sz="1000" b="1" spc="300" kern="0" dirty="0">
                <a:solidFill>
                  <a:srgbClr val="2FB8C4"/>
                </a:solidFill>
                <a:latin typeface="Arial" pitchFamily="34" charset="0"/>
                <a:ea typeface="Arial" pitchFamily="34" charset="-122"/>
                <a:cs typeface="Arial" pitchFamily="34" charset="-120"/>
              </a:rPr>
              <a:t>WEB &amp; BRAND</a:t>
            </a:r>
            <a:endParaRPr lang="en-US" sz="1000" dirty="0"/>
          </a:p>
        </p:txBody>
      </p:sp>
      <p:sp>
        <p:nvSpPr>
          <p:cNvPr id="11" name="Text 8"/>
          <p:cNvSpPr txBox="1"/>
          <p:nvPr/>
        </p:nvSpPr>
        <p:spPr>
          <a:xfrm>
            <a:off x="731520" y="3913632"/>
            <a:ext cx="256032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Digital brand presence</a:t>
            </a:r>
            <a:endParaRPr lang="en-US" sz="1600" dirty="0"/>
          </a:p>
        </p:txBody>
      </p:sp>
      <p:sp>
        <p:nvSpPr>
          <p:cNvPr id="12" name="Text 9"/>
          <p:cNvSpPr txBox="1"/>
          <p:nvPr/>
        </p:nvSpPr>
        <p:spPr>
          <a:xfrm>
            <a:off x="731520" y="4389120"/>
            <a:ext cx="2423160" cy="1097280"/>
          </a:xfrm>
          <a:prstGeom prst="rect">
            <a:avLst/>
          </a:prstGeom>
          <a:noFill/>
          <a:ln/>
        </p:spPr>
        <p:txBody>
          <a:bodyPr wrap="square" lIns="0" tIns="0" rIns="0" bIns="0" rtlCol="0" anchor="t"/>
          <a:lstStyle/>
          <a:p>
            <a:pPr indent="0" marL="0">
              <a:lnSpc>
                <a:spcPct val="125000"/>
              </a:lnSpc>
              <a:buNone/>
            </a:pPr>
            <a:r>
              <a:rPr lang="en-US" sz="1150" dirty="0">
                <a:solidFill>
                  <a:srgbClr val="8FA9AE"/>
                </a:solidFill>
                <a:latin typeface="Arial" pitchFamily="34" charset="0"/>
                <a:ea typeface="Arial" pitchFamily="34" charset="-122"/>
                <a:cs typeface="Arial" pitchFamily="34" charset="-120"/>
              </a:rPr>
              <a:t>Responsive websites, brand strategy, marketing campaign pages</a:t>
            </a:r>
            <a:endParaRPr lang="en-US" sz="1150" dirty="0"/>
          </a:p>
        </p:txBody>
      </p:sp>
      <p:sp>
        <p:nvSpPr>
          <p:cNvPr id="13" name="Shape 10"/>
          <p:cNvSpPr/>
          <p:nvPr/>
        </p:nvSpPr>
        <p:spPr>
          <a:xfrm>
            <a:off x="3456432" y="3136392"/>
            <a:ext cx="219456" cy="219456"/>
          </a:xfrm>
          <a:prstGeom prst="ellipse">
            <a:avLst/>
          </a:prstGeom>
          <a:solidFill>
            <a:srgbClr val="061116"/>
          </a:solidFill>
          <a:ln w="25400">
            <a:solidFill>
              <a:srgbClr val="2FB8C4"/>
            </a:solidFill>
            <a:prstDash val="solid"/>
          </a:ln>
        </p:spPr>
      </p:sp>
      <p:sp>
        <p:nvSpPr>
          <p:cNvPr id="14" name="Text 11"/>
          <p:cNvSpPr txBox="1"/>
          <p:nvPr/>
        </p:nvSpPr>
        <p:spPr>
          <a:xfrm>
            <a:off x="3474720" y="2331720"/>
            <a:ext cx="256032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Mobile</a:t>
            </a:r>
            <a:endParaRPr lang="en-US" sz="2400" dirty="0"/>
          </a:p>
        </p:txBody>
      </p:sp>
      <p:sp>
        <p:nvSpPr>
          <p:cNvPr id="15" name="Text 12"/>
          <p:cNvSpPr txBox="1"/>
          <p:nvPr/>
        </p:nvSpPr>
        <p:spPr>
          <a:xfrm>
            <a:off x="3474720" y="3611880"/>
            <a:ext cx="2560320" cy="274320"/>
          </a:xfrm>
          <a:prstGeom prst="rect">
            <a:avLst/>
          </a:prstGeom>
          <a:noFill/>
          <a:ln/>
        </p:spPr>
        <p:txBody>
          <a:bodyPr wrap="square" lIns="0" tIns="0" rIns="0" bIns="0" rtlCol="0" anchor="ctr"/>
          <a:lstStyle/>
          <a:p>
            <a:pPr indent="0" marL="0">
              <a:buNone/>
            </a:pPr>
            <a:r>
              <a:rPr lang="en-US" sz="1000" b="1" spc="300" kern="0" dirty="0">
                <a:solidFill>
                  <a:srgbClr val="2FB8C4"/>
                </a:solidFill>
                <a:latin typeface="Arial" pitchFamily="34" charset="0"/>
                <a:ea typeface="Arial" pitchFamily="34" charset="-122"/>
                <a:cs typeface="Arial" pitchFamily="34" charset="-120"/>
              </a:rPr>
              <a:t>MOBILE &amp; WECHAT</a:t>
            </a:r>
            <a:endParaRPr lang="en-US" sz="1000" dirty="0"/>
          </a:p>
        </p:txBody>
      </p:sp>
      <p:sp>
        <p:nvSpPr>
          <p:cNvPr id="16" name="Text 13"/>
          <p:cNvSpPr txBox="1"/>
          <p:nvPr/>
        </p:nvSpPr>
        <p:spPr>
          <a:xfrm>
            <a:off x="3474720" y="3913632"/>
            <a:ext cx="256032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mobile ecosystem</a:t>
            </a:r>
            <a:endParaRPr lang="en-US" sz="1600" dirty="0"/>
          </a:p>
        </p:txBody>
      </p:sp>
      <p:sp>
        <p:nvSpPr>
          <p:cNvPr id="17" name="Text 14"/>
          <p:cNvSpPr txBox="1"/>
          <p:nvPr/>
        </p:nvSpPr>
        <p:spPr>
          <a:xfrm>
            <a:off x="3474720" y="4389120"/>
            <a:ext cx="2423160" cy="1097280"/>
          </a:xfrm>
          <a:prstGeom prst="rect">
            <a:avLst/>
          </a:prstGeom>
          <a:noFill/>
          <a:ln/>
        </p:spPr>
        <p:txBody>
          <a:bodyPr wrap="square" lIns="0" tIns="0" rIns="0" bIns="0" rtlCol="0" anchor="t"/>
          <a:lstStyle/>
          <a:p>
            <a:pPr indent="0" marL="0">
              <a:lnSpc>
                <a:spcPct val="125000"/>
              </a:lnSpc>
              <a:buNone/>
            </a:pPr>
            <a:r>
              <a:rPr lang="en-US" sz="1150" dirty="0">
                <a:solidFill>
                  <a:srgbClr val="8FA9AE"/>
                </a:solidFill>
                <a:latin typeface="Arial" pitchFamily="34" charset="0"/>
                <a:ea typeface="Arial" pitchFamily="34" charset="-122"/>
                <a:cs typeface="Arial" pitchFamily="34" charset="-120"/>
              </a:rPr>
              <a:t>Official accounts, mini programs, e-commerce apps, community tools</a:t>
            </a:r>
            <a:endParaRPr lang="en-US" sz="1150" dirty="0"/>
          </a:p>
        </p:txBody>
      </p:sp>
      <p:sp>
        <p:nvSpPr>
          <p:cNvPr id="18" name="Shape 15"/>
          <p:cNvSpPr/>
          <p:nvPr/>
        </p:nvSpPr>
        <p:spPr>
          <a:xfrm>
            <a:off x="6199632" y="3136392"/>
            <a:ext cx="219456" cy="219456"/>
          </a:xfrm>
          <a:prstGeom prst="ellipse">
            <a:avLst/>
          </a:prstGeom>
          <a:solidFill>
            <a:srgbClr val="061116"/>
          </a:solidFill>
          <a:ln w="25400">
            <a:solidFill>
              <a:srgbClr val="2FB8C4"/>
            </a:solidFill>
            <a:prstDash val="solid"/>
          </a:ln>
        </p:spPr>
      </p:sp>
      <p:sp>
        <p:nvSpPr>
          <p:cNvPr id="19" name="Text 16"/>
          <p:cNvSpPr txBox="1"/>
          <p:nvPr/>
        </p:nvSpPr>
        <p:spPr>
          <a:xfrm>
            <a:off x="6217920" y="2331720"/>
            <a:ext cx="256032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Platforms</a:t>
            </a:r>
            <a:endParaRPr lang="en-US" sz="2400" dirty="0"/>
          </a:p>
        </p:txBody>
      </p:sp>
      <p:sp>
        <p:nvSpPr>
          <p:cNvPr id="20" name="Text 17"/>
          <p:cNvSpPr txBox="1"/>
          <p:nvPr/>
        </p:nvSpPr>
        <p:spPr>
          <a:xfrm>
            <a:off x="6217920" y="3611880"/>
            <a:ext cx="2560320" cy="274320"/>
          </a:xfrm>
          <a:prstGeom prst="rect">
            <a:avLst/>
          </a:prstGeom>
          <a:noFill/>
          <a:ln/>
        </p:spPr>
        <p:txBody>
          <a:bodyPr wrap="square" lIns="0" tIns="0" rIns="0" bIns="0" rtlCol="0" anchor="ctr"/>
          <a:lstStyle/>
          <a:p>
            <a:pPr indent="0" marL="0">
              <a:buNone/>
            </a:pPr>
            <a:r>
              <a:rPr lang="en-US" sz="1000" b="1" spc="300" kern="0" dirty="0">
                <a:solidFill>
                  <a:srgbClr val="2FB8C4"/>
                </a:solidFill>
                <a:latin typeface="Arial" pitchFamily="34" charset="0"/>
                <a:ea typeface="Arial" pitchFamily="34" charset="-122"/>
                <a:cs typeface="Arial" pitchFamily="34" charset="-120"/>
              </a:rPr>
              <a:t>ENTERPRISE PLATFORMS</a:t>
            </a:r>
            <a:endParaRPr lang="en-US" sz="1000" dirty="0"/>
          </a:p>
        </p:txBody>
      </p:sp>
      <p:sp>
        <p:nvSpPr>
          <p:cNvPr id="21" name="Text 18"/>
          <p:cNvSpPr txBox="1"/>
          <p:nvPr/>
        </p:nvSpPr>
        <p:spPr>
          <a:xfrm>
            <a:off x="6217920" y="3913632"/>
            <a:ext cx="256032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Business-critical systems</a:t>
            </a:r>
            <a:endParaRPr lang="en-US" sz="1600" dirty="0"/>
          </a:p>
        </p:txBody>
      </p:sp>
      <p:sp>
        <p:nvSpPr>
          <p:cNvPr id="22" name="Text 19"/>
          <p:cNvSpPr txBox="1"/>
          <p:nvPr/>
        </p:nvSpPr>
        <p:spPr>
          <a:xfrm>
            <a:off x="6217920" y="4389120"/>
            <a:ext cx="2423160" cy="1097280"/>
          </a:xfrm>
          <a:prstGeom prst="rect">
            <a:avLst/>
          </a:prstGeom>
          <a:noFill/>
          <a:ln/>
        </p:spPr>
        <p:txBody>
          <a:bodyPr wrap="square" lIns="0" tIns="0" rIns="0" bIns="0" rtlCol="0" anchor="t"/>
          <a:lstStyle/>
          <a:p>
            <a:pPr indent="0" marL="0">
              <a:lnSpc>
                <a:spcPct val="125000"/>
              </a:lnSpc>
              <a:buNone/>
            </a:pPr>
            <a:r>
              <a:rPr lang="en-US" sz="1150" dirty="0">
                <a:solidFill>
                  <a:srgbClr val="8FA9AE"/>
                </a:solidFill>
                <a:latin typeface="Arial" pitchFamily="34" charset="0"/>
                <a:ea typeface="Arial" pitchFamily="34" charset="-122"/>
                <a:cs typeface="Arial" pitchFamily="34" charset="-120"/>
              </a:rPr>
              <a:t>Management systems, C2C marketplace &amp; settlement, multi-account platforms</a:t>
            </a:r>
            <a:endParaRPr lang="en-US" sz="1150" dirty="0"/>
          </a:p>
        </p:txBody>
      </p:sp>
      <p:sp>
        <p:nvSpPr>
          <p:cNvPr id="23" name="Shape 20"/>
          <p:cNvSpPr/>
          <p:nvPr/>
        </p:nvSpPr>
        <p:spPr>
          <a:xfrm>
            <a:off x="8796528" y="2990088"/>
            <a:ext cx="512064" cy="512064"/>
          </a:xfrm>
          <a:prstGeom prst="ellipse">
            <a:avLst/>
          </a:prstGeom>
          <a:solidFill>
            <a:srgbClr val="2FB8C4">
              <a:alpha val="25000"/>
            </a:srgbClr>
          </a:solidFill>
          <a:ln/>
        </p:spPr>
      </p:sp>
      <p:sp>
        <p:nvSpPr>
          <p:cNvPr id="24" name="Shape 21"/>
          <p:cNvSpPr/>
          <p:nvPr/>
        </p:nvSpPr>
        <p:spPr>
          <a:xfrm>
            <a:off x="8942832" y="3136392"/>
            <a:ext cx="219456" cy="219456"/>
          </a:xfrm>
          <a:prstGeom prst="ellipse">
            <a:avLst/>
          </a:prstGeom>
          <a:solidFill>
            <a:srgbClr val="2FB8C4"/>
          </a:solidFill>
          <a:ln w="25400">
            <a:solidFill>
              <a:srgbClr val="2FB8C4"/>
            </a:solidFill>
            <a:prstDash val="solid"/>
          </a:ln>
        </p:spPr>
      </p:sp>
      <p:sp>
        <p:nvSpPr>
          <p:cNvPr id="25" name="Text 22"/>
          <p:cNvSpPr txBox="1"/>
          <p:nvPr/>
        </p:nvSpPr>
        <p:spPr>
          <a:xfrm>
            <a:off x="8961120" y="2331720"/>
            <a:ext cx="2560320" cy="502920"/>
          </a:xfrm>
          <a:prstGeom prst="rect">
            <a:avLst/>
          </a:prstGeom>
          <a:noFill/>
          <a:ln/>
        </p:spPr>
        <p:txBody>
          <a:bodyPr wrap="square" lIns="0" tIns="0" rIns="0" bIns="0" rtlCol="0" anchor="ctr"/>
          <a:lstStyle/>
          <a:p>
            <a:pPr indent="0" marL="0">
              <a:buNone/>
            </a:pPr>
            <a:r>
              <a:rPr lang="en-US" sz="3000" b="1" dirty="0">
                <a:solidFill>
                  <a:srgbClr val="2FB8C4"/>
                </a:solidFill>
                <a:latin typeface="Arial" pitchFamily="34" charset="0"/>
                <a:ea typeface="Arial" pitchFamily="34" charset="-122"/>
                <a:cs typeface="Arial" pitchFamily="34" charset="-120"/>
              </a:rPr>
              <a:t>2026</a:t>
            </a:r>
            <a:endParaRPr lang="en-US" sz="3000" dirty="0"/>
          </a:p>
        </p:txBody>
      </p:sp>
      <p:sp>
        <p:nvSpPr>
          <p:cNvPr id="26" name="Text 23"/>
          <p:cNvSpPr txBox="1"/>
          <p:nvPr/>
        </p:nvSpPr>
        <p:spPr>
          <a:xfrm>
            <a:off x="8961120" y="3611880"/>
            <a:ext cx="2560320" cy="274320"/>
          </a:xfrm>
          <a:prstGeom prst="rect">
            <a:avLst/>
          </a:prstGeom>
          <a:noFill/>
          <a:ln/>
        </p:spPr>
        <p:txBody>
          <a:bodyPr wrap="square" lIns="0" tIns="0" rIns="0" bIns="0" rtlCol="0" anchor="ctr"/>
          <a:lstStyle/>
          <a:p>
            <a:pPr indent="0" marL="0">
              <a:buNone/>
            </a:pPr>
            <a:r>
              <a:rPr lang="en-US" sz="1000" b="1" spc="300" kern="0" dirty="0">
                <a:solidFill>
                  <a:srgbClr val="2FB8C4"/>
                </a:solidFill>
                <a:latin typeface="Arial" pitchFamily="34" charset="0"/>
                <a:ea typeface="Arial" pitchFamily="34" charset="-122"/>
                <a:cs typeface="Arial" pitchFamily="34" charset="-120"/>
              </a:rPr>
              <a:t>AI-NATIVE</a:t>
            </a:r>
            <a:endParaRPr lang="en-US" sz="1000" dirty="0"/>
          </a:p>
        </p:txBody>
      </p:sp>
      <p:sp>
        <p:nvSpPr>
          <p:cNvPr id="27" name="Text 24"/>
          <p:cNvSpPr txBox="1"/>
          <p:nvPr/>
        </p:nvSpPr>
        <p:spPr>
          <a:xfrm>
            <a:off x="8961120" y="3913632"/>
            <a:ext cx="256032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AI in production</a:t>
            </a:r>
            <a:endParaRPr lang="en-US" sz="1600" dirty="0"/>
          </a:p>
        </p:txBody>
      </p:sp>
      <p:sp>
        <p:nvSpPr>
          <p:cNvPr id="28" name="Text 25"/>
          <p:cNvSpPr txBox="1"/>
          <p:nvPr/>
        </p:nvSpPr>
        <p:spPr>
          <a:xfrm>
            <a:off x="8961120" y="4389120"/>
            <a:ext cx="2423160" cy="1097280"/>
          </a:xfrm>
          <a:prstGeom prst="rect">
            <a:avLst/>
          </a:prstGeom>
          <a:noFill/>
          <a:ln/>
        </p:spPr>
        <p:txBody>
          <a:bodyPr wrap="square" lIns="0" tIns="0" rIns="0" bIns="0" rtlCol="0" anchor="t"/>
          <a:lstStyle/>
          <a:p>
            <a:pPr indent="0" marL="0">
              <a:lnSpc>
                <a:spcPct val="125000"/>
              </a:lnSpc>
              <a:buNone/>
            </a:pPr>
            <a:r>
              <a:rPr lang="en-US" sz="1150" dirty="0">
                <a:solidFill>
                  <a:srgbClr val="8FA9AE"/>
                </a:solidFill>
                <a:latin typeface="Arial" pitchFamily="34" charset="0"/>
                <a:ea typeface="Arial" pitchFamily="34" charset="-122"/>
                <a:cs typeface="Arial" pitchFamily="34" charset="-120"/>
              </a:rPr>
              <a:t>AIGC content production lines, AI FDE, our own product ThinkNova</a:t>
            </a:r>
            <a:endParaRPr lang="en-US" sz="1150" dirty="0"/>
          </a:p>
        </p:txBody>
      </p:sp>
      <p:pic>
        <p:nvPicPr>
          <p:cNvPr id="29" name="Image 1" descr="/tmp/claude-0/-home-user-website/1713201c-620c-5ce1-b439-a99d37e654e6/scratchpad/build/../assets/jm_logo.png">    </p:cNvPr>
          <p:cNvPicPr>
            <a:picLocks noChangeAspect="1"/>
          </p:cNvPicPr>
          <p:nvPr/>
        </p:nvPicPr>
        <p:blipFill>
          <a:blip r:embed="rId2"/>
          <a:stretch>
            <a:fillRect/>
          </a:stretch>
        </p:blipFill>
        <p:spPr>
          <a:xfrm>
            <a:off x="548640" y="6336792"/>
            <a:ext cx="274320" cy="235915"/>
          </a:xfrm>
          <a:prstGeom prst="rect">
            <a:avLst/>
          </a:prstGeom>
        </p:spPr>
      </p:pic>
      <p:sp>
        <p:nvSpPr>
          <p:cNvPr id="30" name="Text 26"/>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31" name="Text 27"/>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claude-0/-home-user-website/1713201c-620c-5ce1-b439-a99d37e654e6/scratchpad/build/../assets/jm_bg.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WHAT WE DO</a:t>
            </a:r>
            <a:endParaRPr lang="en-US" sz="1100" dirty="0"/>
          </a:p>
        </p:txBody>
      </p:sp>
      <p:sp>
        <p:nvSpPr>
          <p:cNvPr id="4" name="Text 1"/>
          <p:cNvSpPr txBox="1"/>
          <p:nvPr/>
        </p:nvSpPr>
        <p:spPr>
          <a:xfrm>
            <a:off x="548640" y="74980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Four core services</a:t>
            </a:r>
            <a:endParaRPr lang="en-US" sz="3000" dirty="0"/>
          </a:p>
        </p:txBody>
      </p:sp>
      <p:sp>
        <p:nvSpPr>
          <p:cNvPr id="5" name="Text 2"/>
          <p:cNvSpPr txBox="1"/>
          <p:nvPr/>
        </p:nvSpPr>
        <p:spPr>
          <a:xfrm>
            <a:off x="548640" y="1389888"/>
            <a:ext cx="1097280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From strategy to shipped systems — and now, AI in production.</a:t>
            </a:r>
            <a:endParaRPr lang="en-US" sz="1300" dirty="0"/>
          </a:p>
        </p:txBody>
      </p:sp>
      <p:sp>
        <p:nvSpPr>
          <p:cNvPr id="6" name="Shape 3"/>
          <p:cNvSpPr/>
          <p:nvPr/>
        </p:nvSpPr>
        <p:spPr>
          <a:xfrm>
            <a:off x="548640" y="2148840"/>
            <a:ext cx="2633472" cy="3840480"/>
          </a:xfrm>
          <a:prstGeom prst="roundRect">
            <a:avLst>
              <a:gd name="adj" fmla="val 4167"/>
            </a:avLst>
          </a:prstGeom>
          <a:solidFill>
            <a:srgbClr val="0F2A33">
              <a:alpha val="75000"/>
            </a:srgbClr>
          </a:solidFill>
          <a:ln w="9525">
            <a:solidFill>
              <a:srgbClr val="1F4A55"/>
            </a:solidFill>
            <a:prstDash val="solid"/>
          </a:ln>
        </p:spPr>
      </p:sp>
      <p:sp>
        <p:nvSpPr>
          <p:cNvPr id="7" name="Shape 4"/>
          <p:cNvSpPr/>
          <p:nvPr/>
        </p:nvSpPr>
        <p:spPr>
          <a:xfrm>
            <a:off x="822960" y="2468880"/>
            <a:ext cx="640080" cy="640080"/>
          </a:xfrm>
          <a:prstGeom prst="ellipse">
            <a:avLst/>
          </a:prstGeom>
          <a:solidFill>
            <a:srgbClr val="2FB8C4">
              <a:alpha val="18000"/>
            </a:srgbClr>
          </a:solidFill>
          <a:ln w="9525">
            <a:solidFill>
              <a:srgbClr val="2FB8C4">
                <a:alpha val="60000"/>
              </a:srgbClr>
            </a:solidFill>
            <a:prstDash val="solid"/>
          </a:ln>
        </p:spPr>
      </p:sp>
      <p:pic>
        <p:nvPicPr>
          <p:cNvPr id="8" name="Image 1" descr="preencoded.png">    </p:cNvPr>
          <p:cNvPicPr>
            <a:picLocks noChangeAspect="1"/>
          </p:cNvPicPr>
          <p:nvPr/>
        </p:nvPicPr>
        <p:blipFill>
          <a:blip r:embed="rId2"/>
          <a:stretch>
            <a:fillRect/>
          </a:stretch>
        </p:blipFill>
        <p:spPr>
          <a:xfrm>
            <a:off x="989381" y="2635301"/>
            <a:ext cx="307238" cy="307238"/>
          </a:xfrm>
          <a:prstGeom prst="rect">
            <a:avLst/>
          </a:prstGeom>
        </p:spPr>
      </p:pic>
      <p:sp>
        <p:nvSpPr>
          <p:cNvPr id="9" name="Text 5"/>
          <p:cNvSpPr txBox="1"/>
          <p:nvPr/>
        </p:nvSpPr>
        <p:spPr>
          <a:xfrm>
            <a:off x="2221992" y="2423160"/>
            <a:ext cx="731520" cy="457200"/>
          </a:xfrm>
          <a:prstGeom prst="rect">
            <a:avLst/>
          </a:prstGeom>
          <a:noFill/>
          <a:ln/>
        </p:spPr>
        <p:txBody>
          <a:bodyPr wrap="square" lIns="0" tIns="0" rIns="0" bIns="0" rtlCol="0" anchor="ctr"/>
          <a:lstStyle/>
          <a:p>
            <a:pPr algn="r" indent="0" marL="0">
              <a:buNone/>
            </a:pPr>
            <a:r>
              <a:rPr lang="en-US" sz="2200" b="1" dirty="0">
                <a:solidFill>
                  <a:srgbClr val="1F4A55"/>
                </a:solidFill>
                <a:latin typeface="Arial" pitchFamily="34" charset="0"/>
                <a:ea typeface="Arial" pitchFamily="34" charset="-122"/>
                <a:cs typeface="Arial" pitchFamily="34" charset="-120"/>
              </a:rPr>
              <a:t>01</a:t>
            </a:r>
            <a:endParaRPr lang="en-US" sz="2200" dirty="0"/>
          </a:p>
        </p:txBody>
      </p:sp>
      <p:sp>
        <p:nvSpPr>
          <p:cNvPr id="10" name="Text 6"/>
          <p:cNvSpPr txBox="1"/>
          <p:nvPr/>
        </p:nvSpPr>
        <p:spPr>
          <a:xfrm>
            <a:off x="822960" y="3383280"/>
            <a:ext cx="2176272"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Strategy &amp;</a:t>
            </a:r>
            <a:endParaRPr lang="en-US" sz="1600" dirty="0"/>
          </a:p>
          <a:p>
            <a:pPr indent="0" marL="0">
              <a:buNone/>
            </a:pPr>
            <a:r>
              <a:rPr lang="en-US" sz="1600" b="1" dirty="0">
                <a:solidFill>
                  <a:srgbClr val="FFFFFF"/>
                </a:solidFill>
                <a:latin typeface="Arial" pitchFamily="34" charset="0"/>
                <a:ea typeface="Arial" pitchFamily="34" charset="-122"/>
                <a:cs typeface="Arial" pitchFamily="34" charset="-120"/>
              </a:rPr>
              <a:t>Planning</a:t>
            </a:r>
            <a:endParaRPr lang="en-US" sz="1600" dirty="0"/>
          </a:p>
        </p:txBody>
      </p:sp>
      <p:sp>
        <p:nvSpPr>
          <p:cNvPr id="11" name="Text 7"/>
          <p:cNvSpPr txBox="1"/>
          <p:nvPr/>
        </p:nvSpPr>
        <p:spPr>
          <a:xfrm>
            <a:off x="822960" y="4297680"/>
            <a:ext cx="2130552" cy="1508760"/>
          </a:xfrm>
          <a:prstGeom prst="rect">
            <a:avLst/>
          </a:prstGeom>
          <a:noFill/>
          <a:ln/>
        </p:spPr>
        <p:txBody>
          <a:bodyPr wrap="square" lIns="0" tIns="0" rIns="0" bIns="0" rtlCol="0" anchor="t"/>
          <a:lstStyle/>
          <a:p>
            <a:pPr indent="0" marL="0">
              <a:lnSpc>
                <a:spcPct val="130000"/>
              </a:lnSpc>
              <a:buNone/>
            </a:pPr>
            <a:r>
              <a:rPr lang="en-US" sz="1150" dirty="0">
                <a:solidFill>
                  <a:srgbClr val="8FA9AE"/>
                </a:solidFill>
                <a:latin typeface="Arial" pitchFamily="34" charset="0"/>
                <a:ea typeface="Arial" pitchFamily="34" charset="-122"/>
                <a:cs typeface="Arial" pitchFamily="34" charset="-120"/>
              </a:rPr>
              <a:t>Business models, marketing campaigns and brand strategy — tailored project plans built on your strengths.</a:t>
            </a:r>
            <a:endParaRPr lang="en-US" sz="1150" dirty="0"/>
          </a:p>
        </p:txBody>
      </p:sp>
      <p:sp>
        <p:nvSpPr>
          <p:cNvPr id="12" name="Shape 8"/>
          <p:cNvSpPr/>
          <p:nvPr/>
        </p:nvSpPr>
        <p:spPr>
          <a:xfrm>
            <a:off x="3364992" y="2148840"/>
            <a:ext cx="2633472" cy="3840480"/>
          </a:xfrm>
          <a:prstGeom prst="roundRect">
            <a:avLst>
              <a:gd name="adj" fmla="val 4167"/>
            </a:avLst>
          </a:prstGeom>
          <a:solidFill>
            <a:srgbClr val="0F2A33">
              <a:alpha val="75000"/>
            </a:srgbClr>
          </a:solidFill>
          <a:ln w="9525">
            <a:solidFill>
              <a:srgbClr val="1F4A55"/>
            </a:solidFill>
            <a:prstDash val="solid"/>
          </a:ln>
        </p:spPr>
      </p:sp>
      <p:sp>
        <p:nvSpPr>
          <p:cNvPr id="13" name="Shape 9"/>
          <p:cNvSpPr/>
          <p:nvPr/>
        </p:nvSpPr>
        <p:spPr>
          <a:xfrm>
            <a:off x="3639312" y="2468880"/>
            <a:ext cx="640080" cy="640080"/>
          </a:xfrm>
          <a:prstGeom prst="ellipse">
            <a:avLst/>
          </a:prstGeom>
          <a:solidFill>
            <a:srgbClr val="2FB8C4">
              <a:alpha val="18000"/>
            </a:srgbClr>
          </a:solidFill>
          <a:ln w="9525">
            <a:solidFill>
              <a:srgbClr val="2FB8C4">
                <a:alpha val="60000"/>
              </a:srgbClr>
            </a:solidFill>
            <a:prstDash val="solid"/>
          </a:ln>
        </p:spPr>
      </p:sp>
      <p:pic>
        <p:nvPicPr>
          <p:cNvPr id="14" name="Image 2" descr="preencoded.png">    </p:cNvPr>
          <p:cNvPicPr>
            <a:picLocks noChangeAspect="1"/>
          </p:cNvPicPr>
          <p:nvPr/>
        </p:nvPicPr>
        <p:blipFill>
          <a:blip r:embed="rId3"/>
          <a:stretch>
            <a:fillRect/>
          </a:stretch>
        </p:blipFill>
        <p:spPr>
          <a:xfrm>
            <a:off x="3805733" y="2635301"/>
            <a:ext cx="307238" cy="307238"/>
          </a:xfrm>
          <a:prstGeom prst="rect">
            <a:avLst/>
          </a:prstGeom>
        </p:spPr>
      </p:pic>
      <p:sp>
        <p:nvSpPr>
          <p:cNvPr id="15" name="Text 10"/>
          <p:cNvSpPr txBox="1"/>
          <p:nvPr/>
        </p:nvSpPr>
        <p:spPr>
          <a:xfrm>
            <a:off x="5038344" y="2423160"/>
            <a:ext cx="731520" cy="457200"/>
          </a:xfrm>
          <a:prstGeom prst="rect">
            <a:avLst/>
          </a:prstGeom>
          <a:noFill/>
          <a:ln/>
        </p:spPr>
        <p:txBody>
          <a:bodyPr wrap="square" lIns="0" tIns="0" rIns="0" bIns="0" rtlCol="0" anchor="ctr"/>
          <a:lstStyle/>
          <a:p>
            <a:pPr algn="r" indent="0" marL="0">
              <a:buNone/>
            </a:pPr>
            <a:r>
              <a:rPr lang="en-US" sz="2200" b="1" dirty="0">
                <a:solidFill>
                  <a:srgbClr val="1F4A55"/>
                </a:solidFill>
                <a:latin typeface="Arial" pitchFamily="34" charset="0"/>
                <a:ea typeface="Arial" pitchFamily="34" charset="-122"/>
                <a:cs typeface="Arial" pitchFamily="34" charset="-120"/>
              </a:rPr>
              <a:t>02</a:t>
            </a:r>
            <a:endParaRPr lang="en-US" sz="2200" dirty="0"/>
          </a:p>
        </p:txBody>
      </p:sp>
      <p:sp>
        <p:nvSpPr>
          <p:cNvPr id="16" name="Text 11"/>
          <p:cNvSpPr txBox="1"/>
          <p:nvPr/>
        </p:nvSpPr>
        <p:spPr>
          <a:xfrm>
            <a:off x="3639312" y="3383280"/>
            <a:ext cx="2176272"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Engineering &amp;</a:t>
            </a:r>
            <a:endParaRPr lang="en-US" sz="1600" dirty="0"/>
          </a:p>
          <a:p>
            <a:pPr indent="0" marL="0">
              <a:buNone/>
            </a:pPr>
            <a:r>
              <a:rPr lang="en-US" sz="1600" b="1" dirty="0">
                <a:solidFill>
                  <a:srgbClr val="FFFFFF"/>
                </a:solidFill>
                <a:latin typeface="Arial" pitchFamily="34" charset="0"/>
                <a:ea typeface="Arial" pitchFamily="34" charset="-122"/>
                <a:cs typeface="Arial" pitchFamily="34" charset="-120"/>
              </a:rPr>
              <a:t>Delivery</a:t>
            </a:r>
            <a:endParaRPr lang="en-US" sz="1600" dirty="0"/>
          </a:p>
        </p:txBody>
      </p:sp>
      <p:sp>
        <p:nvSpPr>
          <p:cNvPr id="17" name="Text 12"/>
          <p:cNvSpPr txBox="1"/>
          <p:nvPr/>
        </p:nvSpPr>
        <p:spPr>
          <a:xfrm>
            <a:off x="3639312" y="4297680"/>
            <a:ext cx="2130552" cy="1508760"/>
          </a:xfrm>
          <a:prstGeom prst="rect">
            <a:avLst/>
          </a:prstGeom>
          <a:noFill/>
          <a:ln/>
        </p:spPr>
        <p:txBody>
          <a:bodyPr wrap="square" lIns="0" tIns="0" rIns="0" bIns="0" rtlCol="0" anchor="t"/>
          <a:lstStyle/>
          <a:p>
            <a:pPr indent="0" marL="0">
              <a:lnSpc>
                <a:spcPct val="130000"/>
              </a:lnSpc>
              <a:buNone/>
            </a:pPr>
            <a:r>
              <a:rPr lang="en-US" sz="1150" dirty="0">
                <a:solidFill>
                  <a:srgbClr val="8FA9AE"/>
                </a:solidFill>
                <a:latin typeface="Arial" pitchFamily="34" charset="0"/>
                <a:ea typeface="Arial" pitchFamily="34" charset="-122"/>
                <a:cs typeface="Arial" pitchFamily="34" charset="-120"/>
              </a:rPr>
              <a:t>Design, development, testing and maintenance for websites, mini programs, apps and enterprise systems.</a:t>
            </a:r>
            <a:endParaRPr lang="en-US" sz="1150" dirty="0"/>
          </a:p>
        </p:txBody>
      </p:sp>
      <p:sp>
        <p:nvSpPr>
          <p:cNvPr id="18" name="Shape 13"/>
          <p:cNvSpPr/>
          <p:nvPr/>
        </p:nvSpPr>
        <p:spPr>
          <a:xfrm>
            <a:off x="6181344" y="2148840"/>
            <a:ext cx="2633472" cy="3840480"/>
          </a:xfrm>
          <a:prstGeom prst="roundRect">
            <a:avLst>
              <a:gd name="adj" fmla="val 4167"/>
            </a:avLst>
          </a:prstGeom>
          <a:solidFill>
            <a:srgbClr val="0F2A33">
              <a:alpha val="75000"/>
            </a:srgbClr>
          </a:solidFill>
          <a:ln w="9525">
            <a:solidFill>
              <a:srgbClr val="1F4A55"/>
            </a:solidFill>
            <a:prstDash val="solid"/>
          </a:ln>
        </p:spPr>
      </p:sp>
      <p:sp>
        <p:nvSpPr>
          <p:cNvPr id="19" name="Shape 14"/>
          <p:cNvSpPr/>
          <p:nvPr/>
        </p:nvSpPr>
        <p:spPr>
          <a:xfrm>
            <a:off x="6455664" y="2468880"/>
            <a:ext cx="640080" cy="640080"/>
          </a:xfrm>
          <a:prstGeom prst="ellipse">
            <a:avLst/>
          </a:prstGeom>
          <a:solidFill>
            <a:srgbClr val="2FB8C4">
              <a:alpha val="18000"/>
            </a:srgbClr>
          </a:solidFill>
          <a:ln w="9525">
            <a:solidFill>
              <a:srgbClr val="2FB8C4">
                <a:alpha val="60000"/>
              </a:srgbClr>
            </a:solidFill>
            <a:prstDash val="solid"/>
          </a:ln>
        </p:spPr>
      </p:sp>
      <p:pic>
        <p:nvPicPr>
          <p:cNvPr id="20" name="Image 3" descr="preencoded.png">    </p:cNvPr>
          <p:cNvPicPr>
            <a:picLocks noChangeAspect="1"/>
          </p:cNvPicPr>
          <p:nvPr/>
        </p:nvPicPr>
        <p:blipFill>
          <a:blip r:embed="rId4"/>
          <a:stretch>
            <a:fillRect/>
          </a:stretch>
        </p:blipFill>
        <p:spPr>
          <a:xfrm>
            <a:off x="6622085" y="2635301"/>
            <a:ext cx="307238" cy="307238"/>
          </a:xfrm>
          <a:prstGeom prst="rect">
            <a:avLst/>
          </a:prstGeom>
        </p:spPr>
      </p:pic>
      <p:sp>
        <p:nvSpPr>
          <p:cNvPr id="21" name="Text 15"/>
          <p:cNvSpPr txBox="1"/>
          <p:nvPr/>
        </p:nvSpPr>
        <p:spPr>
          <a:xfrm>
            <a:off x="7854696" y="2423160"/>
            <a:ext cx="731520" cy="457200"/>
          </a:xfrm>
          <a:prstGeom prst="rect">
            <a:avLst/>
          </a:prstGeom>
          <a:noFill/>
          <a:ln/>
        </p:spPr>
        <p:txBody>
          <a:bodyPr wrap="square" lIns="0" tIns="0" rIns="0" bIns="0" rtlCol="0" anchor="ctr"/>
          <a:lstStyle/>
          <a:p>
            <a:pPr algn="r" indent="0" marL="0">
              <a:buNone/>
            </a:pPr>
            <a:r>
              <a:rPr lang="en-US" sz="2200" b="1" dirty="0">
                <a:solidFill>
                  <a:srgbClr val="1F4A55"/>
                </a:solidFill>
                <a:latin typeface="Arial" pitchFamily="34" charset="0"/>
                <a:ea typeface="Arial" pitchFamily="34" charset="-122"/>
                <a:cs typeface="Arial" pitchFamily="34" charset="-120"/>
              </a:rPr>
              <a:t>03</a:t>
            </a:r>
            <a:endParaRPr lang="en-US" sz="2200" dirty="0"/>
          </a:p>
        </p:txBody>
      </p:sp>
      <p:sp>
        <p:nvSpPr>
          <p:cNvPr id="22" name="Text 16"/>
          <p:cNvSpPr txBox="1"/>
          <p:nvPr/>
        </p:nvSpPr>
        <p:spPr>
          <a:xfrm>
            <a:off x="6455664" y="3383280"/>
            <a:ext cx="2176272"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Operations &amp;</a:t>
            </a:r>
            <a:endParaRPr lang="en-US" sz="1600" dirty="0"/>
          </a:p>
          <a:p>
            <a:pPr indent="0" marL="0">
              <a:buNone/>
            </a:pPr>
            <a:r>
              <a:rPr lang="en-US" sz="1600" b="1" dirty="0">
                <a:solidFill>
                  <a:srgbClr val="FFFFFF"/>
                </a:solidFill>
                <a:latin typeface="Arial" pitchFamily="34" charset="0"/>
                <a:ea typeface="Arial" pitchFamily="34" charset="-122"/>
                <a:cs typeface="Arial" pitchFamily="34" charset="-120"/>
              </a:rPr>
              <a:t>Growth</a:t>
            </a:r>
            <a:endParaRPr lang="en-US" sz="1600" dirty="0"/>
          </a:p>
        </p:txBody>
      </p:sp>
      <p:sp>
        <p:nvSpPr>
          <p:cNvPr id="23" name="Text 17"/>
          <p:cNvSpPr txBox="1"/>
          <p:nvPr/>
        </p:nvSpPr>
        <p:spPr>
          <a:xfrm>
            <a:off x="6455664" y="4297680"/>
            <a:ext cx="2130552" cy="1508760"/>
          </a:xfrm>
          <a:prstGeom prst="rect">
            <a:avLst/>
          </a:prstGeom>
          <a:noFill/>
          <a:ln/>
        </p:spPr>
        <p:txBody>
          <a:bodyPr wrap="square" lIns="0" tIns="0" rIns="0" bIns="0" rtlCol="0" anchor="t"/>
          <a:lstStyle/>
          <a:p>
            <a:pPr indent="0" marL="0">
              <a:lnSpc>
                <a:spcPct val="130000"/>
              </a:lnSpc>
              <a:buNone/>
            </a:pPr>
            <a:r>
              <a:rPr lang="en-US" sz="1150" dirty="0">
                <a:solidFill>
                  <a:srgbClr val="8FA9AE"/>
                </a:solidFill>
                <a:latin typeface="Arial" pitchFamily="34" charset="0"/>
                <a:ea typeface="Arial" pitchFamily="34" charset="-122"/>
                <a:cs typeface="Arial" pitchFamily="34" charset="-120"/>
              </a:rPr>
              <a:t>Data-driven operation of online platforms and private communities, plus campaign planning and offline events.</a:t>
            </a:r>
            <a:endParaRPr lang="en-US" sz="1150" dirty="0"/>
          </a:p>
        </p:txBody>
      </p:sp>
      <p:sp>
        <p:nvSpPr>
          <p:cNvPr id="24" name="Shape 18"/>
          <p:cNvSpPr/>
          <p:nvPr/>
        </p:nvSpPr>
        <p:spPr>
          <a:xfrm>
            <a:off x="8997696" y="2148840"/>
            <a:ext cx="2633472" cy="3840480"/>
          </a:xfrm>
          <a:prstGeom prst="roundRect">
            <a:avLst>
              <a:gd name="adj" fmla="val 4167"/>
            </a:avLst>
          </a:prstGeom>
          <a:solidFill>
            <a:srgbClr val="0E6E7E">
              <a:alpha val="70000"/>
            </a:srgbClr>
          </a:solidFill>
          <a:ln w="15875">
            <a:solidFill>
              <a:srgbClr val="2FB8C4"/>
            </a:solidFill>
            <a:prstDash val="solid"/>
          </a:ln>
        </p:spPr>
      </p:sp>
      <p:sp>
        <p:nvSpPr>
          <p:cNvPr id="25" name="Shape 19"/>
          <p:cNvSpPr/>
          <p:nvPr/>
        </p:nvSpPr>
        <p:spPr>
          <a:xfrm>
            <a:off x="9272016" y="2468880"/>
            <a:ext cx="640080" cy="640080"/>
          </a:xfrm>
          <a:prstGeom prst="ellipse">
            <a:avLst/>
          </a:prstGeom>
          <a:solidFill>
            <a:srgbClr val="2FB8C4">
              <a:alpha val="45000"/>
            </a:srgbClr>
          </a:solidFill>
          <a:ln w="9525">
            <a:solidFill>
              <a:srgbClr val="2FB8C4">
                <a:alpha val="60000"/>
              </a:srgbClr>
            </a:solidFill>
            <a:prstDash val="solid"/>
          </a:ln>
        </p:spPr>
      </p:sp>
      <p:pic>
        <p:nvPicPr>
          <p:cNvPr id="26" name="Image 4" descr="preencoded.png">    </p:cNvPr>
          <p:cNvPicPr>
            <a:picLocks noChangeAspect="1"/>
          </p:cNvPicPr>
          <p:nvPr/>
        </p:nvPicPr>
        <p:blipFill>
          <a:blip r:embed="rId5"/>
          <a:stretch>
            <a:fillRect/>
          </a:stretch>
        </p:blipFill>
        <p:spPr>
          <a:xfrm>
            <a:off x="9438437" y="2635301"/>
            <a:ext cx="307238" cy="307238"/>
          </a:xfrm>
          <a:prstGeom prst="rect">
            <a:avLst/>
          </a:prstGeom>
        </p:spPr>
      </p:pic>
      <p:sp>
        <p:nvSpPr>
          <p:cNvPr id="27" name="Text 20"/>
          <p:cNvSpPr txBox="1"/>
          <p:nvPr/>
        </p:nvSpPr>
        <p:spPr>
          <a:xfrm>
            <a:off x="10671048" y="2423160"/>
            <a:ext cx="731520" cy="457200"/>
          </a:xfrm>
          <a:prstGeom prst="rect">
            <a:avLst/>
          </a:prstGeom>
          <a:noFill/>
          <a:ln/>
        </p:spPr>
        <p:txBody>
          <a:bodyPr wrap="square" lIns="0" tIns="0" rIns="0" bIns="0" rtlCol="0" anchor="ctr"/>
          <a:lstStyle/>
          <a:p>
            <a:pPr algn="r" indent="0" marL="0">
              <a:buNone/>
            </a:pPr>
            <a:r>
              <a:rPr lang="en-US" sz="2200" b="1" dirty="0">
                <a:solidFill>
                  <a:srgbClr val="7FD9DF"/>
                </a:solidFill>
                <a:latin typeface="Arial" pitchFamily="34" charset="0"/>
                <a:ea typeface="Arial" pitchFamily="34" charset="-122"/>
                <a:cs typeface="Arial" pitchFamily="34" charset="-120"/>
              </a:rPr>
              <a:t>04</a:t>
            </a:r>
            <a:endParaRPr lang="en-US" sz="2200" dirty="0"/>
          </a:p>
        </p:txBody>
      </p:sp>
      <p:sp>
        <p:nvSpPr>
          <p:cNvPr id="28" name="Text 21"/>
          <p:cNvSpPr txBox="1"/>
          <p:nvPr/>
        </p:nvSpPr>
        <p:spPr>
          <a:xfrm>
            <a:off x="10049256" y="2624328"/>
            <a:ext cx="566928" cy="274320"/>
          </a:xfrm>
          <a:prstGeom prst="roundRect">
            <a:avLst>
              <a:gd name="adj" fmla="val 50000"/>
            </a:avLst>
          </a:prstGeom>
          <a:solidFill>
            <a:srgbClr val="2FB8C4"/>
          </a:solidFill>
          <a:ln w="6350">
            <a:solidFill>
              <a:srgbClr val="2FB8C4"/>
            </a:solidFill>
          </a:ln>
        </p:spPr>
        <p:txBody>
          <a:bodyPr wrap="square" lIns="0" tIns="0" rIns="0" bIns="0" rtlCol="0" anchor="ctr"/>
          <a:lstStyle/>
          <a:p>
            <a:pPr algn="ctr" indent="0" marL="0">
              <a:buNone/>
            </a:pPr>
            <a:r>
              <a:rPr lang="en-US" sz="900" b="1" dirty="0">
                <a:solidFill>
                  <a:srgbClr val="061116"/>
                </a:solidFill>
                <a:latin typeface="Arial" pitchFamily="34" charset="0"/>
                <a:ea typeface="Arial" pitchFamily="34" charset="-122"/>
                <a:cs typeface="Arial" pitchFamily="34" charset="-120"/>
              </a:rPr>
              <a:t>NEW</a:t>
            </a:r>
            <a:endParaRPr lang="en-US" sz="900" dirty="0"/>
          </a:p>
        </p:txBody>
      </p:sp>
      <p:sp>
        <p:nvSpPr>
          <p:cNvPr id="29" name="Text 22"/>
          <p:cNvSpPr txBox="1"/>
          <p:nvPr/>
        </p:nvSpPr>
        <p:spPr>
          <a:xfrm>
            <a:off x="9272016" y="3383280"/>
            <a:ext cx="2176272"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AI Forward Deployed</a:t>
            </a:r>
            <a:endParaRPr lang="en-US" sz="1600" dirty="0"/>
          </a:p>
          <a:p>
            <a:pPr indent="0" marL="0">
              <a:buNone/>
            </a:pPr>
            <a:r>
              <a:rPr lang="en-US" sz="1600" b="1" dirty="0">
                <a:solidFill>
                  <a:srgbClr val="FFFFFF"/>
                </a:solidFill>
                <a:latin typeface="Arial" pitchFamily="34" charset="0"/>
                <a:ea typeface="Arial" pitchFamily="34" charset="-122"/>
                <a:cs typeface="Arial" pitchFamily="34" charset="-120"/>
              </a:rPr>
              <a:t>Engineering</a:t>
            </a:r>
            <a:endParaRPr lang="en-US" sz="1600" dirty="0"/>
          </a:p>
        </p:txBody>
      </p:sp>
      <p:sp>
        <p:nvSpPr>
          <p:cNvPr id="30" name="Text 23"/>
          <p:cNvSpPr txBox="1"/>
          <p:nvPr/>
        </p:nvSpPr>
        <p:spPr>
          <a:xfrm>
            <a:off x="9272016" y="4297680"/>
            <a:ext cx="2130552" cy="1508760"/>
          </a:xfrm>
          <a:prstGeom prst="rect">
            <a:avLst/>
          </a:prstGeom>
          <a:noFill/>
          <a:ln/>
        </p:spPr>
        <p:txBody>
          <a:bodyPr wrap="square" lIns="0" tIns="0" rIns="0" bIns="0" rtlCol="0" anchor="t"/>
          <a:lstStyle/>
          <a:p>
            <a:pPr indent="0" marL="0">
              <a:lnSpc>
                <a:spcPct val="130000"/>
              </a:lnSpc>
              <a:buNone/>
            </a:pPr>
            <a:r>
              <a:rPr lang="en-US" sz="1150" dirty="0">
                <a:solidFill>
                  <a:srgbClr val="E6F1F3"/>
                </a:solidFill>
                <a:latin typeface="Arial" pitchFamily="34" charset="0"/>
                <a:ea typeface="Arial" pitchFamily="34" charset="-122"/>
                <a:cs typeface="Arial" pitchFamily="34" charset="-120"/>
              </a:rPr>
              <a:t>Engineers embedded on the front line, deploying LLMs, AIGC and AI agents into your real workflows.</a:t>
            </a:r>
            <a:endParaRPr lang="en-US" sz="1150" dirty="0"/>
          </a:p>
        </p:txBody>
      </p:sp>
      <p:pic>
        <p:nvPicPr>
          <p:cNvPr id="31" name="Image 5" descr="/tmp/claude-0/-home-user-website/1713201c-620c-5ce1-b439-a99d37e654e6/scratchpad/build/../assets/jm_logo.png">    </p:cNvPr>
          <p:cNvPicPr>
            <a:picLocks noChangeAspect="1"/>
          </p:cNvPicPr>
          <p:nvPr/>
        </p:nvPicPr>
        <p:blipFill>
          <a:blip r:embed="rId6"/>
          <a:stretch>
            <a:fillRect/>
          </a:stretch>
        </p:blipFill>
        <p:spPr>
          <a:xfrm>
            <a:off x="548640" y="6336792"/>
            <a:ext cx="274320" cy="235915"/>
          </a:xfrm>
          <a:prstGeom prst="rect">
            <a:avLst/>
          </a:prstGeom>
        </p:spPr>
      </p:pic>
      <p:sp>
        <p:nvSpPr>
          <p:cNvPr id="32" name="Text 24"/>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33" name="Text 25"/>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claude-0/-home-user-website/1713201c-620c-5ce1-b439-a99d37e654e6/scratchpad/build/../assets/jm_section.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365760"/>
            <a:ext cx="3657600" cy="2011680"/>
          </a:xfrm>
          <a:prstGeom prst="rect">
            <a:avLst/>
          </a:prstGeom>
          <a:noFill/>
          <a:ln/>
        </p:spPr>
        <p:txBody>
          <a:bodyPr wrap="square" lIns="0" tIns="0" rIns="0" bIns="0" rtlCol="0" anchor="ctr"/>
          <a:lstStyle/>
          <a:p>
            <a:pPr indent="0" marL="0">
              <a:buNone/>
            </a:pPr>
            <a:r>
              <a:rPr lang="en-US" sz="15000" b="1" dirty="0">
                <a:solidFill>
                  <a:srgbClr val="2FB8C4">
                    <a:alpha val="20000"/>
                  </a:srgbClr>
                </a:solidFill>
                <a:latin typeface="Arial" pitchFamily="34" charset="0"/>
                <a:ea typeface="Arial" pitchFamily="34" charset="-122"/>
                <a:cs typeface="Arial" pitchFamily="34" charset="-120"/>
              </a:rPr>
              <a:t>04</a:t>
            </a:r>
            <a:endParaRPr lang="en-US" sz="15000" dirty="0"/>
          </a:p>
        </p:txBody>
      </p:sp>
      <p:sp>
        <p:nvSpPr>
          <p:cNvPr id="4" name="Text 1"/>
          <p:cNvSpPr txBox="1"/>
          <p:nvPr/>
        </p:nvSpPr>
        <p:spPr>
          <a:xfrm>
            <a:off x="822960" y="2148840"/>
            <a:ext cx="5486400" cy="274320"/>
          </a:xfrm>
          <a:prstGeom prst="rect">
            <a:avLst/>
          </a:prstGeom>
          <a:noFill/>
          <a:ln/>
        </p:spPr>
        <p:txBody>
          <a:bodyPr wrap="square" lIns="0" tIns="0" rIns="0" bIns="0" rtlCol="0" anchor="ctr"/>
          <a:lstStyle/>
          <a:p>
            <a:pPr indent="0" marL="0">
              <a:buNone/>
            </a:pPr>
            <a:r>
              <a:rPr lang="en-US" sz="1200" b="1" spc="600" kern="0" dirty="0">
                <a:solidFill>
                  <a:srgbClr val="2FB8C4"/>
                </a:solidFill>
                <a:latin typeface="Arial" pitchFamily="34" charset="0"/>
                <a:ea typeface="Arial" pitchFamily="34" charset="-122"/>
                <a:cs typeface="Arial" pitchFamily="34" charset="-120"/>
              </a:rPr>
              <a:t>NEW BUSINESS</a:t>
            </a:r>
            <a:endParaRPr lang="en-US" sz="1200" dirty="0"/>
          </a:p>
        </p:txBody>
      </p:sp>
      <p:sp>
        <p:nvSpPr>
          <p:cNvPr id="5" name="Text 2"/>
          <p:cNvSpPr txBox="1"/>
          <p:nvPr/>
        </p:nvSpPr>
        <p:spPr>
          <a:xfrm>
            <a:off x="822960" y="2468880"/>
            <a:ext cx="7315200" cy="1188720"/>
          </a:xfrm>
          <a:prstGeom prst="rect">
            <a:avLst/>
          </a:prstGeom>
          <a:noFill/>
          <a:ln/>
        </p:spPr>
        <p:txBody>
          <a:bodyPr wrap="square" lIns="0" tIns="0" rIns="0" bIns="0" rtlCol="0" anchor="ctr"/>
          <a:lstStyle/>
          <a:p>
            <a:pPr indent="0" marL="0">
              <a:buNone/>
            </a:pPr>
            <a:r>
              <a:rPr lang="en-US" sz="8000" b="1" dirty="0">
                <a:solidFill>
                  <a:srgbClr val="FFFFFF"/>
                </a:solidFill>
                <a:latin typeface="Arial" pitchFamily="34" charset="0"/>
                <a:ea typeface="Arial" pitchFamily="34" charset="-122"/>
                <a:cs typeface="Arial" pitchFamily="34" charset="-120"/>
              </a:rPr>
              <a:t>AI FDE</a:t>
            </a:r>
            <a:endParaRPr lang="en-US" sz="8000" dirty="0"/>
          </a:p>
        </p:txBody>
      </p:sp>
      <p:sp>
        <p:nvSpPr>
          <p:cNvPr id="6" name="Text 3"/>
          <p:cNvSpPr txBox="1"/>
          <p:nvPr/>
        </p:nvSpPr>
        <p:spPr>
          <a:xfrm>
            <a:off x="822960" y="3657600"/>
            <a:ext cx="8229600" cy="411480"/>
          </a:xfrm>
          <a:prstGeom prst="rect">
            <a:avLst/>
          </a:prstGeom>
          <a:noFill/>
          <a:ln/>
        </p:spPr>
        <p:txBody>
          <a:bodyPr wrap="square" lIns="0" tIns="0" rIns="0" bIns="0" rtlCol="0" anchor="ctr"/>
          <a:lstStyle/>
          <a:p>
            <a:pPr indent="0" marL="0">
              <a:buNone/>
            </a:pPr>
            <a:r>
              <a:rPr lang="en-US" sz="2200" dirty="0">
                <a:solidFill>
                  <a:srgbClr val="7FD9DF"/>
                </a:solidFill>
                <a:latin typeface="Arial" pitchFamily="34" charset="0"/>
                <a:ea typeface="Arial" pitchFamily="34" charset="-122"/>
                <a:cs typeface="Arial" pitchFamily="34" charset="-120"/>
              </a:rPr>
              <a:t>Forward Deployed Engineering</a:t>
            </a:r>
            <a:endParaRPr lang="en-US" sz="2200" dirty="0"/>
          </a:p>
        </p:txBody>
      </p:sp>
      <p:sp>
        <p:nvSpPr>
          <p:cNvPr id="7" name="Text 4"/>
          <p:cNvSpPr txBox="1"/>
          <p:nvPr/>
        </p:nvSpPr>
        <p:spPr>
          <a:xfrm>
            <a:off x="822960" y="4572000"/>
            <a:ext cx="9144000" cy="868680"/>
          </a:xfrm>
          <a:prstGeom prst="rect">
            <a:avLst/>
          </a:prstGeom>
          <a:noFill/>
          <a:ln/>
        </p:spPr>
        <p:txBody>
          <a:bodyPr wrap="square" lIns="0" tIns="0" rIns="0" bIns="0" rtlCol="0" anchor="ctr"/>
          <a:lstStyle/>
          <a:p>
            <a:pPr indent="0" marL="0">
              <a:lnSpc>
                <a:spcPct val="125000"/>
              </a:lnSpc>
              <a:buNone/>
            </a:pPr>
            <a:r>
              <a:rPr lang="en-US" sz="1800" b="1" dirty="0">
                <a:solidFill>
                  <a:srgbClr val="FFFFFF"/>
                </a:solidFill>
                <a:latin typeface="Arial" pitchFamily="34" charset="0"/>
                <a:ea typeface="Arial" pitchFamily="34" charset="-122"/>
                <a:cs typeface="Arial" pitchFamily="34" charset="-120"/>
              </a:rPr>
              <a:t>AI projects rarely fail because the model isn't good enough.</a:t>
            </a:r>
            <a:endParaRPr lang="en-US" sz="1800" dirty="0"/>
          </a:p>
          <a:p>
            <a:pPr indent="0" marL="0">
              <a:lnSpc>
                <a:spcPct val="125000"/>
              </a:lnSpc>
              <a:buNone/>
            </a:pPr>
            <a:r>
              <a:rPr lang="en-US" sz="1800" b="1" dirty="0">
                <a:solidFill>
                  <a:srgbClr val="FFFFFF"/>
                </a:solidFill>
                <a:latin typeface="Arial" pitchFamily="34" charset="0"/>
                <a:ea typeface="Arial" pitchFamily="34" charset="-122"/>
                <a:cs typeface="Arial" pitchFamily="34" charset="-120"/>
              </a:rPr>
              <a:t>They fail because no one wires it into the real business.</a:t>
            </a:r>
            <a:endParaRPr lang="en-US" sz="1800" dirty="0"/>
          </a:p>
        </p:txBody>
      </p:sp>
      <p:pic>
        <p:nvPicPr>
          <p:cNvPr id="8" name="Image 1" descr="/tmp/claude-0/-home-user-website/1713201c-620c-5ce1-b439-a99d37e654e6/scratchpad/build/../assets/jm_logo.png">    </p:cNvPr>
          <p:cNvPicPr>
            <a:picLocks noChangeAspect="1"/>
          </p:cNvPicPr>
          <p:nvPr/>
        </p:nvPicPr>
        <p:blipFill>
          <a:blip r:embed="rId2"/>
          <a:stretch>
            <a:fillRect/>
          </a:stretch>
        </p:blipFill>
        <p:spPr>
          <a:xfrm>
            <a:off x="548640" y="6336792"/>
            <a:ext cx="274320" cy="235915"/>
          </a:xfrm>
          <a:prstGeom prst="rect">
            <a:avLst/>
          </a:prstGeom>
        </p:spPr>
      </p:pic>
      <p:sp>
        <p:nvSpPr>
          <p:cNvPr id="9" name="Text 5"/>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10" name="Text 6"/>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claude-0/-home-user-website/1713201c-620c-5ce1-b439-a99d37e654e6/scratchpad/build/../assets/jm_bg.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WHAT IS FDE</a:t>
            </a:r>
            <a:endParaRPr lang="en-US" sz="1100" dirty="0"/>
          </a:p>
        </p:txBody>
      </p:sp>
      <p:sp>
        <p:nvSpPr>
          <p:cNvPr id="4" name="Text 1"/>
          <p:cNvSpPr txBox="1"/>
          <p:nvPr/>
        </p:nvSpPr>
        <p:spPr>
          <a:xfrm>
            <a:off x="548640" y="74980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Not outsourcing. Not another SaaS seat.</a:t>
            </a:r>
            <a:endParaRPr lang="en-US" sz="3000" dirty="0"/>
          </a:p>
        </p:txBody>
      </p:sp>
      <p:sp>
        <p:nvSpPr>
          <p:cNvPr id="5" name="Text 2"/>
          <p:cNvSpPr txBox="1"/>
          <p:nvPr/>
        </p:nvSpPr>
        <p:spPr>
          <a:xfrm>
            <a:off x="548640" y="1389888"/>
            <a:ext cx="1097280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Engineers in the room, accountable for results.</a:t>
            </a:r>
            <a:endParaRPr lang="en-US" sz="1300" dirty="0"/>
          </a:p>
        </p:txBody>
      </p:sp>
      <p:sp>
        <p:nvSpPr>
          <p:cNvPr id="6" name="Text 3"/>
          <p:cNvSpPr txBox="1"/>
          <p:nvPr/>
        </p:nvSpPr>
        <p:spPr>
          <a:xfrm>
            <a:off x="548640" y="2103120"/>
            <a:ext cx="3566160" cy="3474720"/>
          </a:xfrm>
          <a:prstGeom prst="rect">
            <a:avLst/>
          </a:prstGeom>
          <a:noFill/>
          <a:ln/>
        </p:spPr>
        <p:txBody>
          <a:bodyPr wrap="square" lIns="0" tIns="0" rIns="0" bIns="0" rtlCol="0" anchor="t"/>
          <a:lstStyle/>
          <a:p>
            <a:pPr indent="0" marL="0">
              <a:lnSpc>
                <a:spcPct val="135000"/>
              </a:lnSpc>
              <a:buNone/>
            </a:pPr>
            <a:r>
              <a:rPr lang="en-US" sz="1300" dirty="0">
                <a:solidFill>
                  <a:srgbClr val="E6F1F3"/>
                </a:solidFill>
                <a:latin typeface="Arial" pitchFamily="34" charset="0"/>
                <a:ea typeface="Arial" pitchFamily="34" charset="-122"/>
                <a:cs typeface="Arial" pitchFamily="34" charset="-120"/>
              </a:rPr>
              <a:t>Forward Deployed Engineering was pioneered by leading Silicon Valley AI and data companies. Instead of waiting for requirements from afar, engineers embed with your team on the front line, start from real business problems, and ship AI as production systems that are used, measured and continuously improved.</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480560" y="2103120"/>
          <a:ext cx="9144000" cy="914400"/>
        </p:xfrm>
        <a:graphic>
          <a:graphicData uri="http://schemas.openxmlformats.org/drawingml/2006/table">
            <a:tbl>
              <a:tblPr/>
              <a:tblGrid>
                <a:gridCol w="1325880"/>
                <a:gridCol w="1783080"/>
                <a:gridCol w="1783080"/>
                <a:gridCol w="2267712"/>
              </a:tblGrid>
              <a:tr h="548640">
                <a:tc>
                  <a:txBody>
                    <a:bodyPr/>
                    <a:lstStyle/>
                    <a:p>
                      <a:pPr indent="0" marL="0">
                        <a:buNone/>
                      </a:pPr>
                      <a:endParaRPr lang="en-US" sz="1200" dirty="0"/>
                    </a:p>
                  </a:txBody>
                  <a:tcPr marL="91440" marR="91440" marT="45720" marB="45720">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Outsourcing</a:t>
                      </a:r>
                      <a:endParaRPr lang="en-US" sz="12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10303A"/>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Off-the-shelf SaaS</a:t>
                      </a:r>
                      <a:endParaRPr lang="en-US" sz="12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10303A"/>
                    </a:solidFill>
                  </a:tcPr>
                </a:tc>
                <a:tc>
                  <a:txBody>
                    <a:bodyPr/>
                    <a:lstStyle/>
                    <a:p>
                      <a:pPr indent="0" marL="0">
                        <a:buNone/>
                      </a:pPr>
                      <a:r>
                        <a:rPr lang="en-US" sz="1250" b="1" dirty="0">
                          <a:solidFill>
                            <a:srgbClr val="061116"/>
                          </a:solidFill>
                          <a:latin typeface="Arial" pitchFamily="34" charset="0"/>
                          <a:ea typeface="Arial" pitchFamily="34" charset="-122"/>
                          <a:cs typeface="Arial" pitchFamily="34" charset="-120"/>
                        </a:rPr>
                        <a:t>Jimeng AI FDE</a:t>
                      </a:r>
                      <a:endParaRPr lang="en-US" sz="12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2FB8C4"/>
                    </a:solidFill>
                  </a:tcPr>
                </a:tc>
              </a:tr>
              <a:tr h="658368">
                <a:tc>
                  <a:txBody>
                    <a:bodyPr/>
                    <a:lstStyle/>
                    <a:p>
                      <a:pPr indent="0" marL="0">
                        <a:buNone/>
                      </a:pPr>
                      <a:r>
                        <a:rPr lang="en-US" sz="1100" b="1" dirty="0">
                          <a:solidFill>
                            <a:srgbClr val="2FB8C4"/>
                          </a:solidFill>
                          <a:latin typeface="Arial" pitchFamily="34" charset="0"/>
                          <a:ea typeface="Arial" pitchFamily="34" charset="-122"/>
                          <a:cs typeface="Arial" pitchFamily="34" charset="-120"/>
                        </a:rPr>
                        <a:t>Starting point</a:t>
                      </a:r>
                      <a:endParaRPr lang="en-US" sz="110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dirty="0">
                          <a:solidFill>
                            <a:srgbClr val="8FA9AE"/>
                          </a:solidFill>
                          <a:latin typeface="Arial" pitchFamily="34" charset="0"/>
                          <a:ea typeface="Arial" pitchFamily="34" charset="-122"/>
                          <a:cs typeface="Arial" pitchFamily="34" charset="-120"/>
                        </a:rPr>
                        <a:t>A requirements doc</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dirty="0">
                          <a:solidFill>
                            <a:srgbClr val="8FA9AE"/>
                          </a:solidFill>
                          <a:latin typeface="Arial" pitchFamily="34" charset="0"/>
                          <a:ea typeface="Arial" pitchFamily="34" charset="-122"/>
                          <a:cs typeface="Arial" pitchFamily="34" charset="-120"/>
                        </a:rPr>
                        <a:t>Standard features</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Real problems on the ground</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F3F48"/>
                    </a:solidFill>
                  </a:tcPr>
                </a:tc>
              </a:tr>
              <a:tr h="658368">
                <a:tc>
                  <a:txBody>
                    <a:bodyPr/>
                    <a:lstStyle/>
                    <a:p>
                      <a:pPr indent="0" marL="0">
                        <a:buNone/>
                      </a:pPr>
                      <a:r>
                        <a:rPr lang="en-US" sz="1100" b="1" dirty="0">
                          <a:solidFill>
                            <a:srgbClr val="2FB8C4"/>
                          </a:solidFill>
                          <a:latin typeface="Arial" pitchFamily="34" charset="0"/>
                          <a:ea typeface="Arial" pitchFamily="34" charset="-122"/>
                          <a:cs typeface="Arial" pitchFamily="34" charset="-120"/>
                        </a:rPr>
                        <a:t>Deliverable</a:t>
                      </a:r>
                      <a:endParaRPr lang="en-US" sz="110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dirty="0">
                          <a:solidFill>
                            <a:srgbClr val="8FA9AE"/>
                          </a:solidFill>
                          <a:latin typeface="Arial" pitchFamily="34" charset="0"/>
                          <a:ea typeface="Arial" pitchFamily="34" charset="-122"/>
                          <a:cs typeface="Arial" pitchFamily="34" charset="-120"/>
                        </a:rPr>
                        <a:t>Software built to spec</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dirty="0">
                          <a:solidFill>
                            <a:srgbClr val="8FA9AE"/>
                          </a:solidFill>
                          <a:latin typeface="Arial" pitchFamily="34" charset="0"/>
                          <a:ea typeface="Arial" pitchFamily="34" charset="-122"/>
                          <a:cs typeface="Arial" pitchFamily="34" charset="-120"/>
                        </a:rPr>
                        <a:t>A generic account</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AI running inside your business</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F3F48"/>
                    </a:solidFill>
                  </a:tcPr>
                </a:tc>
              </a:tr>
              <a:tr h="658368">
                <a:tc>
                  <a:txBody>
                    <a:bodyPr/>
                    <a:lstStyle/>
                    <a:p>
                      <a:pPr indent="0" marL="0">
                        <a:buNone/>
                      </a:pPr>
                      <a:r>
                        <a:rPr lang="en-US" sz="1100" b="1" dirty="0">
                          <a:solidFill>
                            <a:srgbClr val="2FB8C4"/>
                          </a:solidFill>
                          <a:latin typeface="Arial" pitchFamily="34" charset="0"/>
                          <a:ea typeface="Arial" pitchFamily="34" charset="-122"/>
                          <a:cs typeface="Arial" pitchFamily="34" charset="-120"/>
                        </a:rPr>
                        <a:t>Customisation</a:t>
                      </a:r>
                      <a:endParaRPr lang="en-US" sz="110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dirty="0">
                          <a:solidFill>
                            <a:srgbClr val="8FA9AE"/>
                          </a:solidFill>
                          <a:latin typeface="Arial" pitchFamily="34" charset="0"/>
                          <a:ea typeface="Arial" pitchFamily="34" charset="-122"/>
                          <a:cs typeface="Arial" pitchFamily="34" charset="-120"/>
                        </a:rPr>
                        <a:t>Medium</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dirty="0">
                          <a:solidFill>
                            <a:srgbClr val="8FA9AE"/>
                          </a:solidFill>
                          <a:latin typeface="Arial" pitchFamily="34" charset="0"/>
                          <a:ea typeface="Arial" pitchFamily="34" charset="-122"/>
                          <a:cs typeface="Arial" pitchFamily="34" charset="-120"/>
                        </a:rPr>
                        <a:t>Low</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Deeply fitted to your process &amp; data</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F3F48"/>
                    </a:solidFill>
                  </a:tcPr>
                </a:tc>
              </a:tr>
              <a:tr h="658368">
                <a:tc>
                  <a:txBody>
                    <a:bodyPr/>
                    <a:lstStyle/>
                    <a:p>
                      <a:pPr indent="0" marL="0">
                        <a:buNone/>
                      </a:pPr>
                      <a:r>
                        <a:rPr lang="en-US" sz="1100" b="1" dirty="0">
                          <a:solidFill>
                            <a:srgbClr val="2FB8C4"/>
                          </a:solidFill>
                          <a:latin typeface="Arial" pitchFamily="34" charset="0"/>
                          <a:ea typeface="Arial" pitchFamily="34" charset="-122"/>
                          <a:cs typeface="Arial" pitchFamily="34" charset="-120"/>
                        </a:rPr>
                        <a:t>Iteration</a:t>
                      </a:r>
                      <a:endParaRPr lang="en-US" sz="110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dirty="0">
                          <a:solidFill>
                            <a:srgbClr val="8FA9AE"/>
                          </a:solidFill>
                          <a:latin typeface="Arial" pitchFamily="34" charset="0"/>
                          <a:ea typeface="Arial" pitchFamily="34" charset="-122"/>
                          <a:cs typeface="Arial" pitchFamily="34" charset="-120"/>
                        </a:rPr>
                        <a:t>Every change re-quoted</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dirty="0">
                          <a:solidFill>
                            <a:srgbClr val="8FA9AE"/>
                          </a:solidFill>
                          <a:latin typeface="Arial" pitchFamily="34" charset="0"/>
                          <a:ea typeface="Arial" pitchFamily="34" charset="-122"/>
                          <a:cs typeface="Arial" pitchFamily="34" charset="-120"/>
                        </a:rPr>
                        <a:t>Wait for the roadmap</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Rapid, on-site iteration</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F3F48"/>
                    </a:solidFill>
                  </a:tcPr>
                </a:tc>
              </a:tr>
              <a:tr h="658368">
                <a:tc>
                  <a:txBody>
                    <a:bodyPr/>
                    <a:lstStyle/>
                    <a:p>
                      <a:pPr indent="0" marL="0">
                        <a:buNone/>
                      </a:pPr>
                      <a:r>
                        <a:rPr lang="en-US" sz="1100" b="1" dirty="0">
                          <a:solidFill>
                            <a:srgbClr val="2FB8C4"/>
                          </a:solidFill>
                          <a:latin typeface="Arial" pitchFamily="34" charset="0"/>
                          <a:ea typeface="Arial" pitchFamily="34" charset="-122"/>
                          <a:cs typeface="Arial" pitchFamily="34" charset="-120"/>
                        </a:rPr>
                        <a:t>Outcome</a:t>
                      </a:r>
                      <a:endParaRPr lang="en-US" sz="110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dirty="0">
                          <a:solidFill>
                            <a:srgbClr val="8FA9AE"/>
                          </a:solidFill>
                          <a:latin typeface="Arial" pitchFamily="34" charset="0"/>
                          <a:ea typeface="Arial" pitchFamily="34" charset="-122"/>
                          <a:cs typeface="Arial" pitchFamily="34" charset="-120"/>
                        </a:rPr>
                        <a:t>Ends at handover</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dirty="0">
                          <a:solidFill>
                            <a:srgbClr val="8FA9AE"/>
                          </a:solidFill>
                          <a:latin typeface="Arial" pitchFamily="34" charset="0"/>
                          <a:ea typeface="Arial" pitchFamily="34" charset="-122"/>
                          <a:cs typeface="Arial" pitchFamily="34" charset="-120"/>
                        </a:rPr>
                        <a:t>You figure it out</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B1E24"/>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Owns results, then transfers know-how</a:t>
                      </a:r>
                      <a:endParaRPr lang="en-US" sz="1150" dirty="0">
                        <a:latin typeface="Arial" charset="0"/>
                        <a:ea typeface="Arial" charset="0"/>
                        <a:cs typeface="Arial" charset="0"/>
                      </a:endParaRPr>
                    </a:p>
                  </a:txBody>
                  <a:tcPr marL="127000" marR="127000" marT="50800" marB="50800" anchor="ctr">
                    <a:lnL w="12700" cap="flat" cmpd="sng" algn="ctr">
                      <a:solidFill>
                        <a:srgbClr val="061116"/>
                      </a:solidFill>
                      <a:prstDash val="solid"/>
                      <a:round/>
                      <a:headEnd type="none" w="med" len="med"/>
                      <a:tailEnd type="none" w="med" len="med"/>
                    </a:lnL>
                    <a:lnR w="12700" cap="flat" cmpd="sng" algn="ctr">
                      <a:solidFill>
                        <a:srgbClr val="061116"/>
                      </a:solidFill>
                      <a:prstDash val="solid"/>
                      <a:round/>
                      <a:headEnd type="none" w="med" len="med"/>
                      <a:tailEnd type="none" w="med" len="med"/>
                    </a:lnR>
                    <a:lnT w="12700" cap="flat" cmpd="sng" algn="ctr">
                      <a:solidFill>
                        <a:srgbClr val="061116"/>
                      </a:solidFill>
                      <a:prstDash val="solid"/>
                      <a:round/>
                      <a:headEnd type="none" w="med" len="med"/>
                      <a:tailEnd type="none" w="med" len="med"/>
                    </a:lnT>
                    <a:lnB w="12700" cap="flat" cmpd="sng" algn="ctr">
                      <a:solidFill>
                        <a:srgbClr val="061116"/>
                      </a:solidFill>
                      <a:prstDash val="solid"/>
                      <a:round/>
                      <a:headEnd type="none" w="med" len="med"/>
                      <a:tailEnd type="none" w="med" len="med"/>
                    </a:lnB>
                    <a:solidFill>
                      <a:srgbClr val="0F3F48"/>
                    </a:solidFill>
                  </a:tcPr>
                </a:tc>
              </a:tr>
            </a:tbl>
          </a:graphicData>
        </a:graphic>
      </p:graphicFrame>
      <p:pic>
        <p:nvPicPr>
          <p:cNvPr id="8" name="Image 1" descr="/tmp/claude-0/-home-user-website/1713201c-620c-5ce1-b439-a99d37e654e6/scratchpad/build/../assets/jm_logo.png">    </p:cNvPr>
          <p:cNvPicPr>
            <a:picLocks noChangeAspect="1"/>
          </p:cNvPicPr>
          <p:nvPr/>
        </p:nvPicPr>
        <p:blipFill>
          <a:blip r:embed="rId2"/>
          <a:stretch>
            <a:fillRect/>
          </a:stretch>
        </p:blipFill>
        <p:spPr>
          <a:xfrm>
            <a:off x="548640" y="6336792"/>
            <a:ext cx="274320" cy="235915"/>
          </a:xfrm>
          <a:prstGeom prst="rect">
            <a:avLst/>
          </a:prstGeom>
        </p:spPr>
      </p:pic>
      <p:sp>
        <p:nvSpPr>
          <p:cNvPr id="9" name="Text 4"/>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10" name="Text 5"/>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mp/claude-0/-home-user-website/1713201c-620c-5ce1-b439-a99d37e654e6/scratchpad/build/../assets/jm_bg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HOW WE DELIVER</a:t>
            </a:r>
            <a:endParaRPr lang="en-US" sz="1100" dirty="0"/>
          </a:p>
        </p:txBody>
      </p:sp>
      <p:sp>
        <p:nvSpPr>
          <p:cNvPr id="4" name="Text 1"/>
          <p:cNvSpPr txBox="1"/>
          <p:nvPr/>
        </p:nvSpPr>
        <p:spPr>
          <a:xfrm>
            <a:off x="548640" y="74980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Four phases from idea to production</a:t>
            </a:r>
            <a:endParaRPr lang="en-US" sz="3000" dirty="0"/>
          </a:p>
        </p:txBody>
      </p:sp>
      <p:sp>
        <p:nvSpPr>
          <p:cNvPr id="5" name="Text 2"/>
          <p:cNvSpPr txBox="1"/>
          <p:nvPr/>
        </p:nvSpPr>
        <p:spPr>
          <a:xfrm>
            <a:off x="548640" y="1389888"/>
            <a:ext cx="1097280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A proven delivery method, from on-site discovery to handover.</a:t>
            </a:r>
            <a:endParaRPr lang="en-US" sz="1300" dirty="0"/>
          </a:p>
        </p:txBody>
      </p:sp>
      <p:sp>
        <p:nvSpPr>
          <p:cNvPr id="6" name="Shape 3"/>
          <p:cNvSpPr/>
          <p:nvPr/>
        </p:nvSpPr>
        <p:spPr>
          <a:xfrm>
            <a:off x="548640" y="2103120"/>
            <a:ext cx="2633472" cy="3063240"/>
          </a:xfrm>
          <a:prstGeom prst="roundRect">
            <a:avLst>
              <a:gd name="adj" fmla="val 4167"/>
            </a:avLst>
          </a:prstGeom>
          <a:solidFill>
            <a:srgbClr val="0F2A33">
              <a:alpha val="75000"/>
            </a:srgbClr>
          </a:solidFill>
          <a:ln w="9525">
            <a:solidFill>
              <a:srgbClr val="1F4A55"/>
            </a:solidFill>
            <a:prstDash val="solid"/>
          </a:ln>
        </p:spPr>
      </p:sp>
      <p:sp>
        <p:nvSpPr>
          <p:cNvPr id="7" name="Shape 4"/>
          <p:cNvSpPr/>
          <p:nvPr/>
        </p:nvSpPr>
        <p:spPr>
          <a:xfrm>
            <a:off x="822960" y="2377440"/>
            <a:ext cx="566928" cy="566928"/>
          </a:xfrm>
          <a:prstGeom prst="ellipse">
            <a:avLst/>
          </a:prstGeom>
          <a:solidFill>
            <a:srgbClr val="2FB8C4">
              <a:alpha val="18000"/>
            </a:srgbClr>
          </a:solidFill>
          <a:ln w="9525">
            <a:solidFill>
              <a:srgbClr val="2FB8C4">
                <a:alpha val="60000"/>
              </a:srgbClr>
            </a:solidFill>
            <a:prstDash val="solid"/>
          </a:ln>
        </p:spPr>
      </p:sp>
      <p:pic>
        <p:nvPicPr>
          <p:cNvPr id="8" name="Image 1" descr="preencoded.png">    </p:cNvPr>
          <p:cNvPicPr>
            <a:picLocks noChangeAspect="1"/>
          </p:cNvPicPr>
          <p:nvPr/>
        </p:nvPicPr>
        <p:blipFill>
          <a:blip r:embed="rId2"/>
          <a:stretch>
            <a:fillRect/>
          </a:stretch>
        </p:blipFill>
        <p:spPr>
          <a:xfrm>
            <a:off x="970361" y="2524841"/>
            <a:ext cx="272125" cy="272125"/>
          </a:xfrm>
          <a:prstGeom prst="rect">
            <a:avLst/>
          </a:prstGeom>
        </p:spPr>
      </p:pic>
      <p:sp>
        <p:nvSpPr>
          <p:cNvPr id="9" name="Text 5"/>
          <p:cNvSpPr txBox="1"/>
          <p:nvPr/>
        </p:nvSpPr>
        <p:spPr>
          <a:xfrm>
            <a:off x="2267712" y="2377440"/>
            <a:ext cx="685800" cy="411480"/>
          </a:xfrm>
          <a:prstGeom prst="rect">
            <a:avLst/>
          </a:prstGeom>
          <a:noFill/>
          <a:ln/>
        </p:spPr>
        <p:txBody>
          <a:bodyPr wrap="square" lIns="0" tIns="0" rIns="0" bIns="0" rtlCol="0" anchor="ctr"/>
          <a:lstStyle/>
          <a:p>
            <a:pPr algn="r" indent="0" marL="0">
              <a:buNone/>
            </a:pPr>
            <a:r>
              <a:rPr lang="en-US" sz="2000" b="1" dirty="0">
                <a:solidFill>
                  <a:srgbClr val="1F4A55"/>
                </a:solidFill>
                <a:latin typeface="Arial" pitchFamily="34" charset="0"/>
                <a:ea typeface="Arial" pitchFamily="34" charset="-122"/>
                <a:cs typeface="Arial" pitchFamily="34" charset="-120"/>
              </a:rPr>
              <a:t>01</a:t>
            </a:r>
            <a:endParaRPr lang="en-US" sz="2000" dirty="0"/>
          </a:p>
        </p:txBody>
      </p:sp>
      <p:sp>
        <p:nvSpPr>
          <p:cNvPr id="10" name="Text 6"/>
          <p:cNvSpPr txBox="1"/>
          <p:nvPr/>
        </p:nvSpPr>
        <p:spPr>
          <a:xfrm>
            <a:off x="822960" y="310896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Discover</a:t>
            </a:r>
            <a:endParaRPr lang="en-US" sz="1800" dirty="0"/>
          </a:p>
        </p:txBody>
      </p:sp>
      <p:sp>
        <p:nvSpPr>
          <p:cNvPr id="11" name="Text 7"/>
          <p:cNvSpPr txBox="1"/>
          <p:nvPr/>
        </p:nvSpPr>
        <p:spPr>
          <a:xfrm>
            <a:off x="822960" y="3566160"/>
            <a:ext cx="868680" cy="292608"/>
          </a:xfrm>
          <a:prstGeom prst="roundRect">
            <a:avLst>
              <a:gd name="adj" fmla="val 46875"/>
            </a:avLst>
          </a:prstGeom>
          <a:solidFill>
            <a:srgbClr val="2FB8C4">
              <a:alpha val="20000"/>
            </a:srgbClr>
          </a:solidFill>
          <a:ln w="6350">
            <a:solidFill>
              <a:srgbClr val="2FB8C4"/>
            </a:solidFill>
          </a:ln>
        </p:spPr>
        <p:txBody>
          <a:bodyPr wrap="square" lIns="0" tIns="0" rIns="0" bIns="0" rtlCol="0" anchor="ctr"/>
          <a:lstStyle/>
          <a:p>
            <a:pPr algn="ctr" indent="0" marL="0">
              <a:buNone/>
            </a:pPr>
            <a:r>
              <a:rPr lang="en-US" sz="950" dirty="0">
                <a:solidFill>
                  <a:srgbClr val="7FD9DF"/>
                </a:solidFill>
                <a:latin typeface="Arial" pitchFamily="34" charset="0"/>
                <a:ea typeface="Arial" pitchFamily="34" charset="-122"/>
                <a:cs typeface="Arial" pitchFamily="34" charset="-120"/>
              </a:rPr>
              <a:t>1–2 wks</a:t>
            </a:r>
            <a:endParaRPr lang="en-US" sz="950" dirty="0"/>
          </a:p>
        </p:txBody>
      </p:sp>
      <p:sp>
        <p:nvSpPr>
          <p:cNvPr id="12" name="Text 8"/>
          <p:cNvSpPr txBox="1"/>
          <p:nvPr/>
        </p:nvSpPr>
        <p:spPr>
          <a:xfrm>
            <a:off x="822960" y="3977640"/>
            <a:ext cx="2130552" cy="1097280"/>
          </a:xfrm>
          <a:prstGeom prst="rect">
            <a:avLst/>
          </a:prstGeom>
          <a:noFill/>
          <a:ln/>
        </p:spPr>
        <p:txBody>
          <a:bodyPr wrap="square" lIns="0" tIns="0" rIns="0" bIns="0" rtlCol="0" anchor="t"/>
          <a:lstStyle/>
          <a:p>
            <a:pPr indent="0" marL="0">
              <a:lnSpc>
                <a:spcPct val="125000"/>
              </a:lnSpc>
              <a:buNone/>
            </a:pPr>
            <a:r>
              <a:rPr lang="en-US" sz="1150" dirty="0">
                <a:solidFill>
                  <a:srgbClr val="8FA9AE"/>
                </a:solidFill>
                <a:latin typeface="Arial" pitchFamily="34" charset="0"/>
                <a:ea typeface="Arial" pitchFamily="34" charset="-122"/>
                <a:cs typeface="Arial" pitchFamily="34" charset="-120"/>
              </a:rPr>
              <a:t>On-site interviews, process mapping and data audit to find the highest-ROI AI opportunities.</a:t>
            </a:r>
            <a:endParaRPr lang="en-US" sz="1150" dirty="0"/>
          </a:p>
        </p:txBody>
      </p:sp>
      <p:pic>
        <p:nvPicPr>
          <p:cNvPr id="13" name="Image 2" descr="preencoded.png">    </p:cNvPr>
          <p:cNvPicPr>
            <a:picLocks noChangeAspect="1"/>
          </p:cNvPicPr>
          <p:nvPr/>
        </p:nvPicPr>
        <p:blipFill>
          <a:blip r:embed="rId3"/>
          <a:stretch>
            <a:fillRect/>
          </a:stretch>
        </p:blipFill>
        <p:spPr>
          <a:xfrm>
            <a:off x="3163824" y="3474720"/>
            <a:ext cx="219456" cy="219456"/>
          </a:xfrm>
          <a:prstGeom prst="rect">
            <a:avLst/>
          </a:prstGeom>
        </p:spPr>
      </p:pic>
      <p:sp>
        <p:nvSpPr>
          <p:cNvPr id="14" name="Shape 9"/>
          <p:cNvSpPr/>
          <p:nvPr/>
        </p:nvSpPr>
        <p:spPr>
          <a:xfrm>
            <a:off x="3364992" y="2103120"/>
            <a:ext cx="2633472" cy="3063240"/>
          </a:xfrm>
          <a:prstGeom prst="roundRect">
            <a:avLst>
              <a:gd name="adj" fmla="val 4167"/>
            </a:avLst>
          </a:prstGeom>
          <a:solidFill>
            <a:srgbClr val="0F2A33">
              <a:alpha val="75000"/>
            </a:srgbClr>
          </a:solidFill>
          <a:ln w="9525">
            <a:solidFill>
              <a:srgbClr val="1F4A55"/>
            </a:solidFill>
            <a:prstDash val="solid"/>
          </a:ln>
        </p:spPr>
      </p:sp>
      <p:sp>
        <p:nvSpPr>
          <p:cNvPr id="15" name="Shape 10"/>
          <p:cNvSpPr/>
          <p:nvPr/>
        </p:nvSpPr>
        <p:spPr>
          <a:xfrm>
            <a:off x="3639312" y="2377440"/>
            <a:ext cx="566928" cy="566928"/>
          </a:xfrm>
          <a:prstGeom prst="ellipse">
            <a:avLst/>
          </a:prstGeom>
          <a:solidFill>
            <a:srgbClr val="2FB8C4">
              <a:alpha val="18000"/>
            </a:srgbClr>
          </a:solidFill>
          <a:ln w="9525">
            <a:solidFill>
              <a:srgbClr val="2FB8C4">
                <a:alpha val="60000"/>
              </a:srgbClr>
            </a:solidFill>
            <a:prstDash val="solid"/>
          </a:ln>
        </p:spPr>
      </p:sp>
      <p:pic>
        <p:nvPicPr>
          <p:cNvPr id="16" name="Image 3" descr="preencoded.png">    </p:cNvPr>
          <p:cNvPicPr>
            <a:picLocks noChangeAspect="1"/>
          </p:cNvPicPr>
          <p:nvPr/>
        </p:nvPicPr>
        <p:blipFill>
          <a:blip r:embed="rId4"/>
          <a:stretch>
            <a:fillRect/>
          </a:stretch>
        </p:blipFill>
        <p:spPr>
          <a:xfrm>
            <a:off x="3786713" y="2524841"/>
            <a:ext cx="272125" cy="272125"/>
          </a:xfrm>
          <a:prstGeom prst="rect">
            <a:avLst/>
          </a:prstGeom>
        </p:spPr>
      </p:pic>
      <p:sp>
        <p:nvSpPr>
          <p:cNvPr id="17" name="Text 11"/>
          <p:cNvSpPr txBox="1"/>
          <p:nvPr/>
        </p:nvSpPr>
        <p:spPr>
          <a:xfrm>
            <a:off x="5084064" y="2377440"/>
            <a:ext cx="685800" cy="411480"/>
          </a:xfrm>
          <a:prstGeom prst="rect">
            <a:avLst/>
          </a:prstGeom>
          <a:noFill/>
          <a:ln/>
        </p:spPr>
        <p:txBody>
          <a:bodyPr wrap="square" lIns="0" tIns="0" rIns="0" bIns="0" rtlCol="0" anchor="ctr"/>
          <a:lstStyle/>
          <a:p>
            <a:pPr algn="r" indent="0" marL="0">
              <a:buNone/>
            </a:pPr>
            <a:r>
              <a:rPr lang="en-US" sz="2000" b="1" dirty="0">
                <a:solidFill>
                  <a:srgbClr val="1F4A55"/>
                </a:solidFill>
                <a:latin typeface="Arial" pitchFamily="34" charset="0"/>
                <a:ea typeface="Arial" pitchFamily="34" charset="-122"/>
                <a:cs typeface="Arial" pitchFamily="34" charset="-120"/>
              </a:rPr>
              <a:t>02</a:t>
            </a:r>
            <a:endParaRPr lang="en-US" sz="2000" dirty="0"/>
          </a:p>
        </p:txBody>
      </p:sp>
      <p:sp>
        <p:nvSpPr>
          <p:cNvPr id="18" name="Text 12"/>
          <p:cNvSpPr txBox="1"/>
          <p:nvPr/>
        </p:nvSpPr>
        <p:spPr>
          <a:xfrm>
            <a:off x="3639312" y="310896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Prototype</a:t>
            </a:r>
            <a:endParaRPr lang="en-US" sz="1800" dirty="0"/>
          </a:p>
        </p:txBody>
      </p:sp>
      <p:sp>
        <p:nvSpPr>
          <p:cNvPr id="19" name="Text 13"/>
          <p:cNvSpPr txBox="1"/>
          <p:nvPr/>
        </p:nvSpPr>
        <p:spPr>
          <a:xfrm>
            <a:off x="3639312" y="3566160"/>
            <a:ext cx="868680" cy="292608"/>
          </a:xfrm>
          <a:prstGeom prst="roundRect">
            <a:avLst>
              <a:gd name="adj" fmla="val 46875"/>
            </a:avLst>
          </a:prstGeom>
          <a:solidFill>
            <a:srgbClr val="2FB8C4">
              <a:alpha val="20000"/>
            </a:srgbClr>
          </a:solidFill>
          <a:ln w="6350">
            <a:solidFill>
              <a:srgbClr val="2FB8C4"/>
            </a:solidFill>
          </a:ln>
        </p:spPr>
        <p:txBody>
          <a:bodyPr wrap="square" lIns="0" tIns="0" rIns="0" bIns="0" rtlCol="0" anchor="ctr"/>
          <a:lstStyle/>
          <a:p>
            <a:pPr algn="ctr" indent="0" marL="0">
              <a:buNone/>
            </a:pPr>
            <a:r>
              <a:rPr lang="en-US" sz="950" dirty="0">
                <a:solidFill>
                  <a:srgbClr val="7FD9DF"/>
                </a:solidFill>
                <a:latin typeface="Arial" pitchFamily="34" charset="0"/>
                <a:ea typeface="Arial" pitchFamily="34" charset="-122"/>
                <a:cs typeface="Arial" pitchFamily="34" charset="-120"/>
              </a:rPr>
              <a:t>2–4 wks</a:t>
            </a:r>
            <a:endParaRPr lang="en-US" sz="950" dirty="0"/>
          </a:p>
        </p:txBody>
      </p:sp>
      <p:sp>
        <p:nvSpPr>
          <p:cNvPr id="20" name="Text 14"/>
          <p:cNvSpPr txBox="1"/>
          <p:nvPr/>
        </p:nvSpPr>
        <p:spPr>
          <a:xfrm>
            <a:off x="3639312" y="3977640"/>
            <a:ext cx="2130552" cy="1097280"/>
          </a:xfrm>
          <a:prstGeom prst="rect">
            <a:avLst/>
          </a:prstGeom>
          <a:noFill/>
          <a:ln/>
        </p:spPr>
        <p:txBody>
          <a:bodyPr wrap="square" lIns="0" tIns="0" rIns="0" bIns="0" rtlCol="0" anchor="t"/>
          <a:lstStyle/>
          <a:p>
            <a:pPr indent="0" marL="0">
              <a:lnSpc>
                <a:spcPct val="125000"/>
              </a:lnSpc>
              <a:buNone/>
            </a:pPr>
            <a:r>
              <a:rPr lang="en-US" sz="1150" dirty="0">
                <a:solidFill>
                  <a:srgbClr val="8FA9AE"/>
                </a:solidFill>
                <a:latin typeface="Arial" pitchFamily="34" charset="0"/>
                <a:ea typeface="Arial" pitchFamily="34" charset="-122"/>
                <a:cs typeface="Arial" pitchFamily="34" charset="-120"/>
              </a:rPr>
              <a:t>A working prototype on real data, with business owners reviewing every step.</a:t>
            </a:r>
            <a:endParaRPr lang="en-US" sz="1150" dirty="0"/>
          </a:p>
        </p:txBody>
      </p:sp>
      <p:pic>
        <p:nvPicPr>
          <p:cNvPr id="21" name="Image 4" descr="preencoded.png">    </p:cNvPr>
          <p:cNvPicPr>
            <a:picLocks noChangeAspect="1"/>
          </p:cNvPicPr>
          <p:nvPr/>
        </p:nvPicPr>
        <p:blipFill>
          <a:blip r:embed="rId5"/>
          <a:stretch>
            <a:fillRect/>
          </a:stretch>
        </p:blipFill>
        <p:spPr>
          <a:xfrm>
            <a:off x="5980176" y="3474720"/>
            <a:ext cx="219456" cy="219456"/>
          </a:xfrm>
          <a:prstGeom prst="rect">
            <a:avLst/>
          </a:prstGeom>
        </p:spPr>
      </p:pic>
      <p:sp>
        <p:nvSpPr>
          <p:cNvPr id="22" name="Shape 15"/>
          <p:cNvSpPr/>
          <p:nvPr/>
        </p:nvSpPr>
        <p:spPr>
          <a:xfrm>
            <a:off x="6181344" y="2103120"/>
            <a:ext cx="2633472" cy="3063240"/>
          </a:xfrm>
          <a:prstGeom prst="roundRect">
            <a:avLst>
              <a:gd name="adj" fmla="val 4167"/>
            </a:avLst>
          </a:prstGeom>
          <a:solidFill>
            <a:srgbClr val="0F2A33">
              <a:alpha val="75000"/>
            </a:srgbClr>
          </a:solidFill>
          <a:ln w="9525">
            <a:solidFill>
              <a:srgbClr val="1F4A55"/>
            </a:solidFill>
            <a:prstDash val="solid"/>
          </a:ln>
        </p:spPr>
      </p:sp>
      <p:sp>
        <p:nvSpPr>
          <p:cNvPr id="23" name="Shape 16"/>
          <p:cNvSpPr/>
          <p:nvPr/>
        </p:nvSpPr>
        <p:spPr>
          <a:xfrm>
            <a:off x="6455664" y="2377440"/>
            <a:ext cx="566928" cy="566928"/>
          </a:xfrm>
          <a:prstGeom prst="ellipse">
            <a:avLst/>
          </a:prstGeom>
          <a:solidFill>
            <a:srgbClr val="2FB8C4">
              <a:alpha val="18000"/>
            </a:srgbClr>
          </a:solidFill>
          <a:ln w="9525">
            <a:solidFill>
              <a:srgbClr val="2FB8C4">
                <a:alpha val="60000"/>
              </a:srgbClr>
            </a:solidFill>
            <a:prstDash val="solid"/>
          </a:ln>
        </p:spPr>
      </p:sp>
      <p:pic>
        <p:nvPicPr>
          <p:cNvPr id="24" name="Image 5" descr="preencoded.png">    </p:cNvPr>
          <p:cNvPicPr>
            <a:picLocks noChangeAspect="1"/>
          </p:cNvPicPr>
          <p:nvPr/>
        </p:nvPicPr>
        <p:blipFill>
          <a:blip r:embed="rId6"/>
          <a:stretch>
            <a:fillRect/>
          </a:stretch>
        </p:blipFill>
        <p:spPr>
          <a:xfrm>
            <a:off x="6603065" y="2524841"/>
            <a:ext cx="272125" cy="272125"/>
          </a:xfrm>
          <a:prstGeom prst="rect">
            <a:avLst/>
          </a:prstGeom>
        </p:spPr>
      </p:pic>
      <p:sp>
        <p:nvSpPr>
          <p:cNvPr id="25" name="Text 17"/>
          <p:cNvSpPr txBox="1"/>
          <p:nvPr/>
        </p:nvSpPr>
        <p:spPr>
          <a:xfrm>
            <a:off x="7900416" y="2377440"/>
            <a:ext cx="685800" cy="411480"/>
          </a:xfrm>
          <a:prstGeom prst="rect">
            <a:avLst/>
          </a:prstGeom>
          <a:noFill/>
          <a:ln/>
        </p:spPr>
        <p:txBody>
          <a:bodyPr wrap="square" lIns="0" tIns="0" rIns="0" bIns="0" rtlCol="0" anchor="ctr"/>
          <a:lstStyle/>
          <a:p>
            <a:pPr algn="r" indent="0" marL="0">
              <a:buNone/>
            </a:pPr>
            <a:r>
              <a:rPr lang="en-US" sz="2000" b="1" dirty="0">
                <a:solidFill>
                  <a:srgbClr val="1F4A55"/>
                </a:solidFill>
                <a:latin typeface="Arial" pitchFamily="34" charset="0"/>
                <a:ea typeface="Arial" pitchFamily="34" charset="-122"/>
                <a:cs typeface="Arial" pitchFamily="34" charset="-120"/>
              </a:rPr>
              <a:t>03</a:t>
            </a:r>
            <a:endParaRPr lang="en-US" sz="2000" dirty="0"/>
          </a:p>
        </p:txBody>
      </p:sp>
      <p:sp>
        <p:nvSpPr>
          <p:cNvPr id="26" name="Text 18"/>
          <p:cNvSpPr txBox="1"/>
          <p:nvPr/>
        </p:nvSpPr>
        <p:spPr>
          <a:xfrm>
            <a:off x="6455664" y="310896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Deploy</a:t>
            </a:r>
            <a:endParaRPr lang="en-US" sz="1800" dirty="0"/>
          </a:p>
        </p:txBody>
      </p:sp>
      <p:sp>
        <p:nvSpPr>
          <p:cNvPr id="27" name="Text 19"/>
          <p:cNvSpPr txBox="1"/>
          <p:nvPr/>
        </p:nvSpPr>
        <p:spPr>
          <a:xfrm>
            <a:off x="6455664" y="3566160"/>
            <a:ext cx="868680" cy="292608"/>
          </a:xfrm>
          <a:prstGeom prst="roundRect">
            <a:avLst>
              <a:gd name="adj" fmla="val 46875"/>
            </a:avLst>
          </a:prstGeom>
          <a:solidFill>
            <a:srgbClr val="2FB8C4">
              <a:alpha val="20000"/>
            </a:srgbClr>
          </a:solidFill>
          <a:ln w="6350">
            <a:solidFill>
              <a:srgbClr val="2FB8C4"/>
            </a:solidFill>
          </a:ln>
        </p:spPr>
        <p:txBody>
          <a:bodyPr wrap="square" lIns="0" tIns="0" rIns="0" bIns="0" rtlCol="0" anchor="ctr"/>
          <a:lstStyle/>
          <a:p>
            <a:pPr algn="ctr" indent="0" marL="0">
              <a:buNone/>
            </a:pPr>
            <a:r>
              <a:rPr lang="en-US" sz="950" dirty="0">
                <a:solidFill>
                  <a:srgbClr val="7FD9DF"/>
                </a:solidFill>
                <a:latin typeface="Arial" pitchFamily="34" charset="0"/>
                <a:ea typeface="Arial" pitchFamily="34" charset="-122"/>
                <a:cs typeface="Arial" pitchFamily="34" charset="-120"/>
              </a:rPr>
              <a:t>4–8 wks</a:t>
            </a:r>
            <a:endParaRPr lang="en-US" sz="950" dirty="0"/>
          </a:p>
        </p:txBody>
      </p:sp>
      <p:sp>
        <p:nvSpPr>
          <p:cNvPr id="28" name="Text 20"/>
          <p:cNvSpPr txBox="1"/>
          <p:nvPr/>
        </p:nvSpPr>
        <p:spPr>
          <a:xfrm>
            <a:off x="6455664" y="3977640"/>
            <a:ext cx="2130552" cy="1097280"/>
          </a:xfrm>
          <a:prstGeom prst="rect">
            <a:avLst/>
          </a:prstGeom>
          <a:noFill/>
          <a:ln/>
        </p:spPr>
        <p:txBody>
          <a:bodyPr wrap="square" lIns="0" tIns="0" rIns="0" bIns="0" rtlCol="0" anchor="t"/>
          <a:lstStyle/>
          <a:p>
            <a:pPr indent="0" marL="0">
              <a:lnSpc>
                <a:spcPct val="125000"/>
              </a:lnSpc>
              <a:buNone/>
            </a:pPr>
            <a:r>
              <a:rPr lang="en-US" sz="1150" dirty="0">
                <a:solidFill>
                  <a:srgbClr val="8FA9AE"/>
                </a:solidFill>
                <a:latin typeface="Arial" pitchFamily="34" charset="0"/>
                <a:ea typeface="Arial" pitchFamily="34" charset="-122"/>
                <a:cs typeface="Arial" pitchFamily="34" charset="-120"/>
              </a:rPr>
              <a:t>Integration with your systems and permissions, staged rollout, monitoring and evaluation.</a:t>
            </a:r>
            <a:endParaRPr lang="en-US" sz="1150" dirty="0"/>
          </a:p>
        </p:txBody>
      </p:sp>
      <p:pic>
        <p:nvPicPr>
          <p:cNvPr id="29" name="Image 6" descr="preencoded.png">    </p:cNvPr>
          <p:cNvPicPr>
            <a:picLocks noChangeAspect="1"/>
          </p:cNvPicPr>
          <p:nvPr/>
        </p:nvPicPr>
        <p:blipFill>
          <a:blip r:embed="rId7"/>
          <a:stretch>
            <a:fillRect/>
          </a:stretch>
        </p:blipFill>
        <p:spPr>
          <a:xfrm>
            <a:off x="8796528" y="3474720"/>
            <a:ext cx="219456" cy="219456"/>
          </a:xfrm>
          <a:prstGeom prst="rect">
            <a:avLst/>
          </a:prstGeom>
        </p:spPr>
      </p:pic>
      <p:sp>
        <p:nvSpPr>
          <p:cNvPr id="30" name="Shape 21"/>
          <p:cNvSpPr/>
          <p:nvPr/>
        </p:nvSpPr>
        <p:spPr>
          <a:xfrm>
            <a:off x="8997696" y="2103120"/>
            <a:ext cx="2633472" cy="3063240"/>
          </a:xfrm>
          <a:prstGeom prst="roundRect">
            <a:avLst>
              <a:gd name="adj" fmla="val 4167"/>
            </a:avLst>
          </a:prstGeom>
          <a:solidFill>
            <a:srgbClr val="0F2A33">
              <a:alpha val="75000"/>
            </a:srgbClr>
          </a:solidFill>
          <a:ln w="9525">
            <a:solidFill>
              <a:srgbClr val="1F4A55"/>
            </a:solidFill>
            <a:prstDash val="solid"/>
          </a:ln>
        </p:spPr>
      </p:sp>
      <p:sp>
        <p:nvSpPr>
          <p:cNvPr id="31" name="Shape 22"/>
          <p:cNvSpPr/>
          <p:nvPr/>
        </p:nvSpPr>
        <p:spPr>
          <a:xfrm>
            <a:off x="9272016" y="2377440"/>
            <a:ext cx="566928" cy="566928"/>
          </a:xfrm>
          <a:prstGeom prst="ellipse">
            <a:avLst/>
          </a:prstGeom>
          <a:solidFill>
            <a:srgbClr val="2FB8C4">
              <a:alpha val="18000"/>
            </a:srgbClr>
          </a:solidFill>
          <a:ln w="9525">
            <a:solidFill>
              <a:srgbClr val="2FB8C4">
                <a:alpha val="60000"/>
              </a:srgbClr>
            </a:solidFill>
            <a:prstDash val="solid"/>
          </a:ln>
        </p:spPr>
      </p:sp>
      <p:pic>
        <p:nvPicPr>
          <p:cNvPr id="32" name="Image 7" descr="preencoded.png">    </p:cNvPr>
          <p:cNvPicPr>
            <a:picLocks noChangeAspect="1"/>
          </p:cNvPicPr>
          <p:nvPr/>
        </p:nvPicPr>
        <p:blipFill>
          <a:blip r:embed="rId8"/>
          <a:stretch>
            <a:fillRect/>
          </a:stretch>
        </p:blipFill>
        <p:spPr>
          <a:xfrm>
            <a:off x="9419417" y="2524841"/>
            <a:ext cx="272125" cy="272125"/>
          </a:xfrm>
          <a:prstGeom prst="rect">
            <a:avLst/>
          </a:prstGeom>
        </p:spPr>
      </p:pic>
      <p:sp>
        <p:nvSpPr>
          <p:cNvPr id="33" name="Text 23"/>
          <p:cNvSpPr txBox="1"/>
          <p:nvPr/>
        </p:nvSpPr>
        <p:spPr>
          <a:xfrm>
            <a:off x="10716768" y="2377440"/>
            <a:ext cx="685800" cy="411480"/>
          </a:xfrm>
          <a:prstGeom prst="rect">
            <a:avLst/>
          </a:prstGeom>
          <a:noFill/>
          <a:ln/>
        </p:spPr>
        <p:txBody>
          <a:bodyPr wrap="square" lIns="0" tIns="0" rIns="0" bIns="0" rtlCol="0" anchor="ctr"/>
          <a:lstStyle/>
          <a:p>
            <a:pPr algn="r" indent="0" marL="0">
              <a:buNone/>
            </a:pPr>
            <a:r>
              <a:rPr lang="en-US" sz="2000" b="1" dirty="0">
                <a:solidFill>
                  <a:srgbClr val="1F4A55"/>
                </a:solidFill>
                <a:latin typeface="Arial" pitchFamily="34" charset="0"/>
                <a:ea typeface="Arial" pitchFamily="34" charset="-122"/>
                <a:cs typeface="Arial" pitchFamily="34" charset="-120"/>
              </a:rPr>
              <a:t>04</a:t>
            </a:r>
            <a:endParaRPr lang="en-US" sz="2000" dirty="0"/>
          </a:p>
        </p:txBody>
      </p:sp>
      <p:sp>
        <p:nvSpPr>
          <p:cNvPr id="34" name="Text 24"/>
          <p:cNvSpPr txBox="1"/>
          <p:nvPr/>
        </p:nvSpPr>
        <p:spPr>
          <a:xfrm>
            <a:off x="9272016" y="310896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Transfer &amp; Run</a:t>
            </a:r>
            <a:endParaRPr lang="en-US" sz="1800" dirty="0"/>
          </a:p>
        </p:txBody>
      </p:sp>
      <p:sp>
        <p:nvSpPr>
          <p:cNvPr id="35" name="Text 25"/>
          <p:cNvSpPr txBox="1"/>
          <p:nvPr/>
        </p:nvSpPr>
        <p:spPr>
          <a:xfrm>
            <a:off x="9272016" y="3566160"/>
            <a:ext cx="868680" cy="292608"/>
          </a:xfrm>
          <a:prstGeom prst="roundRect">
            <a:avLst>
              <a:gd name="adj" fmla="val 46875"/>
            </a:avLst>
          </a:prstGeom>
          <a:solidFill>
            <a:srgbClr val="2FB8C4">
              <a:alpha val="20000"/>
            </a:srgbClr>
          </a:solidFill>
          <a:ln w="6350">
            <a:solidFill>
              <a:srgbClr val="2FB8C4"/>
            </a:solidFill>
          </a:ln>
        </p:spPr>
        <p:txBody>
          <a:bodyPr wrap="square" lIns="0" tIns="0" rIns="0" bIns="0" rtlCol="0" anchor="ctr"/>
          <a:lstStyle/>
          <a:p>
            <a:pPr algn="ctr" indent="0" marL="0">
              <a:buNone/>
            </a:pPr>
            <a:r>
              <a:rPr lang="en-US" sz="950" dirty="0">
                <a:solidFill>
                  <a:srgbClr val="7FD9DF"/>
                </a:solidFill>
                <a:latin typeface="Arial" pitchFamily="34" charset="0"/>
                <a:ea typeface="Arial" pitchFamily="34" charset="-122"/>
                <a:cs typeface="Arial" pitchFamily="34" charset="-120"/>
              </a:rPr>
              <a:t>Ongoing</a:t>
            </a:r>
            <a:endParaRPr lang="en-US" sz="950" dirty="0"/>
          </a:p>
        </p:txBody>
      </p:sp>
      <p:sp>
        <p:nvSpPr>
          <p:cNvPr id="36" name="Text 26"/>
          <p:cNvSpPr txBox="1"/>
          <p:nvPr/>
        </p:nvSpPr>
        <p:spPr>
          <a:xfrm>
            <a:off x="9272016" y="3977640"/>
            <a:ext cx="2130552" cy="1097280"/>
          </a:xfrm>
          <a:prstGeom prst="rect">
            <a:avLst/>
          </a:prstGeom>
          <a:noFill/>
          <a:ln/>
        </p:spPr>
        <p:txBody>
          <a:bodyPr wrap="square" lIns="0" tIns="0" rIns="0" bIns="0" rtlCol="0" anchor="t"/>
          <a:lstStyle/>
          <a:p>
            <a:pPr indent="0" marL="0">
              <a:lnSpc>
                <a:spcPct val="125000"/>
              </a:lnSpc>
              <a:buNone/>
            </a:pPr>
            <a:r>
              <a:rPr lang="en-US" sz="1150" dirty="0">
                <a:solidFill>
                  <a:srgbClr val="8FA9AE"/>
                </a:solidFill>
                <a:latin typeface="Arial" pitchFamily="34" charset="0"/>
                <a:ea typeface="Arial" pitchFamily="34" charset="-122"/>
                <a:cs typeface="Arial" pitchFamily="34" charset="-120"/>
              </a:rPr>
              <a:t>Documentation, training and handover — or long-term managed operations by our team.</a:t>
            </a:r>
            <a:endParaRPr lang="en-US" sz="1150" dirty="0"/>
          </a:p>
        </p:txBody>
      </p:sp>
      <p:sp>
        <p:nvSpPr>
          <p:cNvPr id="37" name="Shape 27"/>
          <p:cNvSpPr/>
          <p:nvPr/>
        </p:nvSpPr>
        <p:spPr>
          <a:xfrm>
            <a:off x="548640" y="5394960"/>
            <a:ext cx="11082528" cy="658368"/>
          </a:xfrm>
          <a:prstGeom prst="roundRect">
            <a:avLst>
              <a:gd name="adj" fmla="val 16667"/>
            </a:avLst>
          </a:prstGeom>
          <a:solidFill>
            <a:srgbClr val="0E6E7E">
              <a:alpha val="45000"/>
            </a:srgbClr>
          </a:solidFill>
          <a:ln w="9525">
            <a:solidFill>
              <a:srgbClr val="1F4A55"/>
            </a:solidFill>
            <a:prstDash val="solid"/>
          </a:ln>
        </p:spPr>
      </p:sp>
      <p:sp>
        <p:nvSpPr>
          <p:cNvPr id="38" name="Text 28"/>
          <p:cNvSpPr txBox="1"/>
          <p:nvPr/>
        </p:nvSpPr>
        <p:spPr>
          <a:xfrm>
            <a:off x="822960" y="5394960"/>
            <a:ext cx="10607040" cy="658368"/>
          </a:xfrm>
          <a:prstGeom prst="rect">
            <a:avLst/>
          </a:prstGeom>
          <a:noFill/>
          <a:ln/>
        </p:spPr>
        <p:txBody>
          <a:bodyPr wrap="square" lIns="0" tIns="0" rIns="0" bIns="0" rtlCol="0" anchor="ctr"/>
          <a:lstStyle/>
          <a:p>
            <a:pPr indent="0" marL="0">
              <a:buNone/>
            </a:pPr>
            <a:r>
              <a:rPr lang="en-US" sz="1100" b="1" spc="200" kern="0" dirty="0">
                <a:solidFill>
                  <a:srgbClr val="2FB8C4"/>
                </a:solidFill>
                <a:latin typeface="Arial" pitchFamily="34" charset="0"/>
                <a:ea typeface="Arial" pitchFamily="34" charset="-122"/>
                <a:cs typeface="Arial" pitchFamily="34" charset="-120"/>
              </a:rPr>
              <a:t>DELIVERABLES     </a:t>
            </a:r>
            <a:pPr indent="0" marL="0">
              <a:buNone/>
            </a:pPr>
            <a:r>
              <a:rPr lang="en-US" sz="1200" dirty="0">
                <a:solidFill>
                  <a:srgbClr val="E6F1F3"/>
                </a:solidFill>
                <a:latin typeface="Arial" pitchFamily="34" charset="0"/>
                <a:ea typeface="Arial" pitchFamily="34" charset="-122"/>
                <a:cs typeface="Arial" pitchFamily="34" charset="-120"/>
              </a:rPr>
              <a:t>Opportunity assessment  ·  Working prototype  ·  Production system  ·  Evaluation dashboard  ·  Runbook &amp; user guide</a:t>
            </a:r>
            <a:endParaRPr lang="en-US" sz="1100" dirty="0"/>
          </a:p>
        </p:txBody>
      </p:sp>
      <p:sp>
        <p:nvSpPr>
          <p:cNvPr id="39" name="Text 29"/>
          <p:cNvSpPr txBox="1"/>
          <p:nvPr/>
        </p:nvSpPr>
        <p:spPr>
          <a:xfrm>
            <a:off x="548640" y="6053328"/>
            <a:ext cx="7315200" cy="228600"/>
          </a:xfrm>
          <a:prstGeom prst="rect">
            <a:avLst/>
          </a:prstGeom>
          <a:noFill/>
          <a:ln/>
        </p:spPr>
        <p:txBody>
          <a:bodyPr wrap="square" lIns="0" tIns="0" rIns="0" bIns="0" rtlCol="0" anchor="ctr"/>
          <a:lstStyle/>
          <a:p>
            <a:pPr indent="0" marL="0">
              <a:buNone/>
            </a:pPr>
            <a:r>
              <a:rPr lang="en-US" sz="850" dirty="0">
                <a:solidFill>
                  <a:srgbClr val="5E7A80"/>
                </a:solidFill>
                <a:latin typeface="Arial" pitchFamily="34" charset="0"/>
                <a:ea typeface="Arial" pitchFamily="34" charset="-122"/>
                <a:cs typeface="Arial" pitchFamily="34" charset="-120"/>
              </a:rPr>
              <a:t>* Typical timelines; actual duration depends on scope.</a:t>
            </a:r>
            <a:endParaRPr lang="en-US" sz="850" dirty="0"/>
          </a:p>
        </p:txBody>
      </p:sp>
      <p:pic>
        <p:nvPicPr>
          <p:cNvPr id="40" name="Image 8" descr="/tmp/claude-0/-home-user-website/1713201c-620c-5ce1-b439-a99d37e654e6/scratchpad/build/../assets/jm_logo.png">    </p:cNvPr>
          <p:cNvPicPr>
            <a:picLocks noChangeAspect="1"/>
          </p:cNvPicPr>
          <p:nvPr/>
        </p:nvPicPr>
        <p:blipFill>
          <a:blip r:embed="rId9"/>
          <a:stretch>
            <a:fillRect/>
          </a:stretch>
        </p:blipFill>
        <p:spPr>
          <a:xfrm>
            <a:off x="548640" y="6336792"/>
            <a:ext cx="274320" cy="235915"/>
          </a:xfrm>
          <a:prstGeom prst="rect">
            <a:avLst/>
          </a:prstGeom>
        </p:spPr>
      </p:pic>
      <p:sp>
        <p:nvSpPr>
          <p:cNvPr id="41" name="Text 30"/>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42" name="Text 31"/>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claude-0/-home-user-website/1713201c-620c-5ce1-b439-a99d37e654e6/scratchpad/build/../assets/jm_bg.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CAPABILITY STACK</a:t>
            </a:r>
            <a:endParaRPr lang="en-US" sz="1100" dirty="0"/>
          </a:p>
        </p:txBody>
      </p:sp>
      <p:sp>
        <p:nvSpPr>
          <p:cNvPr id="4" name="Text 1"/>
          <p:cNvSpPr txBox="1"/>
          <p:nvPr/>
        </p:nvSpPr>
        <p:spPr>
          <a:xfrm>
            <a:off x="548640" y="74980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 complete AI engineering stack</a:t>
            </a:r>
            <a:endParaRPr lang="en-US" sz="3000" dirty="0"/>
          </a:p>
        </p:txBody>
      </p:sp>
      <p:sp>
        <p:nvSpPr>
          <p:cNvPr id="5" name="Text 2"/>
          <p:cNvSpPr txBox="1"/>
          <p:nvPr/>
        </p:nvSpPr>
        <p:spPr>
          <a:xfrm>
            <a:off x="548640" y="1389888"/>
            <a:ext cx="1097280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From foundation models to the apps your team actually uses.</a:t>
            </a:r>
            <a:endParaRPr lang="en-US" sz="1300" dirty="0"/>
          </a:p>
        </p:txBody>
      </p:sp>
      <p:sp>
        <p:nvSpPr>
          <p:cNvPr id="6" name="Shape 3"/>
          <p:cNvSpPr/>
          <p:nvPr/>
        </p:nvSpPr>
        <p:spPr>
          <a:xfrm>
            <a:off x="548640" y="2103120"/>
            <a:ext cx="7680960" cy="777240"/>
          </a:xfrm>
          <a:prstGeom prst="roundRect">
            <a:avLst>
              <a:gd name="adj" fmla="val 11765"/>
            </a:avLst>
          </a:prstGeom>
          <a:solidFill>
            <a:srgbClr val="2FB8C4">
              <a:alpha val="45000"/>
            </a:srgbClr>
          </a:solidFill>
          <a:ln w="9525">
            <a:solidFill>
              <a:srgbClr val="2FB8C4">
                <a:alpha val="70000"/>
              </a:srgbClr>
            </a:solidFill>
            <a:prstDash val="solid"/>
          </a:ln>
        </p:spPr>
      </p:sp>
      <p:sp>
        <p:nvSpPr>
          <p:cNvPr id="7" name="Text 4"/>
          <p:cNvSpPr txBox="1"/>
          <p:nvPr/>
        </p:nvSpPr>
        <p:spPr>
          <a:xfrm>
            <a:off x="777240" y="2103120"/>
            <a:ext cx="1645920" cy="7772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Applications</a:t>
            </a:r>
            <a:endParaRPr lang="en-US" sz="1400" dirty="0"/>
          </a:p>
        </p:txBody>
      </p:sp>
      <p:sp>
        <p:nvSpPr>
          <p:cNvPr id="8" name="Text 5"/>
          <p:cNvSpPr txBox="1"/>
          <p:nvPr/>
        </p:nvSpPr>
        <p:spPr>
          <a:xfrm>
            <a:off x="2468880" y="2103120"/>
            <a:ext cx="5669280" cy="777240"/>
          </a:xfrm>
          <a:prstGeom prst="rect">
            <a:avLst/>
          </a:prstGeom>
          <a:noFill/>
          <a:ln/>
        </p:spPr>
        <p:txBody>
          <a:bodyPr wrap="square" lIns="0" tIns="0" rIns="0" bIns="0" rtlCol="0" anchor="ctr"/>
          <a:lstStyle/>
          <a:p>
            <a:pPr indent="0" marL="0">
              <a:buNone/>
            </a:pPr>
            <a:r>
              <a:rPr lang="en-US" sz="1150" dirty="0">
                <a:solidFill>
                  <a:srgbClr val="E6F1F3"/>
                </a:solidFill>
                <a:latin typeface="Arial" pitchFamily="34" charset="0"/>
                <a:ea typeface="Arial" pitchFamily="34" charset="-122"/>
                <a:cs typeface="Arial" pitchFamily="34" charset="-120"/>
              </a:rPr>
              <a:t>AI customer service  ·  Content production  ·  Sales assistants  ·  Analytics agents</a:t>
            </a:r>
            <a:endParaRPr lang="en-US" sz="1150" dirty="0"/>
          </a:p>
        </p:txBody>
      </p:sp>
      <p:sp>
        <p:nvSpPr>
          <p:cNvPr id="9" name="Shape 6"/>
          <p:cNvSpPr/>
          <p:nvPr/>
        </p:nvSpPr>
        <p:spPr>
          <a:xfrm>
            <a:off x="548640" y="3017520"/>
            <a:ext cx="7680960" cy="777240"/>
          </a:xfrm>
          <a:prstGeom prst="roundRect">
            <a:avLst>
              <a:gd name="adj" fmla="val 11765"/>
            </a:avLst>
          </a:prstGeom>
          <a:solidFill>
            <a:srgbClr val="2FB8C4">
              <a:alpha val="35000"/>
            </a:srgbClr>
          </a:solidFill>
          <a:ln w="9525">
            <a:solidFill>
              <a:srgbClr val="2FB8C4">
                <a:alpha val="70000"/>
              </a:srgbClr>
            </a:solidFill>
            <a:prstDash val="solid"/>
          </a:ln>
        </p:spPr>
      </p:sp>
      <p:sp>
        <p:nvSpPr>
          <p:cNvPr id="10" name="Text 7"/>
          <p:cNvSpPr txBox="1"/>
          <p:nvPr/>
        </p:nvSpPr>
        <p:spPr>
          <a:xfrm>
            <a:off x="777240" y="3017520"/>
            <a:ext cx="1645920" cy="7772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Orchestration</a:t>
            </a:r>
            <a:endParaRPr lang="en-US" sz="1400" dirty="0"/>
          </a:p>
        </p:txBody>
      </p:sp>
      <p:sp>
        <p:nvSpPr>
          <p:cNvPr id="11" name="Text 8"/>
          <p:cNvSpPr txBox="1"/>
          <p:nvPr/>
        </p:nvSpPr>
        <p:spPr>
          <a:xfrm>
            <a:off x="2468880" y="3017520"/>
            <a:ext cx="5669280" cy="777240"/>
          </a:xfrm>
          <a:prstGeom prst="rect">
            <a:avLst/>
          </a:prstGeom>
          <a:noFill/>
          <a:ln/>
        </p:spPr>
        <p:txBody>
          <a:bodyPr wrap="square" lIns="0" tIns="0" rIns="0" bIns="0" rtlCol="0" anchor="ctr"/>
          <a:lstStyle/>
          <a:p>
            <a:pPr indent="0" marL="0">
              <a:buNone/>
            </a:pPr>
            <a:r>
              <a:rPr lang="en-US" sz="1150" dirty="0">
                <a:solidFill>
                  <a:srgbClr val="E6F1F3"/>
                </a:solidFill>
                <a:latin typeface="Arial" pitchFamily="34" charset="0"/>
                <a:ea typeface="Arial" pitchFamily="34" charset="-122"/>
                <a:cs typeface="Arial" pitchFamily="34" charset="-120"/>
              </a:rPr>
              <a:t>Agent workflows  ·  Prompt engineering  ·  Multi-model routing  ·  Evaluation</a:t>
            </a:r>
            <a:endParaRPr lang="en-US" sz="1150" dirty="0"/>
          </a:p>
        </p:txBody>
      </p:sp>
      <p:sp>
        <p:nvSpPr>
          <p:cNvPr id="12" name="Shape 9"/>
          <p:cNvSpPr/>
          <p:nvPr/>
        </p:nvSpPr>
        <p:spPr>
          <a:xfrm>
            <a:off x="548640" y="3931920"/>
            <a:ext cx="7680960" cy="777240"/>
          </a:xfrm>
          <a:prstGeom prst="roundRect">
            <a:avLst>
              <a:gd name="adj" fmla="val 11765"/>
            </a:avLst>
          </a:prstGeom>
          <a:solidFill>
            <a:srgbClr val="2FB8C4">
              <a:alpha val="25000"/>
            </a:srgbClr>
          </a:solidFill>
          <a:ln w="9525">
            <a:solidFill>
              <a:srgbClr val="2FB8C4">
                <a:alpha val="70000"/>
              </a:srgbClr>
            </a:solidFill>
            <a:prstDash val="solid"/>
          </a:ln>
        </p:spPr>
      </p:sp>
      <p:sp>
        <p:nvSpPr>
          <p:cNvPr id="13" name="Text 10"/>
          <p:cNvSpPr txBox="1"/>
          <p:nvPr/>
        </p:nvSpPr>
        <p:spPr>
          <a:xfrm>
            <a:off x="777240" y="3931920"/>
            <a:ext cx="1645920" cy="7772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Data</a:t>
            </a:r>
            <a:endParaRPr lang="en-US" sz="1400" dirty="0"/>
          </a:p>
        </p:txBody>
      </p:sp>
      <p:sp>
        <p:nvSpPr>
          <p:cNvPr id="14" name="Text 11"/>
          <p:cNvSpPr txBox="1"/>
          <p:nvPr/>
        </p:nvSpPr>
        <p:spPr>
          <a:xfrm>
            <a:off x="2468880" y="3931920"/>
            <a:ext cx="5669280" cy="777240"/>
          </a:xfrm>
          <a:prstGeom prst="rect">
            <a:avLst/>
          </a:prstGeom>
          <a:noFill/>
          <a:ln/>
        </p:spPr>
        <p:txBody>
          <a:bodyPr wrap="square" lIns="0" tIns="0" rIns="0" bIns="0" rtlCol="0" anchor="ctr"/>
          <a:lstStyle/>
          <a:p>
            <a:pPr indent="0" marL="0">
              <a:buNone/>
            </a:pPr>
            <a:r>
              <a:rPr lang="en-US" sz="1150" dirty="0">
                <a:solidFill>
                  <a:srgbClr val="E6F1F3"/>
                </a:solidFill>
                <a:latin typeface="Arial" pitchFamily="34" charset="0"/>
                <a:ea typeface="Arial" pitchFamily="34" charset="-122"/>
                <a:cs typeface="Arial" pitchFamily="34" charset="-120"/>
              </a:rPr>
              <a:t>RAG knowledge bases  ·  Enterprise data integration  ·  Creative asset management</a:t>
            </a:r>
            <a:endParaRPr lang="en-US" sz="1150" dirty="0"/>
          </a:p>
        </p:txBody>
      </p:sp>
      <p:sp>
        <p:nvSpPr>
          <p:cNvPr id="15" name="Shape 12"/>
          <p:cNvSpPr/>
          <p:nvPr/>
        </p:nvSpPr>
        <p:spPr>
          <a:xfrm>
            <a:off x="548640" y="4846320"/>
            <a:ext cx="7680960" cy="777240"/>
          </a:xfrm>
          <a:prstGeom prst="roundRect">
            <a:avLst>
              <a:gd name="adj" fmla="val 11765"/>
            </a:avLst>
          </a:prstGeom>
          <a:solidFill>
            <a:srgbClr val="2FB8C4">
              <a:alpha val="15000"/>
            </a:srgbClr>
          </a:solidFill>
          <a:ln w="9525">
            <a:solidFill>
              <a:srgbClr val="2FB8C4">
                <a:alpha val="70000"/>
              </a:srgbClr>
            </a:solidFill>
            <a:prstDash val="solid"/>
          </a:ln>
        </p:spPr>
      </p:sp>
      <p:sp>
        <p:nvSpPr>
          <p:cNvPr id="16" name="Text 13"/>
          <p:cNvSpPr txBox="1"/>
          <p:nvPr/>
        </p:nvSpPr>
        <p:spPr>
          <a:xfrm>
            <a:off x="777240" y="4846320"/>
            <a:ext cx="1645920" cy="7772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Models</a:t>
            </a:r>
            <a:endParaRPr lang="en-US" sz="1400" dirty="0"/>
          </a:p>
        </p:txBody>
      </p:sp>
      <p:sp>
        <p:nvSpPr>
          <p:cNvPr id="17" name="Text 14"/>
          <p:cNvSpPr txBox="1"/>
          <p:nvPr/>
        </p:nvSpPr>
        <p:spPr>
          <a:xfrm>
            <a:off x="2468880" y="4846320"/>
            <a:ext cx="5669280" cy="777240"/>
          </a:xfrm>
          <a:prstGeom prst="rect">
            <a:avLst/>
          </a:prstGeom>
          <a:noFill/>
          <a:ln/>
        </p:spPr>
        <p:txBody>
          <a:bodyPr wrap="square" lIns="0" tIns="0" rIns="0" bIns="0" rtlCol="0" anchor="ctr"/>
          <a:lstStyle/>
          <a:p>
            <a:pPr indent="0" marL="0">
              <a:buNone/>
            </a:pPr>
            <a:r>
              <a:rPr lang="en-US" sz="1150" dirty="0">
                <a:solidFill>
                  <a:srgbClr val="E6F1F3"/>
                </a:solidFill>
                <a:latin typeface="Arial" pitchFamily="34" charset="0"/>
                <a:ea typeface="Arial" pitchFamily="34" charset="-122"/>
                <a:cs typeface="Arial" pitchFamily="34" charset="-120"/>
              </a:rPr>
              <a:t>LLMs  ·  Image generation  ·  Video generation  ·  Speech synthesis  (multi-vendor)</a:t>
            </a:r>
            <a:endParaRPr lang="en-US" sz="1150" dirty="0"/>
          </a:p>
        </p:txBody>
      </p:sp>
      <p:sp>
        <p:nvSpPr>
          <p:cNvPr id="18" name="Shape 15"/>
          <p:cNvSpPr/>
          <p:nvPr/>
        </p:nvSpPr>
        <p:spPr>
          <a:xfrm>
            <a:off x="8430768" y="2103120"/>
            <a:ext cx="3200400" cy="1691640"/>
          </a:xfrm>
          <a:prstGeom prst="roundRect">
            <a:avLst>
              <a:gd name="adj" fmla="val 6486"/>
            </a:avLst>
          </a:prstGeom>
          <a:solidFill>
            <a:srgbClr val="0F2A33">
              <a:alpha val="75000"/>
            </a:srgbClr>
          </a:solidFill>
          <a:ln w="9525">
            <a:solidFill>
              <a:srgbClr val="1F4A55"/>
            </a:solidFill>
            <a:prstDash val="solid"/>
          </a:ln>
        </p:spPr>
      </p:sp>
      <p:sp>
        <p:nvSpPr>
          <p:cNvPr id="19" name="Shape 16"/>
          <p:cNvSpPr/>
          <p:nvPr/>
        </p:nvSpPr>
        <p:spPr>
          <a:xfrm>
            <a:off x="8659368" y="2331720"/>
            <a:ext cx="502920" cy="502920"/>
          </a:xfrm>
          <a:prstGeom prst="ellipse">
            <a:avLst/>
          </a:prstGeom>
          <a:solidFill>
            <a:srgbClr val="2FB8C4">
              <a:alpha val="18000"/>
            </a:srgbClr>
          </a:solidFill>
          <a:ln w="9525">
            <a:solidFill>
              <a:srgbClr val="2FB8C4">
                <a:alpha val="60000"/>
              </a:srgbClr>
            </a:solidFill>
            <a:prstDash val="solid"/>
          </a:ln>
        </p:spPr>
      </p:sp>
      <p:pic>
        <p:nvPicPr>
          <p:cNvPr id="20" name="Image 1" descr="preencoded.png">    </p:cNvPr>
          <p:cNvPicPr>
            <a:picLocks noChangeAspect="1"/>
          </p:cNvPicPr>
          <p:nvPr/>
        </p:nvPicPr>
        <p:blipFill>
          <a:blip r:embed="rId2"/>
          <a:stretch>
            <a:fillRect/>
          </a:stretch>
        </p:blipFill>
        <p:spPr>
          <a:xfrm>
            <a:off x="8790127" y="2462479"/>
            <a:ext cx="241402" cy="241402"/>
          </a:xfrm>
          <a:prstGeom prst="rect">
            <a:avLst/>
          </a:prstGeom>
        </p:spPr>
      </p:pic>
      <p:sp>
        <p:nvSpPr>
          <p:cNvPr id="21" name="Text 17"/>
          <p:cNvSpPr txBox="1"/>
          <p:nvPr/>
        </p:nvSpPr>
        <p:spPr>
          <a:xfrm>
            <a:off x="9299448" y="2331720"/>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Guardrails</a:t>
            </a:r>
            <a:endParaRPr lang="en-US" sz="1400" dirty="0"/>
          </a:p>
        </p:txBody>
      </p:sp>
      <p:sp>
        <p:nvSpPr>
          <p:cNvPr id="22" name="Text 18"/>
          <p:cNvSpPr txBox="1"/>
          <p:nvPr/>
        </p:nvSpPr>
        <p:spPr>
          <a:xfrm>
            <a:off x="8705088" y="2971800"/>
            <a:ext cx="2788920" cy="6858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8FA9AE"/>
                </a:solidFill>
                <a:latin typeface="Arial" pitchFamily="34" charset="0"/>
                <a:ea typeface="Arial" pitchFamily="34" charset="-122"/>
                <a:cs typeface="Arial" pitchFamily="34" charset="-120"/>
              </a:rPr>
              <a:t>Role-based access &amp; audit logs</a:t>
            </a:r>
            <a:endParaRPr lang="en-US" sz="1100" dirty="0"/>
          </a:p>
          <a:p>
            <a:pPr marL="342900" indent="-342900">
              <a:spcAft>
                <a:spcPts val="400"/>
              </a:spcAft>
              <a:buSzPct val="100000"/>
              <a:buChar char="•"/>
            </a:pPr>
            <a:r>
              <a:rPr lang="en-US" sz="1100" dirty="0">
                <a:solidFill>
                  <a:srgbClr val="8FA9AE"/>
                </a:solidFill>
                <a:latin typeface="Arial" pitchFamily="34" charset="0"/>
                <a:ea typeface="Arial" pitchFamily="34" charset="-122"/>
                <a:cs typeface="Arial" pitchFamily="34" charset="-120"/>
              </a:rPr>
              <a:t>Data security &amp; private deployment</a:t>
            </a:r>
            <a:endParaRPr lang="en-US" sz="1100" dirty="0"/>
          </a:p>
          <a:p>
            <a:pPr marL="342900" indent="-342900">
              <a:spcAft>
                <a:spcPts val="400"/>
              </a:spcAft>
              <a:buSzPct val="100000"/>
              <a:buChar char="•"/>
            </a:pPr>
            <a:r>
              <a:rPr lang="en-US" sz="1100" dirty="0">
                <a:solidFill>
                  <a:srgbClr val="8FA9AE"/>
                </a:solidFill>
                <a:latin typeface="Arial" pitchFamily="34" charset="0"/>
                <a:ea typeface="Arial" pitchFamily="34" charset="-122"/>
                <a:cs typeface="Arial" pitchFamily="34" charset="-120"/>
              </a:rPr>
              <a:t>Automated content compliance</a:t>
            </a:r>
            <a:endParaRPr lang="en-US" sz="1100" dirty="0"/>
          </a:p>
        </p:txBody>
      </p:sp>
      <p:sp>
        <p:nvSpPr>
          <p:cNvPr id="23" name="Shape 19"/>
          <p:cNvSpPr/>
          <p:nvPr/>
        </p:nvSpPr>
        <p:spPr>
          <a:xfrm>
            <a:off x="8430768" y="3931920"/>
            <a:ext cx="3200400" cy="1691640"/>
          </a:xfrm>
          <a:prstGeom prst="roundRect">
            <a:avLst>
              <a:gd name="adj" fmla="val 6486"/>
            </a:avLst>
          </a:prstGeom>
          <a:solidFill>
            <a:srgbClr val="0F2A33">
              <a:alpha val="75000"/>
            </a:srgbClr>
          </a:solidFill>
          <a:ln w="9525">
            <a:solidFill>
              <a:srgbClr val="1F4A55"/>
            </a:solidFill>
            <a:prstDash val="solid"/>
          </a:ln>
        </p:spPr>
      </p:sp>
      <p:sp>
        <p:nvSpPr>
          <p:cNvPr id="24" name="Shape 20"/>
          <p:cNvSpPr/>
          <p:nvPr/>
        </p:nvSpPr>
        <p:spPr>
          <a:xfrm>
            <a:off x="8659368" y="4160520"/>
            <a:ext cx="502920" cy="502920"/>
          </a:xfrm>
          <a:prstGeom prst="ellipse">
            <a:avLst/>
          </a:prstGeom>
          <a:solidFill>
            <a:srgbClr val="2FB8C4">
              <a:alpha val="18000"/>
            </a:srgbClr>
          </a:solidFill>
          <a:ln w="9525">
            <a:solidFill>
              <a:srgbClr val="2FB8C4">
                <a:alpha val="60000"/>
              </a:srgbClr>
            </a:solidFill>
            <a:prstDash val="solid"/>
          </a:ln>
        </p:spPr>
      </p:sp>
      <p:pic>
        <p:nvPicPr>
          <p:cNvPr id="25" name="Image 2" descr="preencoded.png">    </p:cNvPr>
          <p:cNvPicPr>
            <a:picLocks noChangeAspect="1"/>
          </p:cNvPicPr>
          <p:nvPr/>
        </p:nvPicPr>
        <p:blipFill>
          <a:blip r:embed="rId3"/>
          <a:stretch>
            <a:fillRect/>
          </a:stretch>
        </p:blipFill>
        <p:spPr>
          <a:xfrm>
            <a:off x="8790127" y="4291279"/>
            <a:ext cx="241402" cy="241402"/>
          </a:xfrm>
          <a:prstGeom prst="rect">
            <a:avLst/>
          </a:prstGeom>
        </p:spPr>
      </p:pic>
      <p:sp>
        <p:nvSpPr>
          <p:cNvPr id="26" name="Text 21"/>
          <p:cNvSpPr txBox="1"/>
          <p:nvPr/>
        </p:nvSpPr>
        <p:spPr>
          <a:xfrm>
            <a:off x="9299448" y="4160520"/>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Integrations</a:t>
            </a:r>
            <a:endParaRPr lang="en-US" sz="1400" dirty="0"/>
          </a:p>
        </p:txBody>
      </p:sp>
      <p:sp>
        <p:nvSpPr>
          <p:cNvPr id="27" name="Text 22"/>
          <p:cNvSpPr txBox="1"/>
          <p:nvPr/>
        </p:nvSpPr>
        <p:spPr>
          <a:xfrm>
            <a:off x="8705088" y="4800600"/>
            <a:ext cx="2788920" cy="6858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8FA9AE"/>
                </a:solidFill>
                <a:latin typeface="Arial" pitchFamily="34" charset="0"/>
                <a:ea typeface="Arial" pitchFamily="34" charset="-122"/>
                <a:cs typeface="Arial" pitchFamily="34" charset="-120"/>
              </a:rPr>
              <a:t>WeCom · WeChat · Mini programs</a:t>
            </a:r>
            <a:endParaRPr lang="en-US" sz="1100" dirty="0"/>
          </a:p>
          <a:p>
            <a:pPr marL="342900" indent="-342900">
              <a:spcAft>
                <a:spcPts val="400"/>
              </a:spcAft>
              <a:buSzPct val="100000"/>
              <a:buChar char="•"/>
            </a:pPr>
            <a:r>
              <a:rPr lang="en-US" sz="1100" dirty="0">
                <a:solidFill>
                  <a:srgbClr val="8FA9AE"/>
                </a:solidFill>
                <a:latin typeface="Arial" pitchFamily="34" charset="0"/>
                <a:ea typeface="Arial" pitchFamily="34" charset="-122"/>
                <a:cs typeface="Arial" pitchFamily="34" charset="-120"/>
              </a:rPr>
              <a:t>OA / CRM / e-commerce back-ends</a:t>
            </a:r>
            <a:endParaRPr lang="en-US" sz="1100" dirty="0"/>
          </a:p>
          <a:p>
            <a:pPr marL="342900" indent="-342900">
              <a:spcAft>
                <a:spcPts val="400"/>
              </a:spcAft>
              <a:buSzPct val="100000"/>
              <a:buChar char="•"/>
            </a:pPr>
            <a:r>
              <a:rPr lang="en-US" sz="1100" dirty="0">
                <a:solidFill>
                  <a:srgbClr val="8FA9AE"/>
                </a:solidFill>
                <a:latin typeface="Arial" pitchFamily="34" charset="0"/>
                <a:ea typeface="Arial" pitchFamily="34" charset="-122"/>
                <a:cs typeface="Arial" pitchFamily="34" charset="-120"/>
              </a:rPr>
              <a:t>Object storage &amp; asset libraries</a:t>
            </a:r>
            <a:endParaRPr lang="en-US" sz="1100" dirty="0"/>
          </a:p>
        </p:txBody>
      </p:sp>
      <p:pic>
        <p:nvPicPr>
          <p:cNvPr id="28" name="Image 3" descr="/tmp/claude-0/-home-user-website/1713201c-620c-5ce1-b439-a99d37e654e6/scratchpad/build/../assets/jm_logo.png">    </p:cNvPr>
          <p:cNvPicPr>
            <a:picLocks noChangeAspect="1"/>
          </p:cNvPicPr>
          <p:nvPr/>
        </p:nvPicPr>
        <p:blipFill>
          <a:blip r:embed="rId4"/>
          <a:stretch>
            <a:fillRect/>
          </a:stretch>
        </p:blipFill>
        <p:spPr>
          <a:xfrm>
            <a:off x="548640" y="6336792"/>
            <a:ext cx="274320" cy="235915"/>
          </a:xfrm>
          <a:prstGeom prst="rect">
            <a:avLst/>
          </a:prstGeom>
        </p:spPr>
      </p:pic>
      <p:sp>
        <p:nvSpPr>
          <p:cNvPr id="29" name="Text 23"/>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30" name="Text 24"/>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claude-0/-home-user-website/1713201c-620c-5ce1-b439-a99d37e654e6/scratchpad/build/../assets/jm_bg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SOLUTION PLAYBOOKS</a:t>
            </a:r>
            <a:endParaRPr lang="en-US" sz="1100" dirty="0"/>
          </a:p>
        </p:txBody>
      </p:sp>
      <p:sp>
        <p:nvSpPr>
          <p:cNvPr id="4" name="Text 1"/>
          <p:cNvSpPr txBox="1"/>
          <p:nvPr/>
        </p:nvSpPr>
        <p:spPr>
          <a:xfrm>
            <a:off x="548640" y="74980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AI for four kinds of business</a:t>
            </a:r>
            <a:endParaRPr lang="en-US" sz="3000" dirty="0"/>
          </a:p>
        </p:txBody>
      </p:sp>
      <p:sp>
        <p:nvSpPr>
          <p:cNvPr id="5" name="Text 2"/>
          <p:cNvSpPr txBox="1"/>
          <p:nvPr/>
        </p:nvSpPr>
        <p:spPr>
          <a:xfrm>
            <a:off x="548640" y="1389888"/>
            <a:ext cx="1097280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Playbooks distilled from the industries we have served.</a:t>
            </a:r>
            <a:endParaRPr lang="en-US" sz="1300" dirty="0"/>
          </a:p>
        </p:txBody>
      </p:sp>
      <p:sp>
        <p:nvSpPr>
          <p:cNvPr id="6" name="Shape 3"/>
          <p:cNvSpPr/>
          <p:nvPr/>
        </p:nvSpPr>
        <p:spPr>
          <a:xfrm>
            <a:off x="548640" y="2057400"/>
            <a:ext cx="5440680" cy="1874520"/>
          </a:xfrm>
          <a:prstGeom prst="roundRect">
            <a:avLst>
              <a:gd name="adj" fmla="val 5854"/>
            </a:avLst>
          </a:prstGeom>
          <a:solidFill>
            <a:srgbClr val="0F2A33">
              <a:alpha val="75000"/>
            </a:srgbClr>
          </a:solidFill>
          <a:ln w="9525">
            <a:solidFill>
              <a:srgbClr val="1F4A55"/>
            </a:solidFill>
            <a:prstDash val="solid"/>
          </a:ln>
        </p:spPr>
      </p:sp>
      <p:sp>
        <p:nvSpPr>
          <p:cNvPr id="7" name="Shape 4"/>
          <p:cNvSpPr/>
          <p:nvPr/>
        </p:nvSpPr>
        <p:spPr>
          <a:xfrm>
            <a:off x="822960" y="2350008"/>
            <a:ext cx="640080" cy="640080"/>
          </a:xfrm>
          <a:prstGeom prst="ellipse">
            <a:avLst/>
          </a:prstGeom>
          <a:solidFill>
            <a:srgbClr val="2FB8C4">
              <a:alpha val="18000"/>
            </a:srgbClr>
          </a:solidFill>
          <a:ln w="9525">
            <a:solidFill>
              <a:srgbClr val="2FB8C4">
                <a:alpha val="60000"/>
              </a:srgbClr>
            </a:solidFill>
            <a:prstDash val="solid"/>
          </a:ln>
        </p:spPr>
      </p:sp>
      <p:pic>
        <p:nvPicPr>
          <p:cNvPr id="8" name="Image 1" descr="preencoded.png">    </p:cNvPr>
          <p:cNvPicPr>
            <a:picLocks noChangeAspect="1"/>
          </p:cNvPicPr>
          <p:nvPr/>
        </p:nvPicPr>
        <p:blipFill>
          <a:blip r:embed="rId2"/>
          <a:stretch>
            <a:fillRect/>
          </a:stretch>
        </p:blipFill>
        <p:spPr>
          <a:xfrm>
            <a:off x="989381" y="2516429"/>
            <a:ext cx="307238" cy="307238"/>
          </a:xfrm>
          <a:prstGeom prst="rect">
            <a:avLst/>
          </a:prstGeom>
        </p:spPr>
      </p:pic>
      <p:sp>
        <p:nvSpPr>
          <p:cNvPr id="9" name="Text 5"/>
          <p:cNvSpPr txBox="1"/>
          <p:nvPr/>
        </p:nvSpPr>
        <p:spPr>
          <a:xfrm>
            <a:off x="1691640" y="2331720"/>
            <a:ext cx="4069080" cy="256032"/>
          </a:xfrm>
          <a:prstGeom prst="rect">
            <a:avLst/>
          </a:prstGeom>
          <a:noFill/>
          <a:ln/>
        </p:spPr>
        <p:txBody>
          <a:bodyPr wrap="square" lIns="0" tIns="0" rIns="0" bIns="0" rtlCol="0" anchor="ctr"/>
          <a:lstStyle/>
          <a:p>
            <a:pPr indent="0" marL="0">
              <a:buNone/>
            </a:pPr>
            <a:r>
              <a:rPr lang="en-US" sz="950" b="1" spc="200" kern="0" dirty="0">
                <a:solidFill>
                  <a:srgbClr val="2FB8C4"/>
                </a:solidFill>
                <a:latin typeface="Arial" pitchFamily="34" charset="0"/>
                <a:ea typeface="Arial" pitchFamily="34" charset="-122"/>
                <a:cs typeface="Arial" pitchFamily="34" charset="-120"/>
              </a:rPr>
              <a:t>E-COMMERCE &amp; RETAIL</a:t>
            </a:r>
            <a:endParaRPr lang="en-US" sz="950" dirty="0"/>
          </a:p>
        </p:txBody>
      </p:sp>
      <p:sp>
        <p:nvSpPr>
          <p:cNvPr id="10" name="Text 6"/>
          <p:cNvSpPr txBox="1"/>
          <p:nvPr/>
        </p:nvSpPr>
        <p:spPr>
          <a:xfrm>
            <a:off x="1691640" y="2606040"/>
            <a:ext cx="406908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AI Product Content Factory</a:t>
            </a:r>
            <a:endParaRPr lang="en-US" sz="1800" dirty="0"/>
          </a:p>
        </p:txBody>
      </p:sp>
      <p:sp>
        <p:nvSpPr>
          <p:cNvPr id="11" name="Text 7"/>
          <p:cNvSpPr txBox="1"/>
          <p:nvPr/>
        </p:nvSpPr>
        <p:spPr>
          <a:xfrm>
            <a:off x="1691640" y="3063240"/>
            <a:ext cx="4023360" cy="777240"/>
          </a:xfrm>
          <a:prstGeom prst="rect">
            <a:avLst/>
          </a:prstGeom>
          <a:noFill/>
          <a:ln/>
        </p:spPr>
        <p:txBody>
          <a:bodyPr wrap="square" lIns="0" tIns="0" rIns="0" bIns="0" rtlCol="0" anchor="t"/>
          <a:lstStyle/>
          <a:p>
            <a:pPr indent="0" marL="0">
              <a:lnSpc>
                <a:spcPct val="120000"/>
              </a:lnSpc>
              <a:buNone/>
            </a:pPr>
            <a:r>
              <a:rPr lang="en-US" sz="1100" dirty="0">
                <a:solidFill>
                  <a:srgbClr val="8FA9AE"/>
                </a:solidFill>
                <a:latin typeface="Arial" pitchFamily="34" charset="0"/>
                <a:ea typeface="Arial" pitchFamily="34" charset="-122"/>
                <a:cs typeface="Arial" pitchFamily="34" charset="-120"/>
              </a:rPr>
              <a:t>Product images, selling-point copy and short videos generated in batches, connected to your catalogue and auto-formatted for every channel.</a:t>
            </a:r>
            <a:endParaRPr lang="en-US" sz="1100" dirty="0"/>
          </a:p>
        </p:txBody>
      </p:sp>
      <p:sp>
        <p:nvSpPr>
          <p:cNvPr id="12" name="Shape 8"/>
          <p:cNvSpPr/>
          <p:nvPr/>
        </p:nvSpPr>
        <p:spPr>
          <a:xfrm>
            <a:off x="6144768" y="2057400"/>
            <a:ext cx="5440680" cy="1874520"/>
          </a:xfrm>
          <a:prstGeom prst="roundRect">
            <a:avLst>
              <a:gd name="adj" fmla="val 5854"/>
            </a:avLst>
          </a:prstGeom>
          <a:solidFill>
            <a:srgbClr val="0F2A33">
              <a:alpha val="75000"/>
            </a:srgbClr>
          </a:solidFill>
          <a:ln w="9525">
            <a:solidFill>
              <a:srgbClr val="1F4A55"/>
            </a:solidFill>
            <a:prstDash val="solid"/>
          </a:ln>
        </p:spPr>
      </p:sp>
      <p:sp>
        <p:nvSpPr>
          <p:cNvPr id="13" name="Shape 9"/>
          <p:cNvSpPr/>
          <p:nvPr/>
        </p:nvSpPr>
        <p:spPr>
          <a:xfrm>
            <a:off x="6419088" y="2350008"/>
            <a:ext cx="640080" cy="640080"/>
          </a:xfrm>
          <a:prstGeom prst="ellipse">
            <a:avLst/>
          </a:prstGeom>
          <a:solidFill>
            <a:srgbClr val="2FB8C4">
              <a:alpha val="18000"/>
            </a:srgbClr>
          </a:solidFill>
          <a:ln w="9525">
            <a:solidFill>
              <a:srgbClr val="2FB8C4">
                <a:alpha val="60000"/>
              </a:srgbClr>
            </a:solidFill>
            <a:prstDash val="solid"/>
          </a:ln>
        </p:spPr>
      </p:sp>
      <p:pic>
        <p:nvPicPr>
          <p:cNvPr id="14" name="Image 2" descr="preencoded.png">    </p:cNvPr>
          <p:cNvPicPr>
            <a:picLocks noChangeAspect="1"/>
          </p:cNvPicPr>
          <p:nvPr/>
        </p:nvPicPr>
        <p:blipFill>
          <a:blip r:embed="rId3"/>
          <a:stretch>
            <a:fillRect/>
          </a:stretch>
        </p:blipFill>
        <p:spPr>
          <a:xfrm>
            <a:off x="6585509" y="2516429"/>
            <a:ext cx="307238" cy="307238"/>
          </a:xfrm>
          <a:prstGeom prst="rect">
            <a:avLst/>
          </a:prstGeom>
        </p:spPr>
      </p:pic>
      <p:sp>
        <p:nvSpPr>
          <p:cNvPr id="15" name="Text 10"/>
          <p:cNvSpPr txBox="1"/>
          <p:nvPr/>
        </p:nvSpPr>
        <p:spPr>
          <a:xfrm>
            <a:off x="7287768" y="2331720"/>
            <a:ext cx="4069080" cy="256032"/>
          </a:xfrm>
          <a:prstGeom prst="rect">
            <a:avLst/>
          </a:prstGeom>
          <a:noFill/>
          <a:ln/>
        </p:spPr>
        <p:txBody>
          <a:bodyPr wrap="square" lIns="0" tIns="0" rIns="0" bIns="0" rtlCol="0" anchor="ctr"/>
          <a:lstStyle/>
          <a:p>
            <a:pPr indent="0" marL="0">
              <a:buNone/>
            </a:pPr>
            <a:r>
              <a:rPr lang="en-US" sz="950" b="1" spc="200" kern="0" dirty="0">
                <a:solidFill>
                  <a:srgbClr val="2FB8C4"/>
                </a:solidFill>
                <a:latin typeface="Arial" pitchFamily="34" charset="0"/>
                <a:ea typeface="Arial" pitchFamily="34" charset="-122"/>
                <a:cs typeface="Arial" pitchFamily="34" charset="-120"/>
              </a:rPr>
              <a:t>BEAUTY</a:t>
            </a:r>
            <a:endParaRPr lang="en-US" sz="950" dirty="0"/>
          </a:p>
        </p:txBody>
      </p:sp>
      <p:sp>
        <p:nvSpPr>
          <p:cNvPr id="16" name="Text 11"/>
          <p:cNvSpPr txBox="1"/>
          <p:nvPr/>
        </p:nvSpPr>
        <p:spPr>
          <a:xfrm>
            <a:off x="7287768" y="2606040"/>
            <a:ext cx="406908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Smart Creative Hub</a:t>
            </a:r>
            <a:endParaRPr lang="en-US" sz="1800" dirty="0"/>
          </a:p>
        </p:txBody>
      </p:sp>
      <p:sp>
        <p:nvSpPr>
          <p:cNvPr id="17" name="Text 12"/>
          <p:cNvSpPr txBox="1"/>
          <p:nvPr/>
        </p:nvSpPr>
        <p:spPr>
          <a:xfrm>
            <a:off x="7287768" y="3063240"/>
            <a:ext cx="4023360" cy="777240"/>
          </a:xfrm>
          <a:prstGeom prst="rect">
            <a:avLst/>
          </a:prstGeom>
          <a:noFill/>
          <a:ln/>
        </p:spPr>
        <p:txBody>
          <a:bodyPr wrap="square" lIns="0" tIns="0" rIns="0" bIns="0" rtlCol="0" anchor="t"/>
          <a:lstStyle/>
          <a:p>
            <a:pPr indent="0" marL="0">
              <a:lnSpc>
                <a:spcPct val="120000"/>
              </a:lnSpc>
              <a:buNone/>
            </a:pPr>
            <a:r>
              <a:rPr lang="en-US" sz="1100" dirty="0">
                <a:solidFill>
                  <a:srgbClr val="8FA9AE"/>
                </a:solidFill>
                <a:latin typeface="Arial" pitchFamily="34" charset="0"/>
                <a:ea typeface="Arial" pitchFamily="34" charset="-122"/>
                <a:cs typeface="Arial" pitchFamily="34" charset="-120"/>
              </a:rPr>
              <a:t>Centralised asset management, AI rewriting and localisation for every platform, with automated brand-guideline and ad-compliance checks.</a:t>
            </a:r>
            <a:endParaRPr lang="en-US" sz="1100" dirty="0"/>
          </a:p>
        </p:txBody>
      </p:sp>
      <p:sp>
        <p:nvSpPr>
          <p:cNvPr id="18" name="Shape 13"/>
          <p:cNvSpPr/>
          <p:nvPr/>
        </p:nvSpPr>
        <p:spPr>
          <a:xfrm>
            <a:off x="548640" y="4114800"/>
            <a:ext cx="5440680" cy="1874520"/>
          </a:xfrm>
          <a:prstGeom prst="roundRect">
            <a:avLst>
              <a:gd name="adj" fmla="val 5854"/>
            </a:avLst>
          </a:prstGeom>
          <a:solidFill>
            <a:srgbClr val="0F2A33">
              <a:alpha val="75000"/>
            </a:srgbClr>
          </a:solidFill>
          <a:ln w="9525">
            <a:solidFill>
              <a:srgbClr val="1F4A55"/>
            </a:solidFill>
            <a:prstDash val="solid"/>
          </a:ln>
        </p:spPr>
      </p:sp>
      <p:sp>
        <p:nvSpPr>
          <p:cNvPr id="19" name="Shape 14"/>
          <p:cNvSpPr/>
          <p:nvPr/>
        </p:nvSpPr>
        <p:spPr>
          <a:xfrm>
            <a:off x="822960" y="4407408"/>
            <a:ext cx="640080" cy="640080"/>
          </a:xfrm>
          <a:prstGeom prst="ellipse">
            <a:avLst/>
          </a:prstGeom>
          <a:solidFill>
            <a:srgbClr val="2FB8C4">
              <a:alpha val="18000"/>
            </a:srgbClr>
          </a:solidFill>
          <a:ln w="9525">
            <a:solidFill>
              <a:srgbClr val="2FB8C4">
                <a:alpha val="60000"/>
              </a:srgbClr>
            </a:solidFill>
            <a:prstDash val="solid"/>
          </a:ln>
        </p:spPr>
      </p:sp>
      <p:pic>
        <p:nvPicPr>
          <p:cNvPr id="20" name="Image 3" descr="preencoded.png">    </p:cNvPr>
          <p:cNvPicPr>
            <a:picLocks noChangeAspect="1"/>
          </p:cNvPicPr>
          <p:nvPr/>
        </p:nvPicPr>
        <p:blipFill>
          <a:blip r:embed="rId4"/>
          <a:stretch>
            <a:fillRect/>
          </a:stretch>
        </p:blipFill>
        <p:spPr>
          <a:xfrm>
            <a:off x="989381" y="4573829"/>
            <a:ext cx="307238" cy="307238"/>
          </a:xfrm>
          <a:prstGeom prst="rect">
            <a:avLst/>
          </a:prstGeom>
        </p:spPr>
      </p:pic>
      <p:sp>
        <p:nvSpPr>
          <p:cNvPr id="21" name="Text 15"/>
          <p:cNvSpPr txBox="1"/>
          <p:nvPr/>
        </p:nvSpPr>
        <p:spPr>
          <a:xfrm>
            <a:off x="1691640" y="4389120"/>
            <a:ext cx="4069080" cy="256032"/>
          </a:xfrm>
          <a:prstGeom prst="rect">
            <a:avLst/>
          </a:prstGeom>
          <a:noFill/>
          <a:ln/>
        </p:spPr>
        <p:txBody>
          <a:bodyPr wrap="square" lIns="0" tIns="0" rIns="0" bIns="0" rtlCol="0" anchor="ctr"/>
          <a:lstStyle/>
          <a:p>
            <a:pPr indent="0" marL="0">
              <a:buNone/>
            </a:pPr>
            <a:r>
              <a:rPr lang="en-US" sz="950" b="1" spc="200" kern="0" dirty="0">
                <a:solidFill>
                  <a:srgbClr val="2FB8C4"/>
                </a:solidFill>
                <a:latin typeface="Arial" pitchFamily="34" charset="0"/>
                <a:ea typeface="Arial" pitchFamily="34" charset="-122"/>
                <a:cs typeface="Arial" pitchFamily="34" charset="-120"/>
              </a:rPr>
              <a:t>LUXURY</a:t>
            </a:r>
            <a:endParaRPr lang="en-US" sz="950" dirty="0"/>
          </a:p>
        </p:txBody>
      </p:sp>
      <p:sp>
        <p:nvSpPr>
          <p:cNvPr id="22" name="Text 16"/>
          <p:cNvSpPr txBox="1"/>
          <p:nvPr/>
        </p:nvSpPr>
        <p:spPr>
          <a:xfrm>
            <a:off x="1691640" y="4663440"/>
            <a:ext cx="406908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AI Clienteling Assistant</a:t>
            </a:r>
            <a:endParaRPr lang="en-US" sz="1800" dirty="0"/>
          </a:p>
        </p:txBody>
      </p:sp>
      <p:sp>
        <p:nvSpPr>
          <p:cNvPr id="23" name="Text 17"/>
          <p:cNvSpPr txBox="1"/>
          <p:nvPr/>
        </p:nvSpPr>
        <p:spPr>
          <a:xfrm>
            <a:off x="1691640" y="5120640"/>
            <a:ext cx="4023360" cy="777240"/>
          </a:xfrm>
          <a:prstGeom prst="rect">
            <a:avLst/>
          </a:prstGeom>
          <a:noFill/>
          <a:ln/>
        </p:spPr>
        <p:txBody>
          <a:bodyPr wrap="square" lIns="0" tIns="0" rIns="0" bIns="0" rtlCol="0" anchor="t"/>
          <a:lstStyle/>
          <a:p>
            <a:pPr indent="0" marL="0">
              <a:lnSpc>
                <a:spcPct val="120000"/>
              </a:lnSpc>
              <a:buNone/>
            </a:pPr>
            <a:r>
              <a:rPr lang="en-US" sz="1100" dirty="0">
                <a:solidFill>
                  <a:srgbClr val="8FA9AE"/>
                </a:solidFill>
                <a:latin typeface="Arial" pitchFamily="34" charset="0"/>
                <a:ea typeface="Arial" pitchFamily="34" charset="-122"/>
                <a:cs typeface="Arial" pitchFamily="34" charset="-120"/>
              </a:rPr>
              <a:t>Grounded in product knowledge and service scripts, helping advisors hold warm, on-brand one-to-one conversations.</a:t>
            </a:r>
            <a:endParaRPr lang="en-US" sz="1100" dirty="0"/>
          </a:p>
        </p:txBody>
      </p:sp>
      <p:sp>
        <p:nvSpPr>
          <p:cNvPr id="24" name="Shape 18"/>
          <p:cNvSpPr/>
          <p:nvPr/>
        </p:nvSpPr>
        <p:spPr>
          <a:xfrm>
            <a:off x="6144768" y="4114800"/>
            <a:ext cx="5440680" cy="1874520"/>
          </a:xfrm>
          <a:prstGeom prst="roundRect">
            <a:avLst>
              <a:gd name="adj" fmla="val 5854"/>
            </a:avLst>
          </a:prstGeom>
          <a:solidFill>
            <a:srgbClr val="0F2A33">
              <a:alpha val="75000"/>
            </a:srgbClr>
          </a:solidFill>
          <a:ln w="9525">
            <a:solidFill>
              <a:srgbClr val="1F4A55"/>
            </a:solidFill>
            <a:prstDash val="solid"/>
          </a:ln>
        </p:spPr>
      </p:sp>
      <p:sp>
        <p:nvSpPr>
          <p:cNvPr id="25" name="Shape 19"/>
          <p:cNvSpPr/>
          <p:nvPr/>
        </p:nvSpPr>
        <p:spPr>
          <a:xfrm>
            <a:off x="6419088" y="4407408"/>
            <a:ext cx="640080" cy="640080"/>
          </a:xfrm>
          <a:prstGeom prst="ellipse">
            <a:avLst/>
          </a:prstGeom>
          <a:solidFill>
            <a:srgbClr val="2FB8C4">
              <a:alpha val="18000"/>
            </a:srgbClr>
          </a:solidFill>
          <a:ln w="9525">
            <a:solidFill>
              <a:srgbClr val="2FB8C4">
                <a:alpha val="60000"/>
              </a:srgbClr>
            </a:solidFill>
            <a:prstDash val="solid"/>
          </a:ln>
        </p:spPr>
      </p:sp>
      <p:pic>
        <p:nvPicPr>
          <p:cNvPr id="26" name="Image 4" descr="preencoded.png">    </p:cNvPr>
          <p:cNvPicPr>
            <a:picLocks noChangeAspect="1"/>
          </p:cNvPicPr>
          <p:nvPr/>
        </p:nvPicPr>
        <p:blipFill>
          <a:blip r:embed="rId5"/>
          <a:stretch>
            <a:fillRect/>
          </a:stretch>
        </p:blipFill>
        <p:spPr>
          <a:xfrm>
            <a:off x="6585509" y="4573829"/>
            <a:ext cx="307238" cy="307238"/>
          </a:xfrm>
          <a:prstGeom prst="rect">
            <a:avLst/>
          </a:prstGeom>
        </p:spPr>
      </p:pic>
      <p:sp>
        <p:nvSpPr>
          <p:cNvPr id="27" name="Text 20"/>
          <p:cNvSpPr txBox="1"/>
          <p:nvPr/>
        </p:nvSpPr>
        <p:spPr>
          <a:xfrm>
            <a:off x="7287768" y="4389120"/>
            <a:ext cx="4069080" cy="256032"/>
          </a:xfrm>
          <a:prstGeom prst="rect">
            <a:avLst/>
          </a:prstGeom>
          <a:noFill/>
          <a:ln/>
        </p:spPr>
        <p:txBody>
          <a:bodyPr wrap="square" lIns="0" tIns="0" rIns="0" bIns="0" rtlCol="0" anchor="ctr"/>
          <a:lstStyle/>
          <a:p>
            <a:pPr indent="0" marL="0">
              <a:buNone/>
            </a:pPr>
            <a:r>
              <a:rPr lang="en-US" sz="950" b="1" spc="200" kern="0" dirty="0">
                <a:solidFill>
                  <a:srgbClr val="2FB8C4"/>
                </a:solidFill>
                <a:latin typeface="Arial" pitchFamily="34" charset="0"/>
                <a:ea typeface="Arial" pitchFamily="34" charset="-122"/>
                <a:cs typeface="Arial" pitchFamily="34" charset="-120"/>
              </a:rPr>
              <a:t>PLATFORMS</a:t>
            </a:r>
            <a:endParaRPr lang="en-US" sz="950" dirty="0"/>
          </a:p>
        </p:txBody>
      </p:sp>
      <p:sp>
        <p:nvSpPr>
          <p:cNvPr id="28" name="Text 21"/>
          <p:cNvSpPr txBox="1"/>
          <p:nvPr/>
        </p:nvSpPr>
        <p:spPr>
          <a:xfrm>
            <a:off x="7287768" y="4663440"/>
            <a:ext cx="406908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AI Marketing Video Line</a:t>
            </a:r>
            <a:endParaRPr lang="en-US" sz="1800" dirty="0"/>
          </a:p>
        </p:txBody>
      </p:sp>
      <p:sp>
        <p:nvSpPr>
          <p:cNvPr id="29" name="Text 22"/>
          <p:cNvSpPr txBox="1"/>
          <p:nvPr/>
        </p:nvSpPr>
        <p:spPr>
          <a:xfrm>
            <a:off x="7287768" y="5120640"/>
            <a:ext cx="4023360" cy="777240"/>
          </a:xfrm>
          <a:prstGeom prst="rect">
            <a:avLst/>
          </a:prstGeom>
          <a:noFill/>
          <a:ln/>
        </p:spPr>
        <p:txBody>
          <a:bodyPr wrap="square" lIns="0" tIns="0" rIns="0" bIns="0" rtlCol="0" anchor="t"/>
          <a:lstStyle/>
          <a:p>
            <a:pPr indent="0" marL="0">
              <a:lnSpc>
                <a:spcPct val="120000"/>
              </a:lnSpc>
              <a:buNone/>
            </a:pPr>
            <a:r>
              <a:rPr lang="en-US" sz="1100" dirty="0">
                <a:solidFill>
                  <a:srgbClr val="8FA9AE"/>
                </a:solidFill>
                <a:latin typeface="Arial" pitchFamily="34" charset="0"/>
                <a:ea typeface="Arial" pitchFamily="34" charset="-122"/>
                <a:cs typeface="Arial" pitchFamily="34" charset="-120"/>
              </a:rPr>
              <a:t>Scripting, storyboarding, generation and QA industrialised end to end — sustaining output of a thousand videos a month.</a:t>
            </a:r>
            <a:endParaRPr lang="en-US" sz="1100" dirty="0"/>
          </a:p>
        </p:txBody>
      </p:sp>
      <p:pic>
        <p:nvPicPr>
          <p:cNvPr id="30" name="Image 5" descr="/tmp/claude-0/-home-user-website/1713201c-620c-5ce1-b439-a99d37e654e6/scratchpad/build/../assets/jm_logo.png">    </p:cNvPr>
          <p:cNvPicPr>
            <a:picLocks noChangeAspect="1"/>
          </p:cNvPicPr>
          <p:nvPr/>
        </p:nvPicPr>
        <p:blipFill>
          <a:blip r:embed="rId6"/>
          <a:stretch>
            <a:fillRect/>
          </a:stretch>
        </p:blipFill>
        <p:spPr>
          <a:xfrm>
            <a:off x="548640" y="6336792"/>
            <a:ext cx="274320" cy="235915"/>
          </a:xfrm>
          <a:prstGeom prst="rect">
            <a:avLst/>
          </a:prstGeom>
        </p:spPr>
      </p:pic>
      <p:sp>
        <p:nvSpPr>
          <p:cNvPr id="31" name="Text 23"/>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32" name="Text 24"/>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mp/claude-0/-home-user-website/1713201c-620c-5ce1-b439-a99d37e654e6/scratchpad/build/../assets/jm_bg.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621792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FDE CASE  ·  XIANYU</a:t>
            </a:r>
            <a:endParaRPr lang="en-US" sz="1100" dirty="0"/>
          </a:p>
        </p:txBody>
      </p:sp>
      <p:sp>
        <p:nvSpPr>
          <p:cNvPr id="4" name="Text 1"/>
          <p:cNvSpPr txBox="1"/>
          <p:nvPr/>
        </p:nvSpPr>
        <p:spPr>
          <a:xfrm>
            <a:off x="548640" y="749808"/>
            <a:ext cx="6217920" cy="64008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Xianyu: an AI marketing video line</a:t>
            </a:r>
            <a:endParaRPr lang="en-US" sz="2700" dirty="0"/>
          </a:p>
        </p:txBody>
      </p:sp>
      <p:sp>
        <p:nvSpPr>
          <p:cNvPr id="5" name="Text 2"/>
          <p:cNvSpPr txBox="1"/>
          <p:nvPr/>
        </p:nvSpPr>
        <p:spPr>
          <a:xfrm>
            <a:off x="548640" y="1389888"/>
            <a:ext cx="621792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AI-generated marketing videos, delivered at scale.</a:t>
            </a:r>
            <a:endParaRPr lang="en-US" sz="1300" dirty="0"/>
          </a:p>
        </p:txBody>
      </p:sp>
      <p:sp>
        <p:nvSpPr>
          <p:cNvPr id="6" name="Text 3"/>
          <p:cNvSpPr txBox="1"/>
          <p:nvPr/>
        </p:nvSpPr>
        <p:spPr>
          <a:xfrm>
            <a:off x="548640" y="2011680"/>
            <a:ext cx="5943600" cy="1188720"/>
          </a:xfrm>
          <a:prstGeom prst="rect">
            <a:avLst/>
          </a:prstGeom>
          <a:noFill/>
          <a:ln/>
        </p:spPr>
        <p:txBody>
          <a:bodyPr wrap="square" lIns="0" tIns="0" rIns="0" bIns="0" rtlCol="0" anchor="ctr"/>
          <a:lstStyle/>
          <a:p>
            <a:pPr indent="0" marL="0">
              <a:buNone/>
            </a:pPr>
            <a:r>
              <a:rPr lang="en-US" sz="8000" b="1" dirty="0">
                <a:solidFill>
                  <a:srgbClr val="2FB8C4"/>
                </a:solidFill>
                <a:latin typeface="Arial" pitchFamily="34" charset="0"/>
                <a:ea typeface="Arial" pitchFamily="34" charset="-122"/>
                <a:cs typeface="Arial" pitchFamily="34" charset="-120"/>
              </a:rPr>
              <a:t>1,000+</a:t>
            </a:r>
            <a:endParaRPr lang="en-US" sz="8000" dirty="0"/>
          </a:p>
        </p:txBody>
      </p:sp>
      <p:sp>
        <p:nvSpPr>
          <p:cNvPr id="7" name="Text 4"/>
          <p:cNvSpPr txBox="1"/>
          <p:nvPr/>
        </p:nvSpPr>
        <p:spPr>
          <a:xfrm>
            <a:off x="548640" y="3200400"/>
            <a:ext cx="59436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AI marketing videos delivered every month</a:t>
            </a:r>
            <a:endParaRPr lang="en-US" sz="1400" dirty="0"/>
          </a:p>
        </p:txBody>
      </p:sp>
      <p:sp>
        <p:nvSpPr>
          <p:cNvPr id="8" name="Text 5"/>
          <p:cNvSpPr txBox="1"/>
          <p:nvPr/>
        </p:nvSpPr>
        <p:spPr>
          <a:xfrm>
            <a:off x="548640" y="3703320"/>
            <a:ext cx="5852160" cy="1554480"/>
          </a:xfrm>
          <a:prstGeom prst="rect">
            <a:avLst/>
          </a:prstGeom>
          <a:noFill/>
          <a:ln/>
        </p:spPr>
        <p:txBody>
          <a:bodyPr wrap="square" lIns="0" tIns="0" rIns="0" bIns="0" rtlCol="0" anchor="t"/>
          <a:lstStyle/>
          <a:p>
            <a:pPr indent="0" marL="0">
              <a:lnSpc>
                <a:spcPct val="135000"/>
              </a:lnSpc>
              <a:buNone/>
            </a:pPr>
            <a:r>
              <a:rPr lang="en-US" sz="1250" dirty="0">
                <a:solidFill>
                  <a:srgbClr val="E6F1F3"/>
                </a:solidFill>
                <a:latin typeface="Arial" pitchFamily="34" charset="0"/>
                <a:ea typeface="Arial" pitchFamily="34" charset="-122"/>
                <a:cs typeface="Arial" pitchFamily="34" charset="-120"/>
              </a:rPr>
              <a:t>We produce AI marketing videos at scale for Xianyu's marketing campaigns. Our in-house ThinkNova AIGC pipeline runs as a dedicated production line — from campaign brief and script to storyboard, generation, human QA and batch delivery — fully standardised to sustain 1,000+ videos every month.</a:t>
            </a:r>
            <a:endParaRPr lang="en-US" sz="1250" dirty="0"/>
          </a:p>
        </p:txBody>
      </p:sp>
      <p:sp>
        <p:nvSpPr>
          <p:cNvPr id="9" name="Text 6"/>
          <p:cNvSpPr txBox="1"/>
          <p:nvPr/>
        </p:nvSpPr>
        <p:spPr>
          <a:xfrm>
            <a:off x="548640" y="5394960"/>
            <a:ext cx="1188720" cy="329184"/>
          </a:xfrm>
          <a:prstGeom prst="roundRect">
            <a:avLst>
              <a:gd name="adj" fmla="val 41667"/>
            </a:avLst>
          </a:prstGeom>
          <a:solidFill>
            <a:srgbClr val="2FB8C4">
              <a:alpha val="20000"/>
            </a:srgbClr>
          </a:solidFill>
          <a:ln w="6350">
            <a:solidFill>
              <a:srgbClr val="2FB8C4"/>
            </a:solidFill>
          </a:ln>
        </p:spPr>
        <p:txBody>
          <a:bodyPr wrap="square" lIns="0" tIns="0" rIns="0" bIns="0" rtlCol="0" anchor="ctr"/>
          <a:lstStyle/>
          <a:p>
            <a:pPr algn="ctr" indent="0" marL="0">
              <a:buNone/>
            </a:pPr>
            <a:r>
              <a:rPr lang="en-US" sz="1000" dirty="0">
                <a:solidFill>
                  <a:srgbClr val="7FD9DF"/>
                </a:solidFill>
                <a:latin typeface="Arial" pitchFamily="34" charset="0"/>
                <a:ea typeface="Arial" pitchFamily="34" charset="-122"/>
                <a:cs typeface="Arial" pitchFamily="34" charset="-120"/>
              </a:rPr>
              <a:t>AIGC Video</a:t>
            </a:r>
            <a:endParaRPr lang="en-US" sz="1000" dirty="0"/>
          </a:p>
        </p:txBody>
      </p:sp>
      <p:sp>
        <p:nvSpPr>
          <p:cNvPr id="10" name="Text 7"/>
          <p:cNvSpPr txBox="1"/>
          <p:nvPr/>
        </p:nvSpPr>
        <p:spPr>
          <a:xfrm>
            <a:off x="1874520" y="5394960"/>
            <a:ext cx="1508760" cy="329184"/>
          </a:xfrm>
          <a:prstGeom prst="roundRect">
            <a:avLst>
              <a:gd name="adj" fmla="val 41667"/>
            </a:avLst>
          </a:prstGeom>
          <a:solidFill>
            <a:srgbClr val="2FB8C4">
              <a:alpha val="20000"/>
            </a:srgbClr>
          </a:solidFill>
          <a:ln w="6350">
            <a:solidFill>
              <a:srgbClr val="2FB8C4"/>
            </a:solidFill>
          </a:ln>
        </p:spPr>
        <p:txBody>
          <a:bodyPr wrap="square" lIns="0" tIns="0" rIns="0" bIns="0" rtlCol="0" anchor="ctr"/>
          <a:lstStyle/>
          <a:p>
            <a:pPr algn="ctr" indent="0" marL="0">
              <a:buNone/>
            </a:pPr>
            <a:r>
              <a:rPr lang="en-US" sz="1000" dirty="0">
                <a:solidFill>
                  <a:srgbClr val="7FD9DF"/>
                </a:solidFill>
                <a:latin typeface="Arial" pitchFamily="34" charset="0"/>
                <a:ea typeface="Arial" pitchFamily="34" charset="-122"/>
                <a:cs typeface="Arial" pitchFamily="34" charset="-120"/>
              </a:rPr>
              <a:t>Delivery at Scale</a:t>
            </a:r>
            <a:endParaRPr lang="en-US" sz="1000" dirty="0"/>
          </a:p>
        </p:txBody>
      </p:sp>
      <p:sp>
        <p:nvSpPr>
          <p:cNvPr id="11" name="Text 8"/>
          <p:cNvSpPr txBox="1"/>
          <p:nvPr/>
        </p:nvSpPr>
        <p:spPr>
          <a:xfrm>
            <a:off x="3520440" y="5394960"/>
            <a:ext cx="1371600" cy="329184"/>
          </a:xfrm>
          <a:prstGeom prst="roundRect">
            <a:avLst>
              <a:gd name="adj" fmla="val 41667"/>
            </a:avLst>
          </a:prstGeom>
          <a:solidFill>
            <a:srgbClr val="2FB8C4">
              <a:alpha val="20000"/>
            </a:srgbClr>
          </a:solidFill>
          <a:ln w="6350">
            <a:solidFill>
              <a:srgbClr val="2FB8C4"/>
            </a:solidFill>
          </a:ln>
        </p:spPr>
        <p:txBody>
          <a:bodyPr wrap="square" lIns="0" tIns="0" rIns="0" bIns="0" rtlCol="0" anchor="ctr"/>
          <a:lstStyle/>
          <a:p>
            <a:pPr algn="ctr" indent="0" marL="0">
              <a:buNone/>
            </a:pPr>
            <a:r>
              <a:rPr lang="en-US" sz="1000" dirty="0">
                <a:solidFill>
                  <a:srgbClr val="7FD9DF"/>
                </a:solidFill>
                <a:latin typeface="Arial" pitchFamily="34" charset="0"/>
                <a:ea typeface="Arial" pitchFamily="34" charset="-122"/>
                <a:cs typeface="Arial" pitchFamily="34" charset="-120"/>
              </a:rPr>
              <a:t>Dedicated Line</a:t>
            </a:r>
            <a:endParaRPr lang="en-US" sz="1000" dirty="0"/>
          </a:p>
        </p:txBody>
      </p:sp>
      <p:sp>
        <p:nvSpPr>
          <p:cNvPr id="12" name="Text 9"/>
          <p:cNvSpPr txBox="1"/>
          <p:nvPr/>
        </p:nvSpPr>
        <p:spPr>
          <a:xfrm>
            <a:off x="5029200" y="5394960"/>
            <a:ext cx="1234440" cy="329184"/>
          </a:xfrm>
          <a:prstGeom prst="roundRect">
            <a:avLst>
              <a:gd name="adj" fmla="val 41667"/>
            </a:avLst>
          </a:prstGeom>
          <a:solidFill>
            <a:srgbClr val="2FB8C4">
              <a:alpha val="20000"/>
            </a:srgbClr>
          </a:solidFill>
          <a:ln w="6350">
            <a:solidFill>
              <a:srgbClr val="2FB8C4"/>
            </a:solidFill>
          </a:ln>
        </p:spPr>
        <p:txBody>
          <a:bodyPr wrap="square" lIns="0" tIns="0" rIns="0" bIns="0" rtlCol="0" anchor="ctr"/>
          <a:lstStyle/>
          <a:p>
            <a:pPr algn="ctr" indent="0" marL="0">
              <a:buNone/>
            </a:pPr>
            <a:r>
              <a:rPr lang="en-US" sz="1000" dirty="0">
                <a:solidFill>
                  <a:srgbClr val="7FD9DF"/>
                </a:solidFill>
                <a:latin typeface="Arial" pitchFamily="34" charset="0"/>
                <a:ea typeface="Arial" pitchFamily="34" charset="-122"/>
                <a:cs typeface="Arial" pitchFamily="34" charset="-120"/>
              </a:rPr>
              <a:t>Ongoing Ops</a:t>
            </a:r>
            <a:endParaRPr lang="en-US" sz="1000" dirty="0"/>
          </a:p>
        </p:txBody>
      </p:sp>
      <p:sp>
        <p:nvSpPr>
          <p:cNvPr id="13" name="Shape 10"/>
          <p:cNvSpPr/>
          <p:nvPr/>
        </p:nvSpPr>
        <p:spPr>
          <a:xfrm>
            <a:off x="6903720" y="502920"/>
            <a:ext cx="4736592" cy="5577840"/>
          </a:xfrm>
          <a:prstGeom prst="roundRect">
            <a:avLst>
              <a:gd name="adj" fmla="val 2317"/>
            </a:avLst>
          </a:prstGeom>
          <a:solidFill>
            <a:srgbClr val="0F2A33">
              <a:alpha val="65000"/>
            </a:srgbClr>
          </a:solidFill>
          <a:ln w="9525">
            <a:solidFill>
              <a:srgbClr val="1F4A55"/>
            </a:solidFill>
            <a:prstDash val="solid"/>
          </a:ln>
        </p:spPr>
      </p:sp>
      <p:sp>
        <p:nvSpPr>
          <p:cNvPr id="14" name="Text 11"/>
          <p:cNvSpPr txBox="1"/>
          <p:nvPr/>
        </p:nvSpPr>
        <p:spPr>
          <a:xfrm>
            <a:off x="7223760" y="731520"/>
            <a:ext cx="4114800" cy="274320"/>
          </a:xfrm>
          <a:prstGeom prst="rect">
            <a:avLst/>
          </a:prstGeom>
          <a:noFill/>
          <a:ln/>
        </p:spPr>
        <p:txBody>
          <a:bodyPr wrap="square" lIns="0" tIns="0" rIns="0" bIns="0" rtlCol="0" anchor="ctr"/>
          <a:lstStyle/>
          <a:p>
            <a:pPr indent="0" marL="0">
              <a:buNone/>
            </a:pPr>
            <a:r>
              <a:rPr lang="en-US" sz="1000" b="1" spc="400" kern="0" dirty="0">
                <a:solidFill>
                  <a:srgbClr val="2FB8C4"/>
                </a:solidFill>
                <a:latin typeface="Arial" pitchFamily="34" charset="0"/>
                <a:ea typeface="Arial" pitchFamily="34" charset="-122"/>
                <a:cs typeface="Arial" pitchFamily="34" charset="-120"/>
              </a:rPr>
              <a:t>PRODUCTION PIPELINE</a:t>
            </a:r>
            <a:endParaRPr lang="en-US" sz="1000" dirty="0"/>
          </a:p>
        </p:txBody>
      </p:sp>
      <p:sp>
        <p:nvSpPr>
          <p:cNvPr id="15" name="Shape 12"/>
          <p:cNvSpPr/>
          <p:nvPr/>
        </p:nvSpPr>
        <p:spPr>
          <a:xfrm>
            <a:off x="7269480" y="1234440"/>
            <a:ext cx="603504" cy="603504"/>
          </a:xfrm>
          <a:prstGeom prst="ellipse">
            <a:avLst/>
          </a:prstGeom>
          <a:solidFill>
            <a:srgbClr val="2FB8C4">
              <a:alpha val="18000"/>
            </a:srgbClr>
          </a:solidFill>
          <a:ln w="9525">
            <a:solidFill>
              <a:srgbClr val="2FB8C4">
                <a:alpha val="60000"/>
              </a:srgbClr>
            </a:solidFill>
            <a:prstDash val="solid"/>
          </a:ln>
        </p:spPr>
      </p:sp>
      <p:pic>
        <p:nvPicPr>
          <p:cNvPr id="16" name="Image 1" descr="preencoded.png">    </p:cNvPr>
          <p:cNvPicPr>
            <a:picLocks noChangeAspect="1"/>
          </p:cNvPicPr>
          <p:nvPr/>
        </p:nvPicPr>
        <p:blipFill>
          <a:blip r:embed="rId2"/>
          <a:stretch>
            <a:fillRect/>
          </a:stretch>
        </p:blipFill>
        <p:spPr>
          <a:xfrm>
            <a:off x="7426391" y="1391351"/>
            <a:ext cx="289682" cy="289682"/>
          </a:xfrm>
          <a:prstGeom prst="rect">
            <a:avLst/>
          </a:prstGeom>
        </p:spPr>
      </p:pic>
      <p:sp>
        <p:nvSpPr>
          <p:cNvPr id="17" name="Text 13"/>
          <p:cNvSpPr txBox="1"/>
          <p:nvPr/>
        </p:nvSpPr>
        <p:spPr>
          <a:xfrm>
            <a:off x="8092440" y="1252728"/>
            <a:ext cx="329184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Brief &amp; Script</a:t>
            </a:r>
            <a:endParaRPr lang="en-US" sz="1500" dirty="0"/>
          </a:p>
        </p:txBody>
      </p:sp>
      <p:sp>
        <p:nvSpPr>
          <p:cNvPr id="18" name="Text 14"/>
          <p:cNvSpPr txBox="1"/>
          <p:nvPr/>
        </p:nvSpPr>
        <p:spPr>
          <a:xfrm>
            <a:off x="8092440" y="1563624"/>
            <a:ext cx="3383280" cy="237744"/>
          </a:xfrm>
          <a:prstGeom prst="rect">
            <a:avLst/>
          </a:prstGeom>
          <a:noFill/>
          <a:ln/>
        </p:spPr>
        <p:txBody>
          <a:bodyPr wrap="square" lIns="0" tIns="0" rIns="0" bIns="0" rtlCol="0" anchor="ctr"/>
          <a:lstStyle/>
          <a:p>
            <a:pPr indent="0" marL="0">
              <a:buNone/>
            </a:pPr>
            <a:r>
              <a:rPr lang="en-US" sz="1000" dirty="0">
                <a:solidFill>
                  <a:srgbClr val="8FA9AE"/>
                </a:solidFill>
                <a:latin typeface="Arial" pitchFamily="34" charset="0"/>
                <a:ea typeface="Arial" pitchFamily="34" charset="-122"/>
                <a:cs typeface="Arial" pitchFamily="34" charset="-120"/>
              </a:rPr>
              <a:t>Campaign topics turned into scripts</a:t>
            </a:r>
            <a:endParaRPr lang="en-US" sz="1000" dirty="0"/>
          </a:p>
        </p:txBody>
      </p:sp>
      <p:sp>
        <p:nvSpPr>
          <p:cNvPr id="19" name="Shape 15"/>
          <p:cNvSpPr/>
          <p:nvPr/>
        </p:nvSpPr>
        <p:spPr>
          <a:xfrm>
            <a:off x="7571232" y="1874520"/>
            <a:ext cx="0" cy="256032"/>
          </a:xfrm>
          <a:prstGeom prst="line">
            <a:avLst/>
          </a:prstGeom>
          <a:noFill/>
          <a:ln w="12700">
            <a:solidFill>
              <a:srgbClr val="2FB8C4">
                <a:alpha val="70000"/>
              </a:srgbClr>
            </a:solidFill>
            <a:prstDash val="dash"/>
          </a:ln>
        </p:spPr>
      </p:sp>
      <p:sp>
        <p:nvSpPr>
          <p:cNvPr id="20" name="Shape 16"/>
          <p:cNvSpPr/>
          <p:nvPr/>
        </p:nvSpPr>
        <p:spPr>
          <a:xfrm>
            <a:off x="7269480" y="2167128"/>
            <a:ext cx="603504" cy="603504"/>
          </a:xfrm>
          <a:prstGeom prst="ellipse">
            <a:avLst/>
          </a:prstGeom>
          <a:solidFill>
            <a:srgbClr val="2FB8C4">
              <a:alpha val="18000"/>
            </a:srgbClr>
          </a:solidFill>
          <a:ln w="9525">
            <a:solidFill>
              <a:srgbClr val="2FB8C4">
                <a:alpha val="60000"/>
              </a:srgbClr>
            </a:solidFill>
            <a:prstDash val="solid"/>
          </a:ln>
        </p:spPr>
      </p:sp>
      <p:pic>
        <p:nvPicPr>
          <p:cNvPr id="21" name="Image 2" descr="preencoded.png">    </p:cNvPr>
          <p:cNvPicPr>
            <a:picLocks noChangeAspect="1"/>
          </p:cNvPicPr>
          <p:nvPr/>
        </p:nvPicPr>
        <p:blipFill>
          <a:blip r:embed="rId3"/>
          <a:stretch>
            <a:fillRect/>
          </a:stretch>
        </p:blipFill>
        <p:spPr>
          <a:xfrm>
            <a:off x="7426391" y="2324039"/>
            <a:ext cx="289682" cy="289682"/>
          </a:xfrm>
          <a:prstGeom prst="rect">
            <a:avLst/>
          </a:prstGeom>
        </p:spPr>
      </p:pic>
      <p:sp>
        <p:nvSpPr>
          <p:cNvPr id="22" name="Text 17"/>
          <p:cNvSpPr txBox="1"/>
          <p:nvPr/>
        </p:nvSpPr>
        <p:spPr>
          <a:xfrm>
            <a:off x="8092440" y="2185416"/>
            <a:ext cx="329184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AI Storyboard</a:t>
            </a:r>
            <a:endParaRPr lang="en-US" sz="1500" dirty="0"/>
          </a:p>
        </p:txBody>
      </p:sp>
      <p:sp>
        <p:nvSpPr>
          <p:cNvPr id="23" name="Text 18"/>
          <p:cNvSpPr txBox="1"/>
          <p:nvPr/>
        </p:nvSpPr>
        <p:spPr>
          <a:xfrm>
            <a:off x="8092440" y="2496312"/>
            <a:ext cx="3383280" cy="237744"/>
          </a:xfrm>
          <a:prstGeom prst="rect">
            <a:avLst/>
          </a:prstGeom>
          <a:noFill/>
          <a:ln/>
        </p:spPr>
        <p:txBody>
          <a:bodyPr wrap="square" lIns="0" tIns="0" rIns="0" bIns="0" rtlCol="0" anchor="ctr"/>
          <a:lstStyle/>
          <a:p>
            <a:pPr indent="0" marL="0">
              <a:buNone/>
            </a:pPr>
            <a:r>
              <a:rPr lang="en-US" sz="1000" dirty="0">
                <a:solidFill>
                  <a:srgbClr val="8FA9AE"/>
                </a:solidFill>
                <a:latin typeface="Arial" pitchFamily="34" charset="0"/>
                <a:ea typeface="Arial" pitchFamily="34" charset="-122"/>
                <a:cs typeface="Arial" pitchFamily="34" charset="-120"/>
              </a:rPr>
              <a:t>Shot-by-shot visual plan</a:t>
            </a:r>
            <a:endParaRPr lang="en-US" sz="1000" dirty="0"/>
          </a:p>
        </p:txBody>
      </p:sp>
      <p:sp>
        <p:nvSpPr>
          <p:cNvPr id="24" name="Shape 19"/>
          <p:cNvSpPr/>
          <p:nvPr/>
        </p:nvSpPr>
        <p:spPr>
          <a:xfrm>
            <a:off x="7571232" y="2807208"/>
            <a:ext cx="0" cy="256032"/>
          </a:xfrm>
          <a:prstGeom prst="line">
            <a:avLst/>
          </a:prstGeom>
          <a:noFill/>
          <a:ln w="12700">
            <a:solidFill>
              <a:srgbClr val="2FB8C4">
                <a:alpha val="70000"/>
              </a:srgbClr>
            </a:solidFill>
            <a:prstDash val="dash"/>
          </a:ln>
        </p:spPr>
      </p:sp>
      <p:sp>
        <p:nvSpPr>
          <p:cNvPr id="25" name="Shape 20"/>
          <p:cNvSpPr/>
          <p:nvPr/>
        </p:nvSpPr>
        <p:spPr>
          <a:xfrm>
            <a:off x="7269480" y="3099816"/>
            <a:ext cx="603504" cy="603504"/>
          </a:xfrm>
          <a:prstGeom prst="ellipse">
            <a:avLst/>
          </a:prstGeom>
          <a:solidFill>
            <a:srgbClr val="2FB8C4">
              <a:alpha val="50000"/>
            </a:srgbClr>
          </a:solidFill>
          <a:ln w="9525">
            <a:solidFill>
              <a:srgbClr val="2FB8C4">
                <a:alpha val="60000"/>
              </a:srgbClr>
            </a:solidFill>
            <a:prstDash val="solid"/>
          </a:ln>
        </p:spPr>
      </p:sp>
      <p:pic>
        <p:nvPicPr>
          <p:cNvPr id="26" name="Image 3" descr="preencoded.png">    </p:cNvPr>
          <p:cNvPicPr>
            <a:picLocks noChangeAspect="1"/>
          </p:cNvPicPr>
          <p:nvPr/>
        </p:nvPicPr>
        <p:blipFill>
          <a:blip r:embed="rId4"/>
          <a:stretch>
            <a:fillRect/>
          </a:stretch>
        </p:blipFill>
        <p:spPr>
          <a:xfrm>
            <a:off x="7426391" y="3256727"/>
            <a:ext cx="289682" cy="289682"/>
          </a:xfrm>
          <a:prstGeom prst="rect">
            <a:avLst/>
          </a:prstGeom>
        </p:spPr>
      </p:pic>
      <p:sp>
        <p:nvSpPr>
          <p:cNvPr id="27" name="Text 21"/>
          <p:cNvSpPr txBox="1"/>
          <p:nvPr/>
        </p:nvSpPr>
        <p:spPr>
          <a:xfrm>
            <a:off x="8092440" y="3118104"/>
            <a:ext cx="329184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Generation</a:t>
            </a:r>
            <a:endParaRPr lang="en-US" sz="1500" dirty="0"/>
          </a:p>
        </p:txBody>
      </p:sp>
      <p:sp>
        <p:nvSpPr>
          <p:cNvPr id="28" name="Text 22"/>
          <p:cNvSpPr txBox="1"/>
          <p:nvPr/>
        </p:nvSpPr>
        <p:spPr>
          <a:xfrm>
            <a:off x="8092440" y="3429000"/>
            <a:ext cx="3383280" cy="237744"/>
          </a:xfrm>
          <a:prstGeom prst="rect">
            <a:avLst/>
          </a:prstGeom>
          <a:noFill/>
          <a:ln/>
        </p:spPr>
        <p:txBody>
          <a:bodyPr wrap="square" lIns="0" tIns="0" rIns="0" bIns="0" rtlCol="0" anchor="ctr"/>
          <a:lstStyle/>
          <a:p>
            <a:pPr indent="0" marL="0">
              <a:buNone/>
            </a:pPr>
            <a:r>
              <a:rPr lang="en-US" sz="1000" dirty="0">
                <a:solidFill>
                  <a:srgbClr val="8FA9AE"/>
                </a:solidFill>
                <a:latin typeface="Arial" pitchFamily="34" charset="0"/>
                <a:ea typeface="Arial" pitchFamily="34" charset="-122"/>
                <a:cs typeface="Arial" pitchFamily="34" charset="-120"/>
              </a:rPr>
              <a:t>Video, voice-over and captions</a:t>
            </a:r>
            <a:endParaRPr lang="en-US" sz="1000" dirty="0"/>
          </a:p>
        </p:txBody>
      </p:sp>
      <p:sp>
        <p:nvSpPr>
          <p:cNvPr id="29" name="Shape 23"/>
          <p:cNvSpPr/>
          <p:nvPr/>
        </p:nvSpPr>
        <p:spPr>
          <a:xfrm>
            <a:off x="7571232" y="3739896"/>
            <a:ext cx="0" cy="256032"/>
          </a:xfrm>
          <a:prstGeom prst="line">
            <a:avLst/>
          </a:prstGeom>
          <a:noFill/>
          <a:ln w="12700">
            <a:solidFill>
              <a:srgbClr val="2FB8C4">
                <a:alpha val="70000"/>
              </a:srgbClr>
            </a:solidFill>
            <a:prstDash val="dash"/>
          </a:ln>
        </p:spPr>
      </p:sp>
      <p:sp>
        <p:nvSpPr>
          <p:cNvPr id="30" name="Shape 24"/>
          <p:cNvSpPr/>
          <p:nvPr/>
        </p:nvSpPr>
        <p:spPr>
          <a:xfrm>
            <a:off x="7269480" y="4032504"/>
            <a:ext cx="603504" cy="603504"/>
          </a:xfrm>
          <a:prstGeom prst="ellipse">
            <a:avLst/>
          </a:prstGeom>
          <a:solidFill>
            <a:srgbClr val="2FB8C4">
              <a:alpha val="18000"/>
            </a:srgbClr>
          </a:solidFill>
          <a:ln w="9525">
            <a:solidFill>
              <a:srgbClr val="2FB8C4">
                <a:alpha val="60000"/>
              </a:srgbClr>
            </a:solidFill>
            <a:prstDash val="solid"/>
          </a:ln>
        </p:spPr>
      </p:sp>
      <p:pic>
        <p:nvPicPr>
          <p:cNvPr id="31" name="Image 4" descr="preencoded.png">    </p:cNvPr>
          <p:cNvPicPr>
            <a:picLocks noChangeAspect="1"/>
          </p:cNvPicPr>
          <p:nvPr/>
        </p:nvPicPr>
        <p:blipFill>
          <a:blip r:embed="rId5"/>
          <a:stretch>
            <a:fillRect/>
          </a:stretch>
        </p:blipFill>
        <p:spPr>
          <a:xfrm>
            <a:off x="7426391" y="4189415"/>
            <a:ext cx="289682" cy="289682"/>
          </a:xfrm>
          <a:prstGeom prst="rect">
            <a:avLst/>
          </a:prstGeom>
        </p:spPr>
      </p:pic>
      <p:sp>
        <p:nvSpPr>
          <p:cNvPr id="32" name="Text 25"/>
          <p:cNvSpPr txBox="1"/>
          <p:nvPr/>
        </p:nvSpPr>
        <p:spPr>
          <a:xfrm>
            <a:off x="8092440" y="4050792"/>
            <a:ext cx="329184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QA &amp; Review</a:t>
            </a:r>
            <a:endParaRPr lang="en-US" sz="1500" dirty="0"/>
          </a:p>
        </p:txBody>
      </p:sp>
      <p:sp>
        <p:nvSpPr>
          <p:cNvPr id="33" name="Text 26"/>
          <p:cNvSpPr txBox="1"/>
          <p:nvPr/>
        </p:nvSpPr>
        <p:spPr>
          <a:xfrm>
            <a:off x="8092440" y="4361688"/>
            <a:ext cx="3383280" cy="237744"/>
          </a:xfrm>
          <a:prstGeom prst="rect">
            <a:avLst/>
          </a:prstGeom>
          <a:noFill/>
          <a:ln/>
        </p:spPr>
        <p:txBody>
          <a:bodyPr wrap="square" lIns="0" tIns="0" rIns="0" bIns="0" rtlCol="0" anchor="ctr"/>
          <a:lstStyle/>
          <a:p>
            <a:pPr indent="0" marL="0">
              <a:buNone/>
            </a:pPr>
            <a:r>
              <a:rPr lang="en-US" sz="1000" dirty="0">
                <a:solidFill>
                  <a:srgbClr val="8FA9AE"/>
                </a:solidFill>
                <a:latin typeface="Arial" pitchFamily="34" charset="0"/>
                <a:ea typeface="Arial" pitchFamily="34" charset="-122"/>
                <a:cs typeface="Arial" pitchFamily="34" charset="-120"/>
              </a:rPr>
              <a:t>Human checks for quality &amp; brand fit</a:t>
            </a:r>
            <a:endParaRPr lang="en-US" sz="1000" dirty="0"/>
          </a:p>
        </p:txBody>
      </p:sp>
      <p:sp>
        <p:nvSpPr>
          <p:cNvPr id="34" name="Shape 27"/>
          <p:cNvSpPr/>
          <p:nvPr/>
        </p:nvSpPr>
        <p:spPr>
          <a:xfrm>
            <a:off x="7571232" y="4672584"/>
            <a:ext cx="0" cy="256032"/>
          </a:xfrm>
          <a:prstGeom prst="line">
            <a:avLst/>
          </a:prstGeom>
          <a:noFill/>
          <a:ln w="12700">
            <a:solidFill>
              <a:srgbClr val="2FB8C4">
                <a:alpha val="70000"/>
              </a:srgbClr>
            </a:solidFill>
            <a:prstDash val="dash"/>
          </a:ln>
        </p:spPr>
      </p:sp>
      <p:sp>
        <p:nvSpPr>
          <p:cNvPr id="35" name="Shape 28"/>
          <p:cNvSpPr/>
          <p:nvPr/>
        </p:nvSpPr>
        <p:spPr>
          <a:xfrm>
            <a:off x="7269480" y="4965192"/>
            <a:ext cx="603504" cy="603504"/>
          </a:xfrm>
          <a:prstGeom prst="ellipse">
            <a:avLst/>
          </a:prstGeom>
          <a:solidFill>
            <a:srgbClr val="2FB8C4">
              <a:alpha val="18000"/>
            </a:srgbClr>
          </a:solidFill>
          <a:ln w="9525">
            <a:solidFill>
              <a:srgbClr val="2FB8C4">
                <a:alpha val="60000"/>
              </a:srgbClr>
            </a:solidFill>
            <a:prstDash val="solid"/>
          </a:ln>
        </p:spPr>
      </p:sp>
      <p:pic>
        <p:nvPicPr>
          <p:cNvPr id="36" name="Image 5" descr="preencoded.png">    </p:cNvPr>
          <p:cNvPicPr>
            <a:picLocks noChangeAspect="1"/>
          </p:cNvPicPr>
          <p:nvPr/>
        </p:nvPicPr>
        <p:blipFill>
          <a:blip r:embed="rId6"/>
          <a:stretch>
            <a:fillRect/>
          </a:stretch>
        </p:blipFill>
        <p:spPr>
          <a:xfrm>
            <a:off x="7426391" y="5122103"/>
            <a:ext cx="289682" cy="289682"/>
          </a:xfrm>
          <a:prstGeom prst="rect">
            <a:avLst/>
          </a:prstGeom>
        </p:spPr>
      </p:pic>
      <p:sp>
        <p:nvSpPr>
          <p:cNvPr id="37" name="Text 29"/>
          <p:cNvSpPr txBox="1"/>
          <p:nvPr/>
        </p:nvSpPr>
        <p:spPr>
          <a:xfrm>
            <a:off x="8092440" y="4983480"/>
            <a:ext cx="329184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Batch Delivery</a:t>
            </a:r>
            <a:endParaRPr lang="en-US" sz="1500" dirty="0"/>
          </a:p>
        </p:txBody>
      </p:sp>
      <p:sp>
        <p:nvSpPr>
          <p:cNvPr id="38" name="Text 30"/>
          <p:cNvSpPr txBox="1"/>
          <p:nvPr/>
        </p:nvSpPr>
        <p:spPr>
          <a:xfrm>
            <a:off x="8092440" y="5294376"/>
            <a:ext cx="3383280" cy="237744"/>
          </a:xfrm>
          <a:prstGeom prst="rect">
            <a:avLst/>
          </a:prstGeom>
          <a:noFill/>
          <a:ln/>
        </p:spPr>
        <p:txBody>
          <a:bodyPr wrap="square" lIns="0" tIns="0" rIns="0" bIns="0" rtlCol="0" anchor="ctr"/>
          <a:lstStyle/>
          <a:p>
            <a:pPr indent="0" marL="0">
              <a:buNone/>
            </a:pPr>
            <a:r>
              <a:rPr lang="en-US" sz="1000" dirty="0">
                <a:solidFill>
                  <a:srgbClr val="8FA9AE"/>
                </a:solidFill>
                <a:latin typeface="Arial" pitchFamily="34" charset="0"/>
                <a:ea typeface="Arial" pitchFamily="34" charset="-122"/>
                <a:cs typeface="Arial" pitchFamily="34" charset="-120"/>
              </a:rPr>
              <a:t>Platform-ready files, on schedule</a:t>
            </a:r>
            <a:endParaRPr lang="en-US" sz="1000" dirty="0"/>
          </a:p>
        </p:txBody>
      </p:sp>
      <p:pic>
        <p:nvPicPr>
          <p:cNvPr id="39" name="Image 6" descr="/tmp/claude-0/-home-user-website/1713201c-620c-5ce1-b439-a99d37e654e6/scratchpad/build/../assets/jm_logo.png">    </p:cNvPr>
          <p:cNvPicPr>
            <a:picLocks noChangeAspect="1"/>
          </p:cNvPicPr>
          <p:nvPr/>
        </p:nvPicPr>
        <p:blipFill>
          <a:blip r:embed="rId7"/>
          <a:stretch>
            <a:fillRect/>
          </a:stretch>
        </p:blipFill>
        <p:spPr>
          <a:xfrm>
            <a:off x="548640" y="6336792"/>
            <a:ext cx="274320" cy="235915"/>
          </a:xfrm>
          <a:prstGeom prst="rect">
            <a:avLst/>
          </a:prstGeom>
        </p:spPr>
      </p:pic>
      <p:sp>
        <p:nvSpPr>
          <p:cNvPr id="40" name="Text 31"/>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41" name="Text 32"/>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mp/claude-0/-home-user-website/1713201c-620c-5ce1-b439-a99d37e654e6/scratchpad/build/../assets/jm_section.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SELECTED CLIENTS</a:t>
            </a:r>
            <a:endParaRPr lang="en-US" sz="1100" dirty="0"/>
          </a:p>
        </p:txBody>
      </p:sp>
      <p:sp>
        <p:nvSpPr>
          <p:cNvPr id="4" name="Text 1"/>
          <p:cNvSpPr txBox="1"/>
          <p:nvPr/>
        </p:nvSpPr>
        <p:spPr>
          <a:xfrm>
            <a:off x="548640" y="74980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Brands we have served</a:t>
            </a:r>
            <a:endParaRPr lang="en-US" sz="3000" dirty="0"/>
          </a:p>
        </p:txBody>
      </p:sp>
      <p:sp>
        <p:nvSpPr>
          <p:cNvPr id="5" name="Text 2"/>
          <p:cNvSpPr txBox="1"/>
          <p:nvPr/>
        </p:nvSpPr>
        <p:spPr>
          <a:xfrm>
            <a:off x="548640" y="1389888"/>
            <a:ext cx="1097280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From global luxury to China's leading internet platforms.</a:t>
            </a:r>
            <a:endParaRPr lang="en-US" sz="1300" dirty="0"/>
          </a:p>
        </p:txBody>
      </p:sp>
      <p:sp>
        <p:nvSpPr>
          <p:cNvPr id="6" name="Shape 3"/>
          <p:cNvSpPr/>
          <p:nvPr/>
        </p:nvSpPr>
        <p:spPr>
          <a:xfrm>
            <a:off x="548640" y="2103120"/>
            <a:ext cx="3566160" cy="1828800"/>
          </a:xfrm>
          <a:prstGeom prst="roundRect">
            <a:avLst>
              <a:gd name="adj" fmla="val 6000"/>
            </a:avLst>
          </a:prstGeom>
          <a:solidFill>
            <a:srgbClr val="0A1E24">
              <a:alpha val="80000"/>
            </a:srgbClr>
          </a:solidFill>
          <a:ln w="9525">
            <a:solidFill>
              <a:srgbClr val="1F4A55"/>
            </a:solidFill>
            <a:prstDash val="solid"/>
          </a:ln>
        </p:spPr>
      </p:sp>
      <p:sp>
        <p:nvSpPr>
          <p:cNvPr id="7" name="Text 4"/>
          <p:cNvSpPr txBox="1"/>
          <p:nvPr/>
        </p:nvSpPr>
        <p:spPr>
          <a:xfrm>
            <a:off x="731520" y="2286000"/>
            <a:ext cx="3200400" cy="960120"/>
          </a:xfrm>
          <a:prstGeom prst="rect">
            <a:avLst/>
          </a:prstGeom>
          <a:noFill/>
          <a:ln/>
        </p:spPr>
        <p:txBody>
          <a:bodyPr wrap="square" lIns="0" tIns="0" rIns="0" bIns="0" rtlCol="0" anchor="ctr"/>
          <a:lstStyle/>
          <a:p>
            <a:pPr algn="ctr" indent="0" marL="0">
              <a:buNone/>
            </a:pPr>
            <a:r>
              <a:rPr lang="en-US" sz="3000" b="1" spc="300" kern="0" dirty="0">
                <a:solidFill>
                  <a:srgbClr val="FFFFFF"/>
                </a:solidFill>
                <a:latin typeface="Times New Roman" pitchFamily="34" charset="0"/>
                <a:ea typeface="Times New Roman" pitchFamily="34" charset="-122"/>
                <a:cs typeface="Times New Roman" pitchFamily="34" charset="-120"/>
              </a:rPr>
              <a:t>L'ORÉAL</a:t>
            </a:r>
            <a:endParaRPr lang="en-US" sz="3000" dirty="0"/>
          </a:p>
        </p:txBody>
      </p:sp>
      <p:sp>
        <p:nvSpPr>
          <p:cNvPr id="8" name="Text 5"/>
          <p:cNvSpPr txBox="1"/>
          <p:nvPr/>
        </p:nvSpPr>
        <p:spPr>
          <a:xfrm>
            <a:off x="731520" y="3291840"/>
            <a:ext cx="3200400" cy="274320"/>
          </a:xfrm>
          <a:prstGeom prst="rect">
            <a:avLst/>
          </a:prstGeom>
          <a:noFill/>
          <a:ln/>
        </p:spPr>
        <p:txBody>
          <a:bodyPr wrap="square" lIns="0" tIns="0" rIns="0" bIns="0" rtlCol="0" anchor="ctr"/>
          <a:lstStyle/>
          <a:p>
            <a:pPr algn="ctr" indent="0" marL="0">
              <a:buNone/>
            </a:pPr>
            <a:r>
              <a:rPr lang="en-US" sz="1200" b="1" dirty="0">
                <a:solidFill>
                  <a:srgbClr val="7FD9DF"/>
                </a:solidFill>
                <a:latin typeface="Arial" pitchFamily="34" charset="0"/>
                <a:ea typeface="Arial" pitchFamily="34" charset="-122"/>
                <a:cs typeface="Arial" pitchFamily="34" charset="-120"/>
              </a:rPr>
              <a:t>L'Oréal</a:t>
            </a:r>
            <a:endParaRPr lang="en-US" sz="1200" dirty="0"/>
          </a:p>
        </p:txBody>
      </p:sp>
      <p:sp>
        <p:nvSpPr>
          <p:cNvPr id="9" name="Text 6"/>
          <p:cNvSpPr txBox="1"/>
          <p:nvPr/>
        </p:nvSpPr>
        <p:spPr>
          <a:xfrm>
            <a:off x="731520" y="3566160"/>
            <a:ext cx="3200400" cy="228600"/>
          </a:xfrm>
          <a:prstGeom prst="rect">
            <a:avLst/>
          </a:prstGeom>
          <a:noFill/>
          <a:ln/>
        </p:spPr>
        <p:txBody>
          <a:bodyPr wrap="square" lIns="0" tIns="0" rIns="0" bIns="0" rtlCol="0" anchor="ctr"/>
          <a:lstStyle/>
          <a:p>
            <a:pPr algn="ctr" indent="0" marL="0">
              <a:buNone/>
            </a:pPr>
            <a:r>
              <a:rPr lang="en-US" sz="950" dirty="0">
                <a:solidFill>
                  <a:srgbClr val="8FA9AE"/>
                </a:solidFill>
                <a:latin typeface="Arial" pitchFamily="34" charset="0"/>
                <a:ea typeface="Arial" pitchFamily="34" charset="-122"/>
                <a:cs typeface="Arial" pitchFamily="34" charset="-120"/>
              </a:rPr>
              <a:t>Beauty</a:t>
            </a:r>
            <a:endParaRPr lang="en-US" sz="950" dirty="0"/>
          </a:p>
        </p:txBody>
      </p:sp>
      <p:sp>
        <p:nvSpPr>
          <p:cNvPr id="10" name="Shape 7"/>
          <p:cNvSpPr/>
          <p:nvPr/>
        </p:nvSpPr>
        <p:spPr>
          <a:xfrm>
            <a:off x="4279392" y="2103120"/>
            <a:ext cx="3566160" cy="1828800"/>
          </a:xfrm>
          <a:prstGeom prst="roundRect">
            <a:avLst>
              <a:gd name="adj" fmla="val 6000"/>
            </a:avLst>
          </a:prstGeom>
          <a:solidFill>
            <a:srgbClr val="0A1E24">
              <a:alpha val="80000"/>
            </a:srgbClr>
          </a:solidFill>
          <a:ln w="9525">
            <a:solidFill>
              <a:srgbClr val="1F4A55"/>
            </a:solidFill>
            <a:prstDash val="solid"/>
          </a:ln>
        </p:spPr>
      </p:sp>
      <p:sp>
        <p:nvSpPr>
          <p:cNvPr id="11" name="Text 8"/>
          <p:cNvSpPr txBox="1"/>
          <p:nvPr/>
        </p:nvSpPr>
        <p:spPr>
          <a:xfrm>
            <a:off x="4462272" y="2286000"/>
            <a:ext cx="3200400" cy="960120"/>
          </a:xfrm>
          <a:prstGeom prst="rect">
            <a:avLst/>
          </a:prstGeom>
          <a:noFill/>
          <a:ln/>
        </p:spPr>
        <p:txBody>
          <a:bodyPr wrap="square" lIns="0" tIns="0" rIns="0" bIns="0" rtlCol="0" anchor="ctr"/>
          <a:lstStyle/>
          <a:p>
            <a:pPr algn="ctr" indent="0" marL="0">
              <a:buNone/>
            </a:pPr>
            <a:r>
              <a:rPr lang="en-US" sz="1900" spc="500" kern="0" dirty="0">
                <a:solidFill>
                  <a:srgbClr val="FFFFFF"/>
                </a:solidFill>
                <a:latin typeface="Times New Roman" pitchFamily="34" charset="0"/>
                <a:ea typeface="Times New Roman" pitchFamily="34" charset="-122"/>
                <a:cs typeface="Times New Roman" pitchFamily="34" charset="-120"/>
              </a:rPr>
              <a:t>VACHERON</a:t>
            </a:r>
            <a:endParaRPr lang="en-US" sz="1900" dirty="0"/>
          </a:p>
          <a:p>
            <a:pPr algn="ctr" indent="0" marL="0">
              <a:buNone/>
            </a:pPr>
            <a:r>
              <a:rPr lang="en-US" sz="1900" spc="500" kern="0" dirty="0">
                <a:solidFill>
                  <a:srgbClr val="FFFFFF"/>
                </a:solidFill>
                <a:latin typeface="Times New Roman" pitchFamily="34" charset="0"/>
                <a:ea typeface="Times New Roman" pitchFamily="34" charset="-122"/>
                <a:cs typeface="Times New Roman" pitchFamily="34" charset="-120"/>
              </a:rPr>
              <a:t>CONSTANTIN</a:t>
            </a:r>
            <a:endParaRPr lang="en-US" sz="1900" dirty="0"/>
          </a:p>
        </p:txBody>
      </p:sp>
      <p:sp>
        <p:nvSpPr>
          <p:cNvPr id="12" name="Text 9"/>
          <p:cNvSpPr txBox="1"/>
          <p:nvPr/>
        </p:nvSpPr>
        <p:spPr>
          <a:xfrm>
            <a:off x="4462272" y="3291840"/>
            <a:ext cx="3200400" cy="274320"/>
          </a:xfrm>
          <a:prstGeom prst="rect">
            <a:avLst/>
          </a:prstGeom>
          <a:noFill/>
          <a:ln/>
        </p:spPr>
        <p:txBody>
          <a:bodyPr wrap="square" lIns="0" tIns="0" rIns="0" bIns="0" rtlCol="0" anchor="ctr"/>
          <a:lstStyle/>
          <a:p>
            <a:pPr algn="ctr" indent="0" marL="0">
              <a:buNone/>
            </a:pPr>
            <a:r>
              <a:rPr lang="en-US" sz="1200" b="1" dirty="0">
                <a:solidFill>
                  <a:srgbClr val="7FD9DF"/>
                </a:solidFill>
                <a:latin typeface="Arial" pitchFamily="34" charset="0"/>
                <a:ea typeface="Arial" pitchFamily="34" charset="-122"/>
                <a:cs typeface="Arial" pitchFamily="34" charset="-120"/>
              </a:rPr>
              <a:t>Vacheron Constantin</a:t>
            </a:r>
            <a:endParaRPr lang="en-US" sz="1200" dirty="0"/>
          </a:p>
        </p:txBody>
      </p:sp>
      <p:sp>
        <p:nvSpPr>
          <p:cNvPr id="13" name="Text 10"/>
          <p:cNvSpPr txBox="1"/>
          <p:nvPr/>
        </p:nvSpPr>
        <p:spPr>
          <a:xfrm>
            <a:off x="4462272" y="3566160"/>
            <a:ext cx="3200400" cy="228600"/>
          </a:xfrm>
          <a:prstGeom prst="rect">
            <a:avLst/>
          </a:prstGeom>
          <a:noFill/>
          <a:ln/>
        </p:spPr>
        <p:txBody>
          <a:bodyPr wrap="square" lIns="0" tIns="0" rIns="0" bIns="0" rtlCol="0" anchor="ctr"/>
          <a:lstStyle/>
          <a:p>
            <a:pPr algn="ctr" indent="0" marL="0">
              <a:buNone/>
            </a:pPr>
            <a:r>
              <a:rPr lang="en-US" sz="950" dirty="0">
                <a:solidFill>
                  <a:srgbClr val="8FA9AE"/>
                </a:solidFill>
                <a:latin typeface="Arial" pitchFamily="34" charset="0"/>
                <a:ea typeface="Arial" pitchFamily="34" charset="-122"/>
                <a:cs typeface="Arial" pitchFamily="34" charset="-120"/>
              </a:rPr>
              <a:t>Luxury watchmaking</a:t>
            </a:r>
            <a:endParaRPr lang="en-US" sz="950" dirty="0"/>
          </a:p>
        </p:txBody>
      </p:sp>
      <p:sp>
        <p:nvSpPr>
          <p:cNvPr id="14" name="Shape 11"/>
          <p:cNvSpPr/>
          <p:nvPr/>
        </p:nvSpPr>
        <p:spPr>
          <a:xfrm>
            <a:off x="8010144" y="2103120"/>
            <a:ext cx="3566160" cy="1828800"/>
          </a:xfrm>
          <a:prstGeom prst="roundRect">
            <a:avLst>
              <a:gd name="adj" fmla="val 6000"/>
            </a:avLst>
          </a:prstGeom>
          <a:solidFill>
            <a:srgbClr val="0A1E24">
              <a:alpha val="80000"/>
            </a:srgbClr>
          </a:solidFill>
          <a:ln w="9525">
            <a:solidFill>
              <a:srgbClr val="1F4A55"/>
            </a:solidFill>
            <a:prstDash val="solid"/>
          </a:ln>
        </p:spPr>
      </p:sp>
      <p:sp>
        <p:nvSpPr>
          <p:cNvPr id="15" name="Text 12"/>
          <p:cNvSpPr txBox="1"/>
          <p:nvPr/>
        </p:nvSpPr>
        <p:spPr>
          <a:xfrm>
            <a:off x="8193024" y="2286000"/>
            <a:ext cx="320040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Microsoft YaHei" pitchFamily="34" charset="0"/>
                <a:ea typeface="Microsoft YaHei" pitchFamily="34" charset="-122"/>
                <a:cs typeface="Microsoft YaHei" pitchFamily="34" charset="-120"/>
              </a:rPr>
              <a:t>1号店</a:t>
            </a:r>
            <a:endParaRPr lang="en-US" sz="3000" dirty="0"/>
          </a:p>
        </p:txBody>
      </p:sp>
      <p:sp>
        <p:nvSpPr>
          <p:cNvPr id="16" name="Text 13"/>
          <p:cNvSpPr txBox="1"/>
          <p:nvPr/>
        </p:nvSpPr>
        <p:spPr>
          <a:xfrm>
            <a:off x="8193024" y="3291840"/>
            <a:ext cx="3200400" cy="274320"/>
          </a:xfrm>
          <a:prstGeom prst="rect">
            <a:avLst/>
          </a:prstGeom>
          <a:noFill/>
          <a:ln/>
        </p:spPr>
        <p:txBody>
          <a:bodyPr wrap="square" lIns="0" tIns="0" rIns="0" bIns="0" rtlCol="0" anchor="ctr"/>
          <a:lstStyle/>
          <a:p>
            <a:pPr algn="ctr" indent="0" marL="0">
              <a:buNone/>
            </a:pPr>
            <a:r>
              <a:rPr lang="en-US" sz="1200" b="1" dirty="0">
                <a:solidFill>
                  <a:srgbClr val="7FD9DF"/>
                </a:solidFill>
                <a:latin typeface="Arial" pitchFamily="34" charset="0"/>
                <a:ea typeface="Arial" pitchFamily="34" charset="-122"/>
                <a:cs typeface="Arial" pitchFamily="34" charset="-120"/>
              </a:rPr>
              <a:t>Yihaodian (YHD)</a:t>
            </a:r>
            <a:endParaRPr lang="en-US" sz="1200" dirty="0"/>
          </a:p>
        </p:txBody>
      </p:sp>
      <p:sp>
        <p:nvSpPr>
          <p:cNvPr id="17" name="Text 14"/>
          <p:cNvSpPr txBox="1"/>
          <p:nvPr/>
        </p:nvSpPr>
        <p:spPr>
          <a:xfrm>
            <a:off x="8193024" y="3566160"/>
            <a:ext cx="3200400" cy="228600"/>
          </a:xfrm>
          <a:prstGeom prst="rect">
            <a:avLst/>
          </a:prstGeom>
          <a:noFill/>
          <a:ln/>
        </p:spPr>
        <p:txBody>
          <a:bodyPr wrap="square" lIns="0" tIns="0" rIns="0" bIns="0" rtlCol="0" anchor="ctr"/>
          <a:lstStyle/>
          <a:p>
            <a:pPr algn="ctr" indent="0" marL="0">
              <a:buNone/>
            </a:pPr>
            <a:r>
              <a:rPr lang="en-US" sz="950" dirty="0">
                <a:solidFill>
                  <a:srgbClr val="8FA9AE"/>
                </a:solidFill>
                <a:latin typeface="Arial" pitchFamily="34" charset="0"/>
                <a:ea typeface="Arial" pitchFamily="34" charset="-122"/>
                <a:cs typeface="Arial" pitchFamily="34" charset="-120"/>
              </a:rPr>
              <a:t>E-commerce</a:t>
            </a:r>
            <a:endParaRPr lang="en-US" sz="950" dirty="0"/>
          </a:p>
        </p:txBody>
      </p:sp>
      <p:sp>
        <p:nvSpPr>
          <p:cNvPr id="18" name="Shape 15"/>
          <p:cNvSpPr/>
          <p:nvPr/>
        </p:nvSpPr>
        <p:spPr>
          <a:xfrm>
            <a:off x="548640" y="4114800"/>
            <a:ext cx="3566160" cy="1828800"/>
          </a:xfrm>
          <a:prstGeom prst="roundRect">
            <a:avLst>
              <a:gd name="adj" fmla="val 6000"/>
            </a:avLst>
          </a:prstGeom>
          <a:solidFill>
            <a:srgbClr val="0A1E24">
              <a:alpha val="80000"/>
            </a:srgbClr>
          </a:solidFill>
          <a:ln w="9525">
            <a:solidFill>
              <a:srgbClr val="1F4A55"/>
            </a:solidFill>
            <a:prstDash val="solid"/>
          </a:ln>
        </p:spPr>
      </p:sp>
      <p:sp>
        <p:nvSpPr>
          <p:cNvPr id="19" name="Text 16"/>
          <p:cNvSpPr txBox="1"/>
          <p:nvPr/>
        </p:nvSpPr>
        <p:spPr>
          <a:xfrm>
            <a:off x="731520" y="4297680"/>
            <a:ext cx="320040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Microsoft YaHei" pitchFamily="34" charset="0"/>
                <a:ea typeface="Microsoft YaHei" pitchFamily="34" charset="-122"/>
                <a:cs typeface="Microsoft YaHei" pitchFamily="34" charset="-120"/>
              </a:rPr>
              <a:t>闲鱼</a:t>
            </a:r>
            <a:endParaRPr lang="en-US" sz="3000" dirty="0"/>
          </a:p>
        </p:txBody>
      </p:sp>
      <p:sp>
        <p:nvSpPr>
          <p:cNvPr id="20" name="Text 17"/>
          <p:cNvSpPr txBox="1"/>
          <p:nvPr/>
        </p:nvSpPr>
        <p:spPr>
          <a:xfrm>
            <a:off x="731520" y="5303520"/>
            <a:ext cx="3200400" cy="274320"/>
          </a:xfrm>
          <a:prstGeom prst="rect">
            <a:avLst/>
          </a:prstGeom>
          <a:noFill/>
          <a:ln/>
        </p:spPr>
        <p:txBody>
          <a:bodyPr wrap="square" lIns="0" tIns="0" rIns="0" bIns="0" rtlCol="0" anchor="ctr"/>
          <a:lstStyle/>
          <a:p>
            <a:pPr algn="ctr" indent="0" marL="0">
              <a:buNone/>
            </a:pPr>
            <a:r>
              <a:rPr lang="en-US" sz="1200" b="1" dirty="0">
                <a:solidFill>
                  <a:srgbClr val="7FD9DF"/>
                </a:solidFill>
                <a:latin typeface="Arial" pitchFamily="34" charset="0"/>
                <a:ea typeface="Arial" pitchFamily="34" charset="-122"/>
                <a:cs typeface="Arial" pitchFamily="34" charset="-120"/>
              </a:rPr>
              <a:t>Xianyu</a:t>
            </a:r>
            <a:endParaRPr lang="en-US" sz="1200" dirty="0"/>
          </a:p>
        </p:txBody>
      </p:sp>
      <p:sp>
        <p:nvSpPr>
          <p:cNvPr id="21" name="Text 18"/>
          <p:cNvSpPr txBox="1"/>
          <p:nvPr/>
        </p:nvSpPr>
        <p:spPr>
          <a:xfrm>
            <a:off x="731520" y="5577840"/>
            <a:ext cx="3200400" cy="228600"/>
          </a:xfrm>
          <a:prstGeom prst="rect">
            <a:avLst/>
          </a:prstGeom>
          <a:noFill/>
          <a:ln/>
        </p:spPr>
        <p:txBody>
          <a:bodyPr wrap="square" lIns="0" tIns="0" rIns="0" bIns="0" rtlCol="0" anchor="ctr"/>
          <a:lstStyle/>
          <a:p>
            <a:pPr algn="ctr" indent="0" marL="0">
              <a:buNone/>
            </a:pPr>
            <a:r>
              <a:rPr lang="en-US" sz="950" dirty="0">
                <a:solidFill>
                  <a:srgbClr val="8FA9AE"/>
                </a:solidFill>
                <a:latin typeface="Arial" pitchFamily="34" charset="0"/>
                <a:ea typeface="Arial" pitchFamily="34" charset="-122"/>
                <a:cs typeface="Arial" pitchFamily="34" charset="-120"/>
              </a:rPr>
              <a:t>Internet platform</a:t>
            </a:r>
            <a:endParaRPr lang="en-US" sz="950" dirty="0"/>
          </a:p>
        </p:txBody>
      </p:sp>
      <p:sp>
        <p:nvSpPr>
          <p:cNvPr id="22" name="Shape 19"/>
          <p:cNvSpPr/>
          <p:nvPr/>
        </p:nvSpPr>
        <p:spPr>
          <a:xfrm>
            <a:off x="4279392" y="4114800"/>
            <a:ext cx="3566160" cy="1828800"/>
          </a:xfrm>
          <a:prstGeom prst="roundRect">
            <a:avLst>
              <a:gd name="adj" fmla="val 6000"/>
            </a:avLst>
          </a:prstGeom>
          <a:solidFill>
            <a:srgbClr val="0A1E24">
              <a:alpha val="80000"/>
            </a:srgbClr>
          </a:solidFill>
          <a:ln w="9525">
            <a:solidFill>
              <a:srgbClr val="1F4A55"/>
            </a:solidFill>
            <a:prstDash val="solid"/>
          </a:ln>
        </p:spPr>
      </p:sp>
      <p:sp>
        <p:nvSpPr>
          <p:cNvPr id="23" name="Text 20"/>
          <p:cNvSpPr txBox="1"/>
          <p:nvPr/>
        </p:nvSpPr>
        <p:spPr>
          <a:xfrm>
            <a:off x="4462272" y="4297680"/>
            <a:ext cx="320040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1500</a:t>
            </a:r>
            <a:endParaRPr lang="en-US" sz="2800" dirty="0"/>
          </a:p>
          <a:p>
            <a:pPr algn="ctr" indent="0" marL="0">
              <a:buNone/>
            </a:pPr>
            <a:r>
              <a:rPr lang="en-US" sz="900" spc="300" kern="0" dirty="0">
                <a:solidFill>
                  <a:srgbClr val="FFFFFF"/>
                </a:solidFill>
                <a:latin typeface="Arial" pitchFamily="34" charset="0"/>
                <a:ea typeface="Arial" pitchFamily="34" charset="-122"/>
                <a:cs typeface="Arial" pitchFamily="34" charset="-120"/>
              </a:rPr>
              <a:t>LUXURY CAR CLUB</a:t>
            </a:r>
            <a:endParaRPr lang="en-US" sz="2800" dirty="0"/>
          </a:p>
        </p:txBody>
      </p:sp>
      <p:sp>
        <p:nvSpPr>
          <p:cNvPr id="24" name="Text 21"/>
          <p:cNvSpPr txBox="1"/>
          <p:nvPr/>
        </p:nvSpPr>
        <p:spPr>
          <a:xfrm>
            <a:off x="4462272" y="5303520"/>
            <a:ext cx="3200400" cy="274320"/>
          </a:xfrm>
          <a:prstGeom prst="rect">
            <a:avLst/>
          </a:prstGeom>
          <a:noFill/>
          <a:ln/>
        </p:spPr>
        <p:txBody>
          <a:bodyPr wrap="square" lIns="0" tIns="0" rIns="0" bIns="0" rtlCol="0" anchor="ctr"/>
          <a:lstStyle/>
          <a:p>
            <a:pPr algn="ctr" indent="0" marL="0">
              <a:buNone/>
            </a:pPr>
            <a:r>
              <a:rPr lang="en-US" sz="1200" b="1" dirty="0">
                <a:solidFill>
                  <a:srgbClr val="7FD9DF"/>
                </a:solidFill>
                <a:latin typeface="Arial" pitchFamily="34" charset="0"/>
                <a:ea typeface="Arial" pitchFamily="34" charset="-122"/>
                <a:cs typeface="Arial" pitchFamily="34" charset="-120"/>
              </a:rPr>
              <a:t>1500 Luxury Car Club Union</a:t>
            </a:r>
            <a:endParaRPr lang="en-US" sz="1200" dirty="0"/>
          </a:p>
        </p:txBody>
      </p:sp>
      <p:sp>
        <p:nvSpPr>
          <p:cNvPr id="25" name="Text 22"/>
          <p:cNvSpPr txBox="1"/>
          <p:nvPr/>
        </p:nvSpPr>
        <p:spPr>
          <a:xfrm>
            <a:off x="4462272" y="5577840"/>
            <a:ext cx="3200400" cy="228600"/>
          </a:xfrm>
          <a:prstGeom prst="rect">
            <a:avLst/>
          </a:prstGeom>
          <a:noFill/>
          <a:ln/>
        </p:spPr>
        <p:txBody>
          <a:bodyPr wrap="square" lIns="0" tIns="0" rIns="0" bIns="0" rtlCol="0" anchor="ctr"/>
          <a:lstStyle/>
          <a:p>
            <a:pPr algn="ctr" indent="0" marL="0">
              <a:buNone/>
            </a:pPr>
            <a:r>
              <a:rPr lang="en-US" sz="950" dirty="0">
                <a:solidFill>
                  <a:srgbClr val="8FA9AE"/>
                </a:solidFill>
                <a:latin typeface="Arial" pitchFamily="34" charset="0"/>
                <a:ea typeface="Arial" pitchFamily="34" charset="-122"/>
                <a:cs typeface="Arial" pitchFamily="34" charset="-120"/>
              </a:rPr>
              <a:t>Premium community</a:t>
            </a:r>
            <a:endParaRPr lang="en-US" sz="950" dirty="0"/>
          </a:p>
        </p:txBody>
      </p:sp>
      <p:sp>
        <p:nvSpPr>
          <p:cNvPr id="26" name="Shape 23"/>
          <p:cNvSpPr/>
          <p:nvPr/>
        </p:nvSpPr>
        <p:spPr>
          <a:xfrm>
            <a:off x="8010144" y="4114800"/>
            <a:ext cx="3566160" cy="1828800"/>
          </a:xfrm>
          <a:prstGeom prst="roundRect">
            <a:avLst>
              <a:gd name="adj" fmla="val 6000"/>
            </a:avLst>
          </a:prstGeom>
          <a:solidFill>
            <a:srgbClr val="0A1E24">
              <a:alpha val="80000"/>
            </a:srgbClr>
          </a:solidFill>
          <a:ln w="9525">
            <a:solidFill>
              <a:srgbClr val="1F4A55"/>
            </a:solidFill>
            <a:prstDash val="solid"/>
          </a:ln>
        </p:spPr>
      </p:sp>
      <p:sp>
        <p:nvSpPr>
          <p:cNvPr id="27" name="Text 24"/>
          <p:cNvSpPr txBox="1"/>
          <p:nvPr/>
        </p:nvSpPr>
        <p:spPr>
          <a:xfrm>
            <a:off x="8193024" y="4297680"/>
            <a:ext cx="320040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Microsoft YaHei" pitchFamily="34" charset="0"/>
                <a:ea typeface="Microsoft YaHei" pitchFamily="34" charset="-122"/>
                <a:cs typeface="Microsoft YaHei" pitchFamily="34" charset="-120"/>
              </a:rPr>
              <a:t>二次源</a:t>
            </a:r>
            <a:endParaRPr lang="en-US" sz="2800" dirty="0"/>
          </a:p>
        </p:txBody>
      </p:sp>
      <p:sp>
        <p:nvSpPr>
          <p:cNvPr id="28" name="Text 25"/>
          <p:cNvSpPr txBox="1"/>
          <p:nvPr/>
        </p:nvSpPr>
        <p:spPr>
          <a:xfrm>
            <a:off x="8193024" y="5303520"/>
            <a:ext cx="3200400" cy="274320"/>
          </a:xfrm>
          <a:prstGeom prst="rect">
            <a:avLst/>
          </a:prstGeom>
          <a:noFill/>
          <a:ln/>
        </p:spPr>
        <p:txBody>
          <a:bodyPr wrap="square" lIns="0" tIns="0" rIns="0" bIns="0" rtlCol="0" anchor="ctr"/>
          <a:lstStyle/>
          <a:p>
            <a:pPr algn="ctr" indent="0" marL="0">
              <a:buNone/>
            </a:pPr>
            <a:r>
              <a:rPr lang="en-US" sz="1200" b="1" dirty="0">
                <a:solidFill>
                  <a:srgbClr val="7FD9DF"/>
                </a:solidFill>
                <a:latin typeface="Arial" pitchFamily="34" charset="0"/>
                <a:ea typeface="Arial" pitchFamily="34" charset="-122"/>
                <a:cs typeface="Arial" pitchFamily="34" charset="-120"/>
              </a:rPr>
              <a:t>Erciyuan</a:t>
            </a:r>
            <a:endParaRPr lang="en-US" sz="1200" dirty="0"/>
          </a:p>
        </p:txBody>
      </p:sp>
      <p:sp>
        <p:nvSpPr>
          <p:cNvPr id="29" name="Text 26"/>
          <p:cNvSpPr txBox="1"/>
          <p:nvPr/>
        </p:nvSpPr>
        <p:spPr>
          <a:xfrm>
            <a:off x="8193024" y="5577840"/>
            <a:ext cx="3200400" cy="228600"/>
          </a:xfrm>
          <a:prstGeom prst="rect">
            <a:avLst/>
          </a:prstGeom>
          <a:noFill/>
          <a:ln/>
        </p:spPr>
        <p:txBody>
          <a:bodyPr wrap="square" lIns="0" tIns="0" rIns="0" bIns="0" rtlCol="0" anchor="ctr"/>
          <a:lstStyle/>
          <a:p>
            <a:pPr algn="ctr" indent="0" marL="0">
              <a:buNone/>
            </a:pPr>
            <a:r>
              <a:rPr lang="en-US" sz="950" dirty="0">
                <a:solidFill>
                  <a:srgbClr val="8FA9AE"/>
                </a:solidFill>
                <a:latin typeface="Arial" pitchFamily="34" charset="0"/>
                <a:ea typeface="Arial" pitchFamily="34" charset="-122"/>
                <a:cs typeface="Arial" pitchFamily="34" charset="-120"/>
              </a:rPr>
              <a:t>Consumer fintech tool</a:t>
            </a:r>
            <a:endParaRPr lang="en-US" sz="950" dirty="0"/>
          </a:p>
        </p:txBody>
      </p:sp>
      <p:sp>
        <p:nvSpPr>
          <p:cNvPr id="30" name="Text 27"/>
          <p:cNvSpPr txBox="1"/>
          <p:nvPr/>
        </p:nvSpPr>
        <p:spPr>
          <a:xfrm>
            <a:off x="548640" y="6053328"/>
            <a:ext cx="10972800" cy="228600"/>
          </a:xfrm>
          <a:prstGeom prst="rect">
            <a:avLst/>
          </a:prstGeom>
          <a:noFill/>
          <a:ln/>
        </p:spPr>
        <p:txBody>
          <a:bodyPr wrap="square" lIns="0" tIns="0" rIns="0" bIns="0" rtlCol="0" anchor="ctr"/>
          <a:lstStyle/>
          <a:p>
            <a:pPr indent="0" marL="0">
              <a:buNone/>
            </a:pPr>
            <a:r>
              <a:rPr lang="en-US" sz="850" dirty="0">
                <a:solidFill>
                  <a:srgbClr val="5E7A80"/>
                </a:solidFill>
                <a:latin typeface="Arial" pitchFamily="34" charset="0"/>
                <a:ea typeface="Arial" pitchFamily="34" charset="-122"/>
                <a:cs typeface="Arial" pitchFamily="34" charset="-120"/>
              </a:rPr>
              <a:t>Brand names are used solely to describe our service experience. All trademarks belong to their respective owners.</a:t>
            </a:r>
            <a:endParaRPr lang="en-US" sz="850" dirty="0"/>
          </a:p>
        </p:txBody>
      </p:sp>
      <p:pic>
        <p:nvPicPr>
          <p:cNvPr id="31" name="Image 1" descr="/tmp/claude-0/-home-user-website/1713201c-620c-5ce1-b439-a99d37e654e6/scratchpad/build/../assets/jm_logo.png">    </p:cNvPr>
          <p:cNvPicPr>
            <a:picLocks noChangeAspect="1"/>
          </p:cNvPicPr>
          <p:nvPr/>
        </p:nvPicPr>
        <p:blipFill>
          <a:blip r:embed="rId2"/>
          <a:stretch>
            <a:fillRect/>
          </a:stretch>
        </p:blipFill>
        <p:spPr>
          <a:xfrm>
            <a:off x="548640" y="6336792"/>
            <a:ext cx="274320" cy="235915"/>
          </a:xfrm>
          <a:prstGeom prst="rect">
            <a:avLst/>
          </a:prstGeom>
        </p:spPr>
      </p:pic>
      <p:sp>
        <p:nvSpPr>
          <p:cNvPr id="32" name="Text 28"/>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33" name="Text 29"/>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claude-0/-home-user-website/1713201c-620c-5ce1-b439-a99d37e654e6/scratchpad/build/../assets/jm_bg.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512064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CLIENT CASE  ·  01</a:t>
            </a:r>
            <a:endParaRPr lang="en-US" sz="1100" dirty="0"/>
          </a:p>
        </p:txBody>
      </p:sp>
      <p:sp>
        <p:nvSpPr>
          <p:cNvPr id="4" name="Text 1"/>
          <p:cNvSpPr txBox="1"/>
          <p:nvPr/>
        </p:nvSpPr>
        <p:spPr>
          <a:xfrm>
            <a:off x="548640" y="749808"/>
            <a:ext cx="5120640" cy="6400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L'Oréal China</a:t>
            </a:r>
            <a:endParaRPr lang="en-US" sz="2600" dirty="0"/>
          </a:p>
        </p:txBody>
      </p:sp>
      <p:sp>
        <p:nvSpPr>
          <p:cNvPr id="5" name="Text 2"/>
          <p:cNvSpPr txBox="1"/>
          <p:nvPr/>
        </p:nvSpPr>
        <p:spPr>
          <a:xfrm>
            <a:off x="548640" y="1389888"/>
            <a:ext cx="512064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Marketing digital &amp; IT services</a:t>
            </a:r>
            <a:endParaRPr lang="en-US" sz="1300" dirty="0"/>
          </a:p>
        </p:txBody>
      </p:sp>
      <p:sp>
        <p:nvSpPr>
          <p:cNvPr id="6" name="Text 3"/>
          <p:cNvSpPr txBox="1"/>
          <p:nvPr/>
        </p:nvSpPr>
        <p:spPr>
          <a:xfrm>
            <a:off x="548640" y="2057400"/>
            <a:ext cx="4937760" cy="1371600"/>
          </a:xfrm>
          <a:prstGeom prst="rect">
            <a:avLst/>
          </a:prstGeom>
          <a:noFill/>
          <a:ln/>
        </p:spPr>
        <p:txBody>
          <a:bodyPr wrap="square" lIns="0" tIns="0" rIns="0" bIns="0" rtlCol="0" anchor="t"/>
          <a:lstStyle/>
          <a:p>
            <a:pPr indent="0" marL="0">
              <a:lnSpc>
                <a:spcPct val="130000"/>
              </a:lnSpc>
              <a:buNone/>
            </a:pPr>
            <a:r>
              <a:rPr lang="en-US" sz="1250" dirty="0">
                <a:solidFill>
                  <a:srgbClr val="E6F1F3"/>
                </a:solidFill>
                <a:latin typeface="Arial" pitchFamily="34" charset="0"/>
                <a:ea typeface="Arial" pitchFamily="34" charset="-122"/>
                <a:cs typeface="Arial" pitchFamily="34" charset="-120"/>
              </a:rPr>
              <a:t>Long-term IT services for L'Oréal's marketing and OA management systems — from project advice to continuous iteration and maintenance, meeting the brand's strict security requirements.</a:t>
            </a:r>
            <a:endParaRPr lang="en-US" sz="1250" dirty="0"/>
          </a:p>
        </p:txBody>
      </p:sp>
      <p:sp>
        <p:nvSpPr>
          <p:cNvPr id="7" name="Text 4"/>
          <p:cNvSpPr txBox="1"/>
          <p:nvPr/>
        </p:nvSpPr>
        <p:spPr>
          <a:xfrm>
            <a:off x="548640" y="3520440"/>
            <a:ext cx="3657600" cy="274320"/>
          </a:xfrm>
          <a:prstGeom prst="rect">
            <a:avLst/>
          </a:prstGeom>
          <a:noFill/>
          <a:ln/>
        </p:spPr>
        <p:txBody>
          <a:bodyPr wrap="square" lIns="0" tIns="0" rIns="0" bIns="0" rtlCol="0" anchor="ctr"/>
          <a:lstStyle/>
          <a:p>
            <a:pPr indent="0" marL="0">
              <a:buNone/>
            </a:pPr>
            <a:r>
              <a:rPr lang="en-US" sz="1050" b="1" spc="300" kern="0" dirty="0">
                <a:solidFill>
                  <a:srgbClr val="2FB8C4"/>
                </a:solidFill>
                <a:latin typeface="Arial" pitchFamily="34" charset="0"/>
                <a:ea typeface="Arial" pitchFamily="34" charset="-122"/>
                <a:cs typeface="Arial" pitchFamily="34" charset="-120"/>
              </a:rPr>
              <a:t>SCOPE OF WORK</a:t>
            </a:r>
            <a:endParaRPr lang="en-US" sz="1050" dirty="0"/>
          </a:p>
        </p:txBody>
      </p:sp>
      <p:pic>
        <p:nvPicPr>
          <p:cNvPr id="8" name="Image 1" descr="preencoded.png">    </p:cNvPr>
          <p:cNvPicPr>
            <a:picLocks noChangeAspect="1"/>
          </p:cNvPicPr>
          <p:nvPr/>
        </p:nvPicPr>
        <p:blipFill>
          <a:blip r:embed="rId2"/>
          <a:stretch>
            <a:fillRect/>
          </a:stretch>
        </p:blipFill>
        <p:spPr>
          <a:xfrm>
            <a:off x="548640" y="3922776"/>
            <a:ext cx="219456" cy="219456"/>
          </a:xfrm>
          <a:prstGeom prst="rect">
            <a:avLst/>
          </a:prstGeom>
        </p:spPr>
      </p:pic>
      <p:sp>
        <p:nvSpPr>
          <p:cNvPr id="9" name="Text 5"/>
          <p:cNvSpPr txBox="1"/>
          <p:nvPr/>
        </p:nvSpPr>
        <p:spPr>
          <a:xfrm>
            <a:off x="896112" y="3886200"/>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Project planning &amp; technical advisory</a:t>
            </a:r>
            <a:endParaRPr lang="en-US" sz="1200" dirty="0"/>
          </a:p>
        </p:txBody>
      </p:sp>
      <p:pic>
        <p:nvPicPr>
          <p:cNvPr id="10" name="Image 2" descr="preencoded.png">    </p:cNvPr>
          <p:cNvPicPr>
            <a:picLocks noChangeAspect="1"/>
          </p:cNvPicPr>
          <p:nvPr/>
        </p:nvPicPr>
        <p:blipFill>
          <a:blip r:embed="rId3"/>
          <a:stretch>
            <a:fillRect/>
          </a:stretch>
        </p:blipFill>
        <p:spPr>
          <a:xfrm>
            <a:off x="548640" y="4306824"/>
            <a:ext cx="219456" cy="219456"/>
          </a:xfrm>
          <a:prstGeom prst="rect">
            <a:avLst/>
          </a:prstGeom>
        </p:spPr>
      </p:pic>
      <p:sp>
        <p:nvSpPr>
          <p:cNvPr id="11" name="Text 6"/>
          <p:cNvSpPr txBox="1"/>
          <p:nvPr/>
        </p:nvSpPr>
        <p:spPr>
          <a:xfrm>
            <a:off x="896112" y="4270248"/>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OA management H5 &amp; creative asset management</a:t>
            </a:r>
            <a:endParaRPr lang="en-US" sz="1200" dirty="0"/>
          </a:p>
        </p:txBody>
      </p:sp>
      <p:pic>
        <p:nvPicPr>
          <p:cNvPr id="12" name="Image 3" descr="preencoded.png">    </p:cNvPr>
          <p:cNvPicPr>
            <a:picLocks noChangeAspect="1"/>
          </p:cNvPicPr>
          <p:nvPr/>
        </p:nvPicPr>
        <p:blipFill>
          <a:blip r:embed="rId4"/>
          <a:stretch>
            <a:fillRect/>
          </a:stretch>
        </p:blipFill>
        <p:spPr>
          <a:xfrm>
            <a:off x="548640" y="4690872"/>
            <a:ext cx="219456" cy="219456"/>
          </a:xfrm>
          <a:prstGeom prst="rect">
            <a:avLst/>
          </a:prstGeom>
        </p:spPr>
      </p:pic>
      <p:sp>
        <p:nvSpPr>
          <p:cNvPr id="13" name="Text 7"/>
          <p:cNvSpPr txBox="1"/>
          <p:nvPr/>
        </p:nvSpPr>
        <p:spPr>
          <a:xfrm>
            <a:off x="896112" y="4654296"/>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Marketing H5 campaigns &amp; mini programs</a:t>
            </a:r>
            <a:endParaRPr lang="en-US" sz="1200" dirty="0"/>
          </a:p>
        </p:txBody>
      </p:sp>
      <p:pic>
        <p:nvPicPr>
          <p:cNvPr id="14" name="Image 4" descr="preencoded.png">    </p:cNvPr>
          <p:cNvPicPr>
            <a:picLocks noChangeAspect="1"/>
          </p:cNvPicPr>
          <p:nvPr/>
        </p:nvPicPr>
        <p:blipFill>
          <a:blip r:embed="rId5"/>
          <a:stretch>
            <a:fillRect/>
          </a:stretch>
        </p:blipFill>
        <p:spPr>
          <a:xfrm>
            <a:off x="548640" y="5074920"/>
            <a:ext cx="219456" cy="219456"/>
          </a:xfrm>
          <a:prstGeom prst="rect">
            <a:avLst/>
          </a:prstGeom>
        </p:spPr>
      </p:pic>
      <p:sp>
        <p:nvSpPr>
          <p:cNvPr id="15" name="Text 8"/>
          <p:cNvSpPr txBox="1"/>
          <p:nvPr/>
        </p:nvSpPr>
        <p:spPr>
          <a:xfrm>
            <a:off x="896112" y="5038344"/>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Multi-account WeChat management platform</a:t>
            </a:r>
            <a:endParaRPr lang="en-US" sz="1200" dirty="0"/>
          </a:p>
        </p:txBody>
      </p:sp>
      <p:sp>
        <p:nvSpPr>
          <p:cNvPr id="16" name="Text 9"/>
          <p:cNvSpPr txBox="1"/>
          <p:nvPr/>
        </p:nvSpPr>
        <p:spPr>
          <a:xfrm>
            <a:off x="3291840" y="457200"/>
            <a:ext cx="2194560" cy="274320"/>
          </a:xfrm>
          <a:prstGeom prst="roundRect">
            <a:avLst>
              <a:gd name="adj" fmla="val 50000"/>
            </a:avLst>
          </a:prstGeom>
          <a:solidFill>
            <a:srgbClr val="2FB8C4"/>
          </a:solidFill>
          <a:ln w="6350">
            <a:solidFill>
              <a:srgbClr val="2FB8C4"/>
            </a:solidFill>
          </a:ln>
        </p:spPr>
        <p:txBody>
          <a:bodyPr wrap="square" lIns="0" tIns="0" rIns="0" bIns="0" rtlCol="0" anchor="ctr"/>
          <a:lstStyle/>
          <a:p>
            <a:pPr algn="ctr" indent="0" marL="0">
              <a:buNone/>
            </a:pPr>
            <a:r>
              <a:rPr lang="en-US" sz="950" b="1" dirty="0">
                <a:solidFill>
                  <a:srgbClr val="061116"/>
                </a:solidFill>
                <a:latin typeface="Arial" pitchFamily="34" charset="0"/>
                <a:ea typeface="Arial" pitchFamily="34" charset="-122"/>
                <a:cs typeface="Arial" pitchFamily="34" charset="-120"/>
              </a:rPr>
              <a:t>LONG-TERM PARTNERSHIP</a:t>
            </a:r>
            <a:endParaRPr lang="en-US" sz="950" dirty="0"/>
          </a:p>
        </p:txBody>
      </p:sp>
      <p:pic>
        <p:nvPicPr>
          <p:cNvPr id="17" name="Image 5" descr="/tmp/claude-0/-home-user-website/1713201c-620c-5ce1-b439-a99d37e654e6/scratchpad/build/../assets/shot22.png">    </p:cNvPr>
          <p:cNvPicPr>
            <a:picLocks noChangeAspect="1"/>
          </p:cNvPicPr>
          <p:nvPr/>
        </p:nvPicPr>
        <p:blipFill>
          <a:blip r:embed="rId6"/>
          <a:stretch>
            <a:fillRect/>
          </a:stretch>
        </p:blipFill>
        <p:spPr>
          <a:xfrm>
            <a:off x="5715000" y="914400"/>
            <a:ext cx="4754880" cy="3493381"/>
          </a:xfrm>
          <a:prstGeom prst="rect">
            <a:avLst/>
          </a:prstGeom>
        </p:spPr>
      </p:pic>
      <p:pic>
        <p:nvPicPr>
          <p:cNvPr id="18" name="Image 6" descr="/tmp/claude-0/-home-user-website/1713201c-620c-5ce1-b439-a99d37e654e6/scratchpad/build/../assets/shot24.png">    </p:cNvPr>
          <p:cNvPicPr>
            <a:picLocks noChangeAspect="1"/>
          </p:cNvPicPr>
          <p:nvPr/>
        </p:nvPicPr>
        <p:blipFill>
          <a:blip r:embed="rId7"/>
          <a:stretch>
            <a:fillRect/>
          </a:stretch>
        </p:blipFill>
        <p:spPr>
          <a:xfrm>
            <a:off x="9646920" y="1234440"/>
            <a:ext cx="1976374" cy="3566160"/>
          </a:xfrm>
          <a:prstGeom prst="rect">
            <a:avLst/>
          </a:prstGeom>
        </p:spPr>
      </p:pic>
      <p:pic>
        <p:nvPicPr>
          <p:cNvPr id="19" name="Image 7" descr="/tmp/claude-0/-home-user-website/1713201c-620c-5ce1-b439-a99d37e654e6/scratchpad/build/../assets/shot23.png">    </p:cNvPr>
          <p:cNvPicPr>
            <a:picLocks noChangeAspect="1"/>
          </p:cNvPicPr>
          <p:nvPr/>
        </p:nvPicPr>
        <p:blipFill>
          <a:blip r:embed="rId8"/>
          <a:stretch>
            <a:fillRect/>
          </a:stretch>
        </p:blipFill>
        <p:spPr>
          <a:xfrm>
            <a:off x="8595360" y="3566160"/>
            <a:ext cx="1368320" cy="2514600"/>
          </a:xfrm>
          <a:prstGeom prst="rect">
            <a:avLst/>
          </a:prstGeom>
        </p:spPr>
      </p:pic>
      <p:pic>
        <p:nvPicPr>
          <p:cNvPr id="20" name="Image 8" descr="/tmp/claude-0/-home-user-website/1713201c-620c-5ce1-b439-a99d37e654e6/scratchpad/build/../assets/jm_logo.png">    </p:cNvPr>
          <p:cNvPicPr>
            <a:picLocks noChangeAspect="1"/>
          </p:cNvPicPr>
          <p:nvPr/>
        </p:nvPicPr>
        <p:blipFill>
          <a:blip r:embed="rId9"/>
          <a:stretch>
            <a:fillRect/>
          </a:stretch>
        </p:blipFill>
        <p:spPr>
          <a:xfrm>
            <a:off x="548640" y="6336792"/>
            <a:ext cx="274320" cy="235915"/>
          </a:xfrm>
          <a:prstGeom prst="rect">
            <a:avLst/>
          </a:prstGeom>
        </p:spPr>
      </p:pic>
      <p:sp>
        <p:nvSpPr>
          <p:cNvPr id="21" name="Text 10"/>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22" name="Text 11"/>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mp/claude-0/-home-user-website/1713201c-620c-5ce1-b439-a99d37e654e6/scratchpad/build/../assets/jm_bg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512064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CLIENT CASE  ·  02</a:t>
            </a:r>
            <a:endParaRPr lang="en-US" sz="1100" dirty="0"/>
          </a:p>
        </p:txBody>
      </p:sp>
      <p:sp>
        <p:nvSpPr>
          <p:cNvPr id="4" name="Text 1"/>
          <p:cNvSpPr txBox="1"/>
          <p:nvPr/>
        </p:nvSpPr>
        <p:spPr>
          <a:xfrm>
            <a:off x="548640" y="749808"/>
            <a:ext cx="5120640" cy="6400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1500 Luxury Car Club Union</a:t>
            </a:r>
            <a:endParaRPr lang="en-US" sz="2600" dirty="0"/>
          </a:p>
        </p:txBody>
      </p:sp>
      <p:sp>
        <p:nvSpPr>
          <p:cNvPr id="5" name="Text 2"/>
          <p:cNvSpPr txBox="1"/>
          <p:nvPr/>
        </p:nvSpPr>
        <p:spPr>
          <a:xfrm>
            <a:off x="548640" y="1389888"/>
            <a:ext cx="512064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Brand, platform &amp; events</a:t>
            </a:r>
            <a:endParaRPr lang="en-US" sz="1300" dirty="0"/>
          </a:p>
        </p:txBody>
      </p:sp>
      <p:sp>
        <p:nvSpPr>
          <p:cNvPr id="6" name="Text 3"/>
          <p:cNvSpPr txBox="1"/>
          <p:nvPr/>
        </p:nvSpPr>
        <p:spPr>
          <a:xfrm>
            <a:off x="548640" y="2057400"/>
            <a:ext cx="4937760" cy="1371600"/>
          </a:xfrm>
          <a:prstGeom prst="rect">
            <a:avLst/>
          </a:prstGeom>
          <a:noFill/>
          <a:ln/>
        </p:spPr>
        <p:txBody>
          <a:bodyPr wrap="square" lIns="0" tIns="0" rIns="0" bIns="0" rtlCol="0" anchor="t"/>
          <a:lstStyle/>
          <a:p>
            <a:pPr indent="0" marL="0">
              <a:lnSpc>
                <a:spcPct val="130000"/>
              </a:lnSpc>
              <a:buNone/>
            </a:pPr>
            <a:r>
              <a:rPr lang="en-US" sz="1250" dirty="0">
                <a:solidFill>
                  <a:srgbClr val="E6F1F3"/>
                </a:solidFill>
                <a:latin typeface="Arial" pitchFamily="34" charset="0"/>
                <a:ea typeface="Arial" pitchFamily="34" charset="-122"/>
                <a:cs typeface="Arial" pitchFamily="34" charset="-120"/>
              </a:rPr>
              <a:t>A club uniting premium car owners worldwide and bringing together luxury-brand owner clubs across China. We planned and delivered its complete online product suite and supporting marketing.</a:t>
            </a:r>
            <a:endParaRPr lang="en-US" sz="1250" dirty="0"/>
          </a:p>
        </p:txBody>
      </p:sp>
      <p:sp>
        <p:nvSpPr>
          <p:cNvPr id="7" name="Text 4"/>
          <p:cNvSpPr txBox="1"/>
          <p:nvPr/>
        </p:nvSpPr>
        <p:spPr>
          <a:xfrm>
            <a:off x="548640" y="3520440"/>
            <a:ext cx="3657600" cy="274320"/>
          </a:xfrm>
          <a:prstGeom prst="rect">
            <a:avLst/>
          </a:prstGeom>
          <a:noFill/>
          <a:ln/>
        </p:spPr>
        <p:txBody>
          <a:bodyPr wrap="square" lIns="0" tIns="0" rIns="0" bIns="0" rtlCol="0" anchor="ctr"/>
          <a:lstStyle/>
          <a:p>
            <a:pPr indent="0" marL="0">
              <a:buNone/>
            </a:pPr>
            <a:r>
              <a:rPr lang="en-US" sz="1050" b="1" spc="300" kern="0" dirty="0">
                <a:solidFill>
                  <a:srgbClr val="2FB8C4"/>
                </a:solidFill>
                <a:latin typeface="Arial" pitchFamily="34" charset="0"/>
                <a:ea typeface="Arial" pitchFamily="34" charset="-122"/>
                <a:cs typeface="Arial" pitchFamily="34" charset="-120"/>
              </a:rPr>
              <a:t>SCOPE OF WORK</a:t>
            </a:r>
            <a:endParaRPr lang="en-US" sz="1050" dirty="0"/>
          </a:p>
        </p:txBody>
      </p:sp>
      <p:pic>
        <p:nvPicPr>
          <p:cNvPr id="8" name="Image 1" descr="preencoded.png">    </p:cNvPr>
          <p:cNvPicPr>
            <a:picLocks noChangeAspect="1"/>
          </p:cNvPicPr>
          <p:nvPr/>
        </p:nvPicPr>
        <p:blipFill>
          <a:blip r:embed="rId2"/>
          <a:stretch>
            <a:fillRect/>
          </a:stretch>
        </p:blipFill>
        <p:spPr>
          <a:xfrm>
            <a:off x="548640" y="3922776"/>
            <a:ext cx="219456" cy="219456"/>
          </a:xfrm>
          <a:prstGeom prst="rect">
            <a:avLst/>
          </a:prstGeom>
        </p:spPr>
      </p:pic>
      <p:sp>
        <p:nvSpPr>
          <p:cNvPr id="9" name="Text 5"/>
          <p:cNvSpPr txBox="1"/>
          <p:nvPr/>
        </p:nvSpPr>
        <p:spPr>
          <a:xfrm>
            <a:off x="896112" y="3886200"/>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Brand communication strategy</a:t>
            </a:r>
            <a:endParaRPr lang="en-US" sz="1200" dirty="0"/>
          </a:p>
        </p:txBody>
      </p:sp>
      <p:pic>
        <p:nvPicPr>
          <p:cNvPr id="10" name="Image 2" descr="preencoded.png">    </p:cNvPr>
          <p:cNvPicPr>
            <a:picLocks noChangeAspect="1"/>
          </p:cNvPicPr>
          <p:nvPr/>
        </p:nvPicPr>
        <p:blipFill>
          <a:blip r:embed="rId3"/>
          <a:stretch>
            <a:fillRect/>
          </a:stretch>
        </p:blipFill>
        <p:spPr>
          <a:xfrm>
            <a:off x="548640" y="4306824"/>
            <a:ext cx="219456" cy="219456"/>
          </a:xfrm>
          <a:prstGeom prst="rect">
            <a:avLst/>
          </a:prstGeom>
        </p:spPr>
      </p:pic>
      <p:sp>
        <p:nvSpPr>
          <p:cNvPr id="11" name="Text 6"/>
          <p:cNvSpPr txBox="1"/>
          <p:nvPr/>
        </p:nvSpPr>
        <p:spPr>
          <a:xfrm>
            <a:off x="896112" y="4270248"/>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Website &amp; WeChat official account</a:t>
            </a:r>
            <a:endParaRPr lang="en-US" sz="1200" dirty="0"/>
          </a:p>
        </p:txBody>
      </p:sp>
      <p:pic>
        <p:nvPicPr>
          <p:cNvPr id="12" name="Image 3" descr="preencoded.png">    </p:cNvPr>
          <p:cNvPicPr>
            <a:picLocks noChangeAspect="1"/>
          </p:cNvPicPr>
          <p:nvPr/>
        </p:nvPicPr>
        <p:blipFill>
          <a:blip r:embed="rId4"/>
          <a:stretch>
            <a:fillRect/>
          </a:stretch>
        </p:blipFill>
        <p:spPr>
          <a:xfrm>
            <a:off x="548640" y="4690872"/>
            <a:ext cx="219456" cy="219456"/>
          </a:xfrm>
          <a:prstGeom prst="rect">
            <a:avLst/>
          </a:prstGeom>
        </p:spPr>
      </p:pic>
      <p:sp>
        <p:nvSpPr>
          <p:cNvPr id="13" name="Text 7"/>
          <p:cNvSpPr txBox="1"/>
          <p:nvPr/>
        </p:nvSpPr>
        <p:spPr>
          <a:xfrm>
            <a:off x="896112" y="4654296"/>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Community marketing mini program</a:t>
            </a:r>
            <a:endParaRPr lang="en-US" sz="1200" dirty="0"/>
          </a:p>
        </p:txBody>
      </p:sp>
      <p:pic>
        <p:nvPicPr>
          <p:cNvPr id="14" name="Image 4" descr="preencoded.png">    </p:cNvPr>
          <p:cNvPicPr>
            <a:picLocks noChangeAspect="1"/>
          </p:cNvPicPr>
          <p:nvPr/>
        </p:nvPicPr>
        <p:blipFill>
          <a:blip r:embed="rId5"/>
          <a:stretch>
            <a:fillRect/>
          </a:stretch>
        </p:blipFill>
        <p:spPr>
          <a:xfrm>
            <a:off x="548640" y="5074920"/>
            <a:ext cx="219456" cy="219456"/>
          </a:xfrm>
          <a:prstGeom prst="rect">
            <a:avLst/>
          </a:prstGeom>
        </p:spPr>
      </p:pic>
      <p:sp>
        <p:nvSpPr>
          <p:cNvPr id="15" name="Text 8"/>
          <p:cNvSpPr txBox="1"/>
          <p:nvPr/>
        </p:nvSpPr>
        <p:spPr>
          <a:xfrm>
            <a:off x="896112" y="5038344"/>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Exhibition planning &amp; on-site execution</a:t>
            </a:r>
            <a:endParaRPr lang="en-US" sz="1200" dirty="0"/>
          </a:p>
        </p:txBody>
      </p:sp>
      <p:pic>
        <p:nvPicPr>
          <p:cNvPr id="16" name="Image 5" descr="preencoded.png">    </p:cNvPr>
          <p:cNvPicPr>
            <a:picLocks noChangeAspect="1"/>
          </p:cNvPicPr>
          <p:nvPr/>
        </p:nvPicPr>
        <p:blipFill>
          <a:blip r:embed="rId6"/>
          <a:stretch>
            <a:fillRect/>
          </a:stretch>
        </p:blipFill>
        <p:spPr>
          <a:xfrm>
            <a:off x="548640" y="5458968"/>
            <a:ext cx="219456" cy="219456"/>
          </a:xfrm>
          <a:prstGeom prst="rect">
            <a:avLst/>
          </a:prstGeom>
        </p:spPr>
      </p:pic>
      <p:sp>
        <p:nvSpPr>
          <p:cNvPr id="17" name="Text 9"/>
          <p:cNvSpPr txBox="1"/>
          <p:nvPr/>
        </p:nvSpPr>
        <p:spPr>
          <a:xfrm>
            <a:off x="896112" y="5422392"/>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Ongoing operations advisory</a:t>
            </a:r>
            <a:endParaRPr lang="en-US" sz="1200" dirty="0"/>
          </a:p>
        </p:txBody>
      </p:sp>
      <p:pic>
        <p:nvPicPr>
          <p:cNvPr id="18" name="Image 6" descr="/tmp/claude-0/-home-user-website/1713201c-620c-5ce1-b439-a99d37e654e6/scratchpad/build/../assets/shot18.png">    </p:cNvPr>
          <p:cNvPicPr>
            <a:picLocks noChangeAspect="1"/>
          </p:cNvPicPr>
          <p:nvPr/>
        </p:nvPicPr>
        <p:blipFill>
          <a:blip r:embed="rId7"/>
          <a:stretch>
            <a:fillRect/>
          </a:stretch>
        </p:blipFill>
        <p:spPr>
          <a:xfrm>
            <a:off x="5577840" y="1097280"/>
            <a:ext cx="4937760" cy="3310315"/>
          </a:xfrm>
          <a:prstGeom prst="rect">
            <a:avLst/>
          </a:prstGeom>
        </p:spPr>
      </p:pic>
      <p:pic>
        <p:nvPicPr>
          <p:cNvPr id="19" name="Image 7" descr="/tmp/claude-0/-home-user-website/1713201c-620c-5ce1-b439-a99d37e654e6/scratchpad/build/../assets/shot20.png">    </p:cNvPr>
          <p:cNvPicPr>
            <a:picLocks noChangeAspect="1"/>
          </p:cNvPicPr>
          <p:nvPr/>
        </p:nvPicPr>
        <p:blipFill>
          <a:blip r:embed="rId8"/>
          <a:stretch>
            <a:fillRect/>
          </a:stretch>
        </p:blipFill>
        <p:spPr>
          <a:xfrm>
            <a:off x="8778240" y="2468880"/>
            <a:ext cx="1978038" cy="3611880"/>
          </a:xfrm>
          <a:prstGeom prst="rect">
            <a:avLst/>
          </a:prstGeom>
        </p:spPr>
      </p:pic>
      <p:pic>
        <p:nvPicPr>
          <p:cNvPr id="20" name="Image 8" descr="/tmp/claude-0/-home-user-website/1713201c-620c-5ce1-b439-a99d37e654e6/scratchpad/build/../assets/shot21.png">    </p:cNvPr>
          <p:cNvPicPr>
            <a:picLocks noChangeAspect="1"/>
          </p:cNvPicPr>
          <p:nvPr/>
        </p:nvPicPr>
        <p:blipFill>
          <a:blip r:embed="rId9"/>
          <a:stretch>
            <a:fillRect/>
          </a:stretch>
        </p:blipFill>
        <p:spPr>
          <a:xfrm>
            <a:off x="10332720" y="2011680"/>
            <a:ext cx="1994424" cy="3611880"/>
          </a:xfrm>
          <a:prstGeom prst="rect">
            <a:avLst/>
          </a:prstGeom>
        </p:spPr>
      </p:pic>
      <p:pic>
        <p:nvPicPr>
          <p:cNvPr id="21" name="Image 9" descr="/tmp/claude-0/-home-user-website/1713201c-620c-5ce1-b439-a99d37e654e6/scratchpad/build/../assets/jm_logo.png">    </p:cNvPr>
          <p:cNvPicPr>
            <a:picLocks noChangeAspect="1"/>
          </p:cNvPicPr>
          <p:nvPr/>
        </p:nvPicPr>
        <p:blipFill>
          <a:blip r:embed="rId10"/>
          <a:stretch>
            <a:fillRect/>
          </a:stretch>
        </p:blipFill>
        <p:spPr>
          <a:xfrm>
            <a:off x="548640" y="6336792"/>
            <a:ext cx="274320" cy="235915"/>
          </a:xfrm>
          <a:prstGeom prst="rect">
            <a:avLst/>
          </a:prstGeom>
        </p:spPr>
      </p:pic>
      <p:sp>
        <p:nvSpPr>
          <p:cNvPr id="22" name="Text 10"/>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23" name="Text 11"/>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mp/claude-0/-home-user-website/1713201c-620c-5ce1-b439-a99d37e654e6/scratchpad/build/../assets/jm_bg.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512064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CLIENT CASE  ·  03</a:t>
            </a:r>
            <a:endParaRPr lang="en-US" sz="1100" dirty="0"/>
          </a:p>
        </p:txBody>
      </p:sp>
      <p:sp>
        <p:nvSpPr>
          <p:cNvPr id="4" name="Text 1"/>
          <p:cNvSpPr txBox="1"/>
          <p:nvPr/>
        </p:nvSpPr>
        <p:spPr>
          <a:xfrm>
            <a:off x="548640" y="749808"/>
            <a:ext cx="5120640" cy="6400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Erciyuan</a:t>
            </a:r>
            <a:endParaRPr lang="en-US" sz="2600" dirty="0"/>
          </a:p>
        </p:txBody>
      </p:sp>
      <p:sp>
        <p:nvSpPr>
          <p:cNvPr id="5" name="Text 2"/>
          <p:cNvSpPr txBox="1"/>
          <p:nvPr/>
        </p:nvSpPr>
        <p:spPr>
          <a:xfrm>
            <a:off x="548640" y="1389888"/>
            <a:ext cx="512064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C2C marketplace, settlement &amp; payment tool</a:t>
            </a:r>
            <a:endParaRPr lang="en-US" sz="1300" dirty="0"/>
          </a:p>
        </p:txBody>
      </p:sp>
      <p:sp>
        <p:nvSpPr>
          <p:cNvPr id="6" name="Text 3"/>
          <p:cNvSpPr txBox="1"/>
          <p:nvPr/>
        </p:nvSpPr>
        <p:spPr>
          <a:xfrm>
            <a:off x="548640" y="2057400"/>
            <a:ext cx="4937760" cy="1371600"/>
          </a:xfrm>
          <a:prstGeom prst="rect">
            <a:avLst/>
          </a:prstGeom>
          <a:noFill/>
          <a:ln/>
        </p:spPr>
        <p:txBody>
          <a:bodyPr wrap="square" lIns="0" tIns="0" rIns="0" bIns="0" rtlCol="0" anchor="t"/>
          <a:lstStyle/>
          <a:p>
            <a:pPr indent="0" marL="0">
              <a:lnSpc>
                <a:spcPct val="130000"/>
              </a:lnSpc>
              <a:buNone/>
            </a:pPr>
            <a:r>
              <a:rPr lang="en-US" sz="1250" dirty="0">
                <a:solidFill>
                  <a:srgbClr val="E6F1F3"/>
                </a:solidFill>
                <a:latin typeface="Arial" pitchFamily="34" charset="0"/>
                <a:ea typeface="Arial" pitchFamily="34" charset="-122"/>
                <a:cs typeface="Arial" pitchFamily="34" charset="-120"/>
              </a:rPr>
              <a:t>An all-in-one platform combining a C2C marketplace, a settlement system and a payment tool, with user transaction volume exceeding RMB 10 million. We partnered closely from planning through engineering, content and campaigns.</a:t>
            </a:r>
            <a:endParaRPr lang="en-US" sz="1250" dirty="0"/>
          </a:p>
        </p:txBody>
      </p:sp>
      <p:sp>
        <p:nvSpPr>
          <p:cNvPr id="7" name="Text 4"/>
          <p:cNvSpPr txBox="1"/>
          <p:nvPr/>
        </p:nvSpPr>
        <p:spPr>
          <a:xfrm>
            <a:off x="548640" y="3520440"/>
            <a:ext cx="3657600" cy="274320"/>
          </a:xfrm>
          <a:prstGeom prst="rect">
            <a:avLst/>
          </a:prstGeom>
          <a:noFill/>
          <a:ln/>
        </p:spPr>
        <p:txBody>
          <a:bodyPr wrap="square" lIns="0" tIns="0" rIns="0" bIns="0" rtlCol="0" anchor="ctr"/>
          <a:lstStyle/>
          <a:p>
            <a:pPr indent="0" marL="0">
              <a:buNone/>
            </a:pPr>
            <a:r>
              <a:rPr lang="en-US" sz="1050" b="1" spc="300" kern="0" dirty="0">
                <a:solidFill>
                  <a:srgbClr val="2FB8C4"/>
                </a:solidFill>
                <a:latin typeface="Arial" pitchFamily="34" charset="0"/>
                <a:ea typeface="Arial" pitchFamily="34" charset="-122"/>
                <a:cs typeface="Arial" pitchFamily="34" charset="-120"/>
              </a:rPr>
              <a:t>SCOPE OF WORK</a:t>
            </a:r>
            <a:endParaRPr lang="en-US" sz="1050" dirty="0"/>
          </a:p>
        </p:txBody>
      </p:sp>
      <p:pic>
        <p:nvPicPr>
          <p:cNvPr id="8" name="Image 1" descr="preencoded.png">    </p:cNvPr>
          <p:cNvPicPr>
            <a:picLocks noChangeAspect="1"/>
          </p:cNvPicPr>
          <p:nvPr/>
        </p:nvPicPr>
        <p:blipFill>
          <a:blip r:embed="rId2"/>
          <a:stretch>
            <a:fillRect/>
          </a:stretch>
        </p:blipFill>
        <p:spPr>
          <a:xfrm>
            <a:off x="548640" y="3922776"/>
            <a:ext cx="219456" cy="219456"/>
          </a:xfrm>
          <a:prstGeom prst="rect">
            <a:avLst/>
          </a:prstGeom>
        </p:spPr>
      </p:pic>
      <p:sp>
        <p:nvSpPr>
          <p:cNvPr id="9" name="Text 5"/>
          <p:cNvSpPr txBox="1"/>
          <p:nvPr/>
        </p:nvSpPr>
        <p:spPr>
          <a:xfrm>
            <a:off x="896112" y="3886200"/>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Project &amp; execution planning</a:t>
            </a:r>
            <a:endParaRPr lang="en-US" sz="1200" dirty="0"/>
          </a:p>
        </p:txBody>
      </p:sp>
      <p:pic>
        <p:nvPicPr>
          <p:cNvPr id="10" name="Image 2" descr="preencoded.png">    </p:cNvPr>
          <p:cNvPicPr>
            <a:picLocks noChangeAspect="1"/>
          </p:cNvPicPr>
          <p:nvPr/>
        </p:nvPicPr>
        <p:blipFill>
          <a:blip r:embed="rId3"/>
          <a:stretch>
            <a:fillRect/>
          </a:stretch>
        </p:blipFill>
        <p:spPr>
          <a:xfrm>
            <a:off x="548640" y="4306824"/>
            <a:ext cx="219456" cy="219456"/>
          </a:xfrm>
          <a:prstGeom prst="rect">
            <a:avLst/>
          </a:prstGeom>
        </p:spPr>
      </p:pic>
      <p:sp>
        <p:nvSpPr>
          <p:cNvPr id="11" name="Text 6"/>
          <p:cNvSpPr txBox="1"/>
          <p:nvPr/>
        </p:nvSpPr>
        <p:spPr>
          <a:xfrm>
            <a:off x="896112" y="4270248"/>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WeChat official account / app development</a:t>
            </a:r>
            <a:endParaRPr lang="en-US" sz="1200" dirty="0"/>
          </a:p>
        </p:txBody>
      </p:sp>
      <p:pic>
        <p:nvPicPr>
          <p:cNvPr id="12" name="Image 3" descr="preencoded.png">    </p:cNvPr>
          <p:cNvPicPr>
            <a:picLocks noChangeAspect="1"/>
          </p:cNvPicPr>
          <p:nvPr/>
        </p:nvPicPr>
        <p:blipFill>
          <a:blip r:embed="rId4"/>
          <a:stretch>
            <a:fillRect/>
          </a:stretch>
        </p:blipFill>
        <p:spPr>
          <a:xfrm>
            <a:off x="548640" y="4690872"/>
            <a:ext cx="219456" cy="219456"/>
          </a:xfrm>
          <a:prstGeom prst="rect">
            <a:avLst/>
          </a:prstGeom>
        </p:spPr>
      </p:pic>
      <p:sp>
        <p:nvSpPr>
          <p:cNvPr id="13" name="Text 7"/>
          <p:cNvSpPr txBox="1"/>
          <p:nvPr/>
        </p:nvSpPr>
        <p:spPr>
          <a:xfrm>
            <a:off x="896112" y="4654296"/>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Short-video content production</a:t>
            </a:r>
            <a:endParaRPr lang="en-US" sz="1200" dirty="0"/>
          </a:p>
        </p:txBody>
      </p:sp>
      <p:pic>
        <p:nvPicPr>
          <p:cNvPr id="14" name="Image 4" descr="preencoded.png">    </p:cNvPr>
          <p:cNvPicPr>
            <a:picLocks noChangeAspect="1"/>
          </p:cNvPicPr>
          <p:nvPr/>
        </p:nvPicPr>
        <p:blipFill>
          <a:blip r:embed="rId5"/>
          <a:stretch>
            <a:fillRect/>
          </a:stretch>
        </p:blipFill>
        <p:spPr>
          <a:xfrm>
            <a:off x="548640" y="5074920"/>
            <a:ext cx="219456" cy="219456"/>
          </a:xfrm>
          <a:prstGeom prst="rect">
            <a:avLst/>
          </a:prstGeom>
        </p:spPr>
      </p:pic>
      <p:sp>
        <p:nvSpPr>
          <p:cNvPr id="15" name="Text 8"/>
          <p:cNvSpPr txBox="1"/>
          <p:nvPr/>
        </p:nvSpPr>
        <p:spPr>
          <a:xfrm>
            <a:off x="896112" y="5038344"/>
            <a:ext cx="4572000" cy="292608"/>
          </a:xfrm>
          <a:prstGeom prst="rect">
            <a:avLst/>
          </a:prstGeom>
          <a:noFill/>
          <a:ln/>
        </p:spPr>
        <p:txBody>
          <a:bodyPr wrap="square" lIns="0" tIns="0" rIns="0" bIns="0" rtlCol="0" anchor="ctr"/>
          <a:lstStyle/>
          <a:p>
            <a:pPr indent="0" marL="0">
              <a:buNone/>
            </a:pPr>
            <a:r>
              <a:rPr lang="en-US" sz="1200" dirty="0">
                <a:solidFill>
                  <a:srgbClr val="E6F1F3"/>
                </a:solidFill>
                <a:latin typeface="Arial" pitchFamily="34" charset="0"/>
                <a:ea typeface="Arial" pitchFamily="34" charset="-122"/>
                <a:cs typeface="Arial" pitchFamily="34" charset="-120"/>
              </a:rPr>
              <a:t>Campaign planning &amp; execution</a:t>
            </a:r>
            <a:endParaRPr lang="en-US" sz="1200" dirty="0"/>
          </a:p>
        </p:txBody>
      </p:sp>
      <p:sp>
        <p:nvSpPr>
          <p:cNvPr id="16" name="Text 9"/>
          <p:cNvSpPr txBox="1"/>
          <p:nvPr/>
        </p:nvSpPr>
        <p:spPr>
          <a:xfrm>
            <a:off x="3291840" y="457200"/>
            <a:ext cx="2194560" cy="274320"/>
          </a:xfrm>
          <a:prstGeom prst="roundRect">
            <a:avLst>
              <a:gd name="adj" fmla="val 50000"/>
            </a:avLst>
          </a:prstGeom>
          <a:solidFill>
            <a:srgbClr val="2FB8C4"/>
          </a:solidFill>
          <a:ln w="6350">
            <a:solidFill>
              <a:srgbClr val="2FB8C4"/>
            </a:solidFill>
          </a:ln>
        </p:spPr>
        <p:txBody>
          <a:bodyPr wrap="square" lIns="0" tIns="0" rIns="0" bIns="0" rtlCol="0" anchor="ctr"/>
          <a:lstStyle/>
          <a:p>
            <a:pPr algn="ctr" indent="0" marL="0">
              <a:buNone/>
            </a:pPr>
            <a:r>
              <a:rPr lang="en-US" sz="950" b="1" dirty="0">
                <a:solidFill>
                  <a:srgbClr val="061116"/>
                </a:solidFill>
                <a:latin typeface="Arial" pitchFamily="34" charset="0"/>
                <a:ea typeface="Arial" pitchFamily="34" charset="-122"/>
                <a:cs typeface="Arial" pitchFamily="34" charset="-120"/>
              </a:rPr>
              <a:t>GMV  RMB 10M+</a:t>
            </a:r>
            <a:endParaRPr lang="en-US" sz="950" dirty="0"/>
          </a:p>
        </p:txBody>
      </p:sp>
      <p:pic>
        <p:nvPicPr>
          <p:cNvPr id="17" name="Image 5" descr="/tmp/claude-0/-home-user-website/1713201c-620c-5ce1-b439-a99d37e654e6/scratchpad/build/../assets/shot26.png">    </p:cNvPr>
          <p:cNvPicPr>
            <a:picLocks noChangeAspect="1"/>
          </p:cNvPicPr>
          <p:nvPr/>
        </p:nvPicPr>
        <p:blipFill>
          <a:blip r:embed="rId6"/>
          <a:stretch>
            <a:fillRect/>
          </a:stretch>
        </p:blipFill>
        <p:spPr>
          <a:xfrm>
            <a:off x="5760720" y="1188720"/>
            <a:ext cx="2437764" cy="4389120"/>
          </a:xfrm>
          <a:prstGeom prst="rect">
            <a:avLst/>
          </a:prstGeom>
        </p:spPr>
      </p:pic>
      <p:pic>
        <p:nvPicPr>
          <p:cNvPr id="18" name="Image 6" descr="/tmp/claude-0/-home-user-website/1713201c-620c-5ce1-b439-a99d37e654e6/scratchpad/build/../assets/shot27.png">    </p:cNvPr>
          <p:cNvPicPr>
            <a:picLocks noChangeAspect="1"/>
          </p:cNvPicPr>
          <p:nvPr/>
        </p:nvPicPr>
        <p:blipFill>
          <a:blip r:embed="rId7"/>
          <a:stretch>
            <a:fillRect/>
          </a:stretch>
        </p:blipFill>
        <p:spPr>
          <a:xfrm>
            <a:off x="7680960" y="1188720"/>
            <a:ext cx="2437764" cy="4389120"/>
          </a:xfrm>
          <a:prstGeom prst="rect">
            <a:avLst/>
          </a:prstGeom>
        </p:spPr>
      </p:pic>
      <p:pic>
        <p:nvPicPr>
          <p:cNvPr id="19" name="Image 7" descr="/tmp/claude-0/-home-user-website/1713201c-620c-5ce1-b439-a99d37e654e6/scratchpad/build/../assets/shot28.png">    </p:cNvPr>
          <p:cNvPicPr>
            <a:picLocks noChangeAspect="1"/>
          </p:cNvPicPr>
          <p:nvPr/>
        </p:nvPicPr>
        <p:blipFill>
          <a:blip r:embed="rId8"/>
          <a:stretch>
            <a:fillRect/>
          </a:stretch>
        </p:blipFill>
        <p:spPr>
          <a:xfrm>
            <a:off x="9601200" y="1188720"/>
            <a:ext cx="2437764" cy="4389120"/>
          </a:xfrm>
          <a:prstGeom prst="rect">
            <a:avLst/>
          </a:prstGeom>
        </p:spPr>
      </p:pic>
      <p:pic>
        <p:nvPicPr>
          <p:cNvPr id="20" name="Image 8" descr="/tmp/claude-0/-home-user-website/1713201c-620c-5ce1-b439-a99d37e654e6/scratchpad/build/../assets/jm_logo.png">    </p:cNvPr>
          <p:cNvPicPr>
            <a:picLocks noChangeAspect="1"/>
          </p:cNvPicPr>
          <p:nvPr/>
        </p:nvPicPr>
        <p:blipFill>
          <a:blip r:embed="rId9"/>
          <a:stretch>
            <a:fillRect/>
          </a:stretch>
        </p:blipFill>
        <p:spPr>
          <a:xfrm>
            <a:off x="548640" y="6336792"/>
            <a:ext cx="274320" cy="235915"/>
          </a:xfrm>
          <a:prstGeom prst="rect">
            <a:avLst/>
          </a:prstGeom>
        </p:spPr>
      </p:pic>
      <p:sp>
        <p:nvSpPr>
          <p:cNvPr id="21" name="Text 10"/>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22" name="Text 11"/>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tmp/claude-0/-home-user-website/1713201c-620c-5ce1-b439-a99d37e654e6/scratchpad/build/../assets/jm_section.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548640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OUR PRODUCT</a:t>
            </a:r>
            <a:endParaRPr lang="en-US" sz="1100" dirty="0"/>
          </a:p>
        </p:txBody>
      </p:sp>
      <p:pic>
        <p:nvPicPr>
          <p:cNvPr id="4" name="Image 1" descr="/tmp/claude-0/-home-user-website/1713201c-620c-5ce1-b439-a99d37e654e6/scratchpad/build/../assets/tn_logo_white.png">    </p:cNvPr>
          <p:cNvPicPr>
            <a:picLocks noChangeAspect="1"/>
          </p:cNvPicPr>
          <p:nvPr/>
        </p:nvPicPr>
        <p:blipFill>
          <a:blip r:embed="rId2"/>
          <a:stretch>
            <a:fillRect/>
          </a:stretch>
        </p:blipFill>
        <p:spPr>
          <a:xfrm>
            <a:off x="548640" y="914400"/>
            <a:ext cx="868680" cy="859536"/>
          </a:xfrm>
          <a:prstGeom prst="rect">
            <a:avLst/>
          </a:prstGeom>
        </p:spPr>
      </p:pic>
      <p:sp>
        <p:nvSpPr>
          <p:cNvPr id="5" name="Text 1"/>
          <p:cNvSpPr txBox="1"/>
          <p:nvPr/>
        </p:nvSpPr>
        <p:spPr>
          <a:xfrm>
            <a:off x="1600200" y="896112"/>
            <a:ext cx="5029200" cy="9144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ThinkNova</a:t>
            </a:r>
            <a:endParaRPr lang="en-US" sz="3200" dirty="0"/>
          </a:p>
          <a:p>
            <a:pPr indent="0" marL="0">
              <a:buNone/>
            </a:pPr>
            <a:r>
              <a:rPr lang="en-US" sz="1300" dirty="0">
                <a:solidFill>
                  <a:srgbClr val="7FD9DF"/>
                </a:solidFill>
                <a:latin typeface="Arial" pitchFamily="34" charset="0"/>
                <a:ea typeface="Arial" pitchFamily="34" charset="-122"/>
                <a:cs typeface="Arial" pitchFamily="34" charset="-120"/>
              </a:rPr>
              <a:t>An AI marketing content platform built in-house</a:t>
            </a:r>
            <a:endParaRPr lang="en-US" sz="3200" dirty="0"/>
          </a:p>
        </p:txBody>
      </p:sp>
      <p:sp>
        <p:nvSpPr>
          <p:cNvPr id="6" name="Text 2"/>
          <p:cNvSpPr txBox="1"/>
          <p:nvPr/>
        </p:nvSpPr>
        <p:spPr>
          <a:xfrm>
            <a:off x="548640" y="2148840"/>
            <a:ext cx="5212080" cy="2011680"/>
          </a:xfrm>
          <a:prstGeom prst="rect">
            <a:avLst/>
          </a:prstGeom>
          <a:noFill/>
          <a:ln/>
        </p:spPr>
        <p:txBody>
          <a:bodyPr wrap="square" lIns="0" tIns="0" rIns="0" bIns="0" rtlCol="0" anchor="t"/>
          <a:lstStyle/>
          <a:p>
            <a:pPr indent="0" marL="0">
              <a:lnSpc>
                <a:spcPct val="135000"/>
              </a:lnSpc>
              <a:buNone/>
            </a:pPr>
            <a:r>
              <a:rPr lang="en-US" sz="1300" dirty="0">
                <a:solidFill>
                  <a:srgbClr val="E6F1F3"/>
                </a:solidFill>
                <a:latin typeface="Arial" pitchFamily="34" charset="0"/>
                <a:ea typeface="Arial" pitchFamily="34" charset="-122"/>
                <a:cs typeface="Arial" pitchFamily="34" charset="-120"/>
              </a:rPr>
              <a:t>Pick a scene, add a product, upload a photo — and get a ready-to-post 15-second marketing video or poster in about three minutes. ThinkNova is both a SaaS product for small businesses and the engine behind the AIGC production lines we deploy for brands.</a:t>
            </a:r>
            <a:endParaRPr lang="en-US" sz="1300" dirty="0"/>
          </a:p>
        </p:txBody>
      </p:sp>
      <p:sp>
        <p:nvSpPr>
          <p:cNvPr id="7" name="Text 3"/>
          <p:cNvSpPr txBox="1"/>
          <p:nvPr/>
        </p:nvSpPr>
        <p:spPr>
          <a:xfrm>
            <a:off x="548640" y="4480560"/>
            <a:ext cx="1737360" cy="594360"/>
          </a:xfrm>
          <a:prstGeom prst="rect">
            <a:avLst/>
          </a:prstGeom>
          <a:noFill/>
          <a:ln/>
        </p:spPr>
        <p:txBody>
          <a:bodyPr wrap="square" lIns="0" tIns="0" rIns="0" bIns="0" rtlCol="0" anchor="ctr"/>
          <a:lstStyle/>
          <a:p>
            <a:pPr indent="0" marL="0">
              <a:buNone/>
            </a:pPr>
            <a:r>
              <a:rPr lang="en-US" sz="3000" b="1" dirty="0">
                <a:solidFill>
                  <a:srgbClr val="2FB8C4"/>
                </a:solidFill>
                <a:latin typeface="Arial" pitchFamily="34" charset="0"/>
                <a:ea typeface="Arial" pitchFamily="34" charset="-122"/>
                <a:cs typeface="Arial" pitchFamily="34" charset="-120"/>
              </a:rPr>
              <a:t>~3 min</a:t>
            </a:r>
            <a:endParaRPr lang="en-US" sz="3000" dirty="0"/>
          </a:p>
        </p:txBody>
      </p:sp>
      <p:sp>
        <p:nvSpPr>
          <p:cNvPr id="8" name="Text 4"/>
          <p:cNvSpPr txBox="1"/>
          <p:nvPr/>
        </p:nvSpPr>
        <p:spPr>
          <a:xfrm>
            <a:off x="548640" y="5074920"/>
            <a:ext cx="1737360" cy="274320"/>
          </a:xfrm>
          <a:prstGeom prst="rect">
            <a:avLst/>
          </a:prstGeom>
          <a:noFill/>
          <a:ln/>
        </p:spPr>
        <p:txBody>
          <a:bodyPr wrap="square" lIns="0" tIns="0" rIns="0" bIns="0" rtlCol="0" anchor="ctr"/>
          <a:lstStyle/>
          <a:p>
            <a:pPr indent="0" marL="0">
              <a:buNone/>
            </a:pPr>
            <a:r>
              <a:rPr lang="en-US" sz="1000" dirty="0">
                <a:solidFill>
                  <a:srgbClr val="8FA9AE"/>
                </a:solidFill>
                <a:latin typeface="Arial" pitchFamily="34" charset="0"/>
                <a:ea typeface="Arial" pitchFamily="34" charset="-122"/>
                <a:cs typeface="Arial" pitchFamily="34" charset="-120"/>
              </a:rPr>
              <a:t>From input to video</a:t>
            </a:r>
            <a:endParaRPr lang="en-US" sz="1000" dirty="0"/>
          </a:p>
        </p:txBody>
      </p:sp>
      <p:sp>
        <p:nvSpPr>
          <p:cNvPr id="9" name="Text 5"/>
          <p:cNvSpPr txBox="1"/>
          <p:nvPr/>
        </p:nvSpPr>
        <p:spPr>
          <a:xfrm>
            <a:off x="2331720" y="4480560"/>
            <a:ext cx="1737360" cy="594360"/>
          </a:xfrm>
          <a:prstGeom prst="rect">
            <a:avLst/>
          </a:prstGeom>
          <a:noFill/>
          <a:ln/>
        </p:spPr>
        <p:txBody>
          <a:bodyPr wrap="square" lIns="0" tIns="0" rIns="0" bIns="0" rtlCol="0" anchor="ctr"/>
          <a:lstStyle/>
          <a:p>
            <a:pPr indent="0" marL="0">
              <a:buNone/>
            </a:pPr>
            <a:r>
              <a:rPr lang="en-US" sz="3000" b="1" dirty="0">
                <a:solidFill>
                  <a:srgbClr val="2FB8C4"/>
                </a:solidFill>
                <a:latin typeface="Arial" pitchFamily="34" charset="0"/>
                <a:ea typeface="Arial" pitchFamily="34" charset="-122"/>
                <a:cs typeface="Arial" pitchFamily="34" charset="-120"/>
              </a:rPr>
              <a:t>9</a:t>
            </a:r>
            <a:endParaRPr lang="en-US" sz="3000" dirty="0"/>
          </a:p>
        </p:txBody>
      </p:sp>
      <p:sp>
        <p:nvSpPr>
          <p:cNvPr id="10" name="Text 6"/>
          <p:cNvSpPr txBox="1"/>
          <p:nvPr/>
        </p:nvSpPr>
        <p:spPr>
          <a:xfrm>
            <a:off x="2331720" y="5074920"/>
            <a:ext cx="1737360" cy="274320"/>
          </a:xfrm>
          <a:prstGeom prst="rect">
            <a:avLst/>
          </a:prstGeom>
          <a:noFill/>
          <a:ln/>
        </p:spPr>
        <p:txBody>
          <a:bodyPr wrap="square" lIns="0" tIns="0" rIns="0" bIns="0" rtlCol="0" anchor="ctr"/>
          <a:lstStyle/>
          <a:p>
            <a:pPr indent="0" marL="0">
              <a:buNone/>
            </a:pPr>
            <a:r>
              <a:rPr lang="en-US" sz="1000" dirty="0">
                <a:solidFill>
                  <a:srgbClr val="8FA9AE"/>
                </a:solidFill>
                <a:latin typeface="Arial" pitchFamily="34" charset="0"/>
                <a:ea typeface="Arial" pitchFamily="34" charset="-122"/>
                <a:cs typeface="Arial" pitchFamily="34" charset="-120"/>
              </a:rPr>
              <a:t>Output languages</a:t>
            </a:r>
            <a:endParaRPr lang="en-US" sz="1000" dirty="0"/>
          </a:p>
        </p:txBody>
      </p:sp>
      <p:sp>
        <p:nvSpPr>
          <p:cNvPr id="11" name="Text 7"/>
          <p:cNvSpPr txBox="1"/>
          <p:nvPr/>
        </p:nvSpPr>
        <p:spPr>
          <a:xfrm>
            <a:off x="4114800" y="4480560"/>
            <a:ext cx="1737360" cy="594360"/>
          </a:xfrm>
          <a:prstGeom prst="rect">
            <a:avLst/>
          </a:prstGeom>
          <a:noFill/>
          <a:ln/>
        </p:spPr>
        <p:txBody>
          <a:bodyPr wrap="square" lIns="0" tIns="0" rIns="0" bIns="0" rtlCol="0" anchor="ctr"/>
          <a:lstStyle/>
          <a:p>
            <a:pPr indent="0" marL="0">
              <a:buNone/>
            </a:pPr>
            <a:r>
              <a:rPr lang="en-US" sz="3000" b="1" dirty="0">
                <a:solidFill>
                  <a:srgbClr val="2FB8C4"/>
                </a:solidFill>
                <a:latin typeface="Arial" pitchFamily="34" charset="0"/>
                <a:ea typeface="Arial" pitchFamily="34" charset="-122"/>
                <a:cs typeface="Arial" pitchFamily="34" charset="-120"/>
              </a:rPr>
              <a:t>2</a:t>
            </a:r>
            <a:endParaRPr lang="en-US" sz="3000" dirty="0"/>
          </a:p>
        </p:txBody>
      </p:sp>
      <p:sp>
        <p:nvSpPr>
          <p:cNvPr id="12" name="Text 8"/>
          <p:cNvSpPr txBox="1"/>
          <p:nvPr/>
        </p:nvSpPr>
        <p:spPr>
          <a:xfrm>
            <a:off x="4114800" y="5074920"/>
            <a:ext cx="1737360" cy="274320"/>
          </a:xfrm>
          <a:prstGeom prst="rect">
            <a:avLst/>
          </a:prstGeom>
          <a:noFill/>
          <a:ln/>
        </p:spPr>
        <p:txBody>
          <a:bodyPr wrap="square" lIns="0" tIns="0" rIns="0" bIns="0" rtlCol="0" anchor="ctr"/>
          <a:lstStyle/>
          <a:p>
            <a:pPr indent="0" marL="0">
              <a:buNone/>
            </a:pPr>
            <a:r>
              <a:rPr lang="en-US" sz="1000" dirty="0">
                <a:solidFill>
                  <a:srgbClr val="8FA9AE"/>
                </a:solidFill>
                <a:latin typeface="Arial" pitchFamily="34" charset="0"/>
                <a:ea typeface="Arial" pitchFamily="34" charset="-122"/>
                <a:cs typeface="Arial" pitchFamily="34" charset="-120"/>
              </a:rPr>
              <a:t>Products: video + poster</a:t>
            </a:r>
            <a:endParaRPr lang="en-US" sz="1000" dirty="0"/>
          </a:p>
        </p:txBody>
      </p:sp>
      <p:sp>
        <p:nvSpPr>
          <p:cNvPr id="13" name="Shape 9"/>
          <p:cNvSpPr/>
          <p:nvPr/>
        </p:nvSpPr>
        <p:spPr>
          <a:xfrm>
            <a:off x="6400800" y="914400"/>
            <a:ext cx="5239512" cy="1097280"/>
          </a:xfrm>
          <a:prstGeom prst="roundRect">
            <a:avLst>
              <a:gd name="adj" fmla="val 10000"/>
            </a:avLst>
          </a:prstGeom>
          <a:solidFill>
            <a:srgbClr val="0A1E24">
              <a:alpha val="85000"/>
            </a:srgbClr>
          </a:solidFill>
          <a:ln w="9525">
            <a:solidFill>
              <a:srgbClr val="1F4A55"/>
            </a:solidFill>
            <a:prstDash val="solid"/>
          </a:ln>
        </p:spPr>
      </p:sp>
      <p:sp>
        <p:nvSpPr>
          <p:cNvPr id="14" name="Shape 10"/>
          <p:cNvSpPr/>
          <p:nvPr/>
        </p:nvSpPr>
        <p:spPr>
          <a:xfrm>
            <a:off x="6656832" y="1152144"/>
            <a:ext cx="621792" cy="621792"/>
          </a:xfrm>
          <a:prstGeom prst="ellipse">
            <a:avLst/>
          </a:prstGeom>
          <a:solidFill>
            <a:srgbClr val="2FB8C4">
              <a:alpha val="18000"/>
            </a:srgbClr>
          </a:solidFill>
          <a:ln w="9525">
            <a:solidFill>
              <a:srgbClr val="2FB8C4">
                <a:alpha val="60000"/>
              </a:srgbClr>
            </a:solidFill>
            <a:prstDash val="solid"/>
          </a:ln>
        </p:spPr>
      </p:sp>
      <p:pic>
        <p:nvPicPr>
          <p:cNvPr id="15" name="Image 2" descr="preencoded.png">    </p:cNvPr>
          <p:cNvPicPr>
            <a:picLocks noChangeAspect="1"/>
          </p:cNvPicPr>
          <p:nvPr/>
        </p:nvPicPr>
        <p:blipFill>
          <a:blip r:embed="rId3"/>
          <a:stretch>
            <a:fillRect/>
          </a:stretch>
        </p:blipFill>
        <p:spPr>
          <a:xfrm>
            <a:off x="6818498" y="1313810"/>
            <a:ext cx="298460" cy="298460"/>
          </a:xfrm>
          <a:prstGeom prst="rect">
            <a:avLst/>
          </a:prstGeom>
        </p:spPr>
      </p:pic>
      <p:sp>
        <p:nvSpPr>
          <p:cNvPr id="16" name="Text 11"/>
          <p:cNvSpPr txBox="1"/>
          <p:nvPr/>
        </p:nvSpPr>
        <p:spPr>
          <a:xfrm>
            <a:off x="10789920" y="1188720"/>
            <a:ext cx="640080" cy="457200"/>
          </a:xfrm>
          <a:prstGeom prst="rect">
            <a:avLst/>
          </a:prstGeom>
          <a:noFill/>
          <a:ln/>
        </p:spPr>
        <p:txBody>
          <a:bodyPr wrap="square" lIns="0" tIns="0" rIns="0" bIns="0" rtlCol="0" anchor="ctr"/>
          <a:lstStyle/>
          <a:p>
            <a:pPr algn="r" indent="0" marL="0">
              <a:buNone/>
            </a:pPr>
            <a:r>
              <a:rPr lang="en-US" sz="2000" b="1" dirty="0">
                <a:solidFill>
                  <a:srgbClr val="1F4A55"/>
                </a:solidFill>
                <a:latin typeface="Arial" pitchFamily="34" charset="0"/>
                <a:ea typeface="Arial" pitchFamily="34" charset="-122"/>
                <a:cs typeface="Arial" pitchFamily="34" charset="-120"/>
              </a:rPr>
              <a:t>01</a:t>
            </a:r>
            <a:endParaRPr lang="en-US" sz="2000" dirty="0"/>
          </a:p>
        </p:txBody>
      </p:sp>
      <p:sp>
        <p:nvSpPr>
          <p:cNvPr id="17" name="Text 12"/>
          <p:cNvSpPr txBox="1"/>
          <p:nvPr/>
        </p:nvSpPr>
        <p:spPr>
          <a:xfrm>
            <a:off x="7498080" y="1097280"/>
            <a:ext cx="329184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Pick a scene</a:t>
            </a:r>
            <a:endParaRPr lang="en-US" sz="1600" dirty="0"/>
          </a:p>
        </p:txBody>
      </p:sp>
      <p:sp>
        <p:nvSpPr>
          <p:cNvPr id="18" name="Text 13"/>
          <p:cNvSpPr txBox="1"/>
          <p:nvPr/>
        </p:nvSpPr>
        <p:spPr>
          <a:xfrm>
            <a:off x="7498080" y="1481328"/>
            <a:ext cx="3337560" cy="365760"/>
          </a:xfrm>
          <a:prstGeom prst="rect">
            <a:avLst/>
          </a:prstGeom>
          <a:noFill/>
          <a:ln/>
        </p:spPr>
        <p:txBody>
          <a:bodyPr wrap="square" lIns="0" tIns="0" rIns="0" bIns="0" rtlCol="0" anchor="ctr"/>
          <a:lstStyle/>
          <a:p>
            <a:pPr indent="0" marL="0">
              <a:buNone/>
            </a:pPr>
            <a:r>
              <a:rPr lang="en-US" sz="1050" dirty="0">
                <a:solidFill>
                  <a:srgbClr val="8FA9AE"/>
                </a:solidFill>
                <a:latin typeface="Arial" pitchFamily="34" charset="0"/>
                <a:ea typeface="Arial" pitchFamily="34" charset="-122"/>
                <a:cs typeface="Arial" pitchFamily="34" charset="-120"/>
              </a:rPr>
              <a:t>New launch, store tour, promotion, price list, festivals</a:t>
            </a:r>
            <a:endParaRPr lang="en-US" sz="1050" dirty="0"/>
          </a:p>
        </p:txBody>
      </p:sp>
      <p:sp>
        <p:nvSpPr>
          <p:cNvPr id="19" name="Shape 14"/>
          <p:cNvSpPr/>
          <p:nvPr/>
        </p:nvSpPr>
        <p:spPr>
          <a:xfrm>
            <a:off x="6400800" y="2176272"/>
            <a:ext cx="5239512" cy="1097280"/>
          </a:xfrm>
          <a:prstGeom prst="roundRect">
            <a:avLst>
              <a:gd name="adj" fmla="val 10000"/>
            </a:avLst>
          </a:prstGeom>
          <a:solidFill>
            <a:srgbClr val="0A1E24">
              <a:alpha val="85000"/>
            </a:srgbClr>
          </a:solidFill>
          <a:ln w="9525">
            <a:solidFill>
              <a:srgbClr val="1F4A55"/>
            </a:solidFill>
            <a:prstDash val="solid"/>
          </a:ln>
        </p:spPr>
      </p:sp>
      <p:sp>
        <p:nvSpPr>
          <p:cNvPr id="20" name="Shape 15"/>
          <p:cNvSpPr/>
          <p:nvPr/>
        </p:nvSpPr>
        <p:spPr>
          <a:xfrm>
            <a:off x="6656832" y="2414016"/>
            <a:ext cx="621792" cy="621792"/>
          </a:xfrm>
          <a:prstGeom prst="ellipse">
            <a:avLst/>
          </a:prstGeom>
          <a:solidFill>
            <a:srgbClr val="2FB8C4">
              <a:alpha val="18000"/>
            </a:srgbClr>
          </a:solidFill>
          <a:ln w="9525">
            <a:solidFill>
              <a:srgbClr val="2FB8C4">
                <a:alpha val="60000"/>
              </a:srgbClr>
            </a:solidFill>
            <a:prstDash val="solid"/>
          </a:ln>
        </p:spPr>
      </p:sp>
      <p:pic>
        <p:nvPicPr>
          <p:cNvPr id="21" name="Image 3" descr="preencoded.png">    </p:cNvPr>
          <p:cNvPicPr>
            <a:picLocks noChangeAspect="1"/>
          </p:cNvPicPr>
          <p:nvPr/>
        </p:nvPicPr>
        <p:blipFill>
          <a:blip r:embed="rId4"/>
          <a:stretch>
            <a:fillRect/>
          </a:stretch>
        </p:blipFill>
        <p:spPr>
          <a:xfrm>
            <a:off x="6818498" y="2575682"/>
            <a:ext cx="298460" cy="298460"/>
          </a:xfrm>
          <a:prstGeom prst="rect">
            <a:avLst/>
          </a:prstGeom>
        </p:spPr>
      </p:pic>
      <p:sp>
        <p:nvSpPr>
          <p:cNvPr id="22" name="Text 16"/>
          <p:cNvSpPr txBox="1"/>
          <p:nvPr/>
        </p:nvSpPr>
        <p:spPr>
          <a:xfrm>
            <a:off x="10789920" y="2450592"/>
            <a:ext cx="640080" cy="457200"/>
          </a:xfrm>
          <a:prstGeom prst="rect">
            <a:avLst/>
          </a:prstGeom>
          <a:noFill/>
          <a:ln/>
        </p:spPr>
        <p:txBody>
          <a:bodyPr wrap="square" lIns="0" tIns="0" rIns="0" bIns="0" rtlCol="0" anchor="ctr"/>
          <a:lstStyle/>
          <a:p>
            <a:pPr algn="r" indent="0" marL="0">
              <a:buNone/>
            </a:pPr>
            <a:r>
              <a:rPr lang="en-US" sz="2000" b="1" dirty="0">
                <a:solidFill>
                  <a:srgbClr val="1F4A55"/>
                </a:solidFill>
                <a:latin typeface="Arial" pitchFamily="34" charset="0"/>
                <a:ea typeface="Arial" pitchFamily="34" charset="-122"/>
                <a:cs typeface="Arial" pitchFamily="34" charset="-120"/>
              </a:rPr>
              <a:t>02</a:t>
            </a:r>
            <a:endParaRPr lang="en-US" sz="2000" dirty="0"/>
          </a:p>
        </p:txBody>
      </p:sp>
      <p:sp>
        <p:nvSpPr>
          <p:cNvPr id="23" name="Text 17"/>
          <p:cNvSpPr txBox="1"/>
          <p:nvPr/>
        </p:nvSpPr>
        <p:spPr>
          <a:xfrm>
            <a:off x="7498080" y="2359152"/>
            <a:ext cx="329184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Fill in two lines</a:t>
            </a:r>
            <a:endParaRPr lang="en-US" sz="1600" dirty="0"/>
          </a:p>
        </p:txBody>
      </p:sp>
      <p:sp>
        <p:nvSpPr>
          <p:cNvPr id="24" name="Text 18"/>
          <p:cNvSpPr txBox="1"/>
          <p:nvPr/>
        </p:nvSpPr>
        <p:spPr>
          <a:xfrm>
            <a:off x="7498080" y="2743200"/>
            <a:ext cx="3337560" cy="365760"/>
          </a:xfrm>
          <a:prstGeom prst="rect">
            <a:avLst/>
          </a:prstGeom>
          <a:noFill/>
          <a:ln/>
        </p:spPr>
        <p:txBody>
          <a:bodyPr wrap="square" lIns="0" tIns="0" rIns="0" bIns="0" rtlCol="0" anchor="ctr"/>
          <a:lstStyle/>
          <a:p>
            <a:pPr indent="0" marL="0">
              <a:buNone/>
            </a:pPr>
            <a:r>
              <a:rPr lang="en-US" sz="1050" dirty="0">
                <a:solidFill>
                  <a:srgbClr val="8FA9AE"/>
                </a:solidFill>
                <a:latin typeface="Arial" pitchFamily="34" charset="0"/>
                <a:ea typeface="Arial" pitchFamily="34" charset="-122"/>
                <a:cs typeface="Arial" pitchFamily="34" charset="-120"/>
              </a:rPr>
              <a:t>Just the product name and the price or offer</a:t>
            </a:r>
            <a:endParaRPr lang="en-US" sz="1050" dirty="0"/>
          </a:p>
        </p:txBody>
      </p:sp>
      <p:sp>
        <p:nvSpPr>
          <p:cNvPr id="25" name="Shape 19"/>
          <p:cNvSpPr/>
          <p:nvPr/>
        </p:nvSpPr>
        <p:spPr>
          <a:xfrm>
            <a:off x="6400800" y="3438144"/>
            <a:ext cx="5239512" cy="1097280"/>
          </a:xfrm>
          <a:prstGeom prst="roundRect">
            <a:avLst>
              <a:gd name="adj" fmla="val 10000"/>
            </a:avLst>
          </a:prstGeom>
          <a:solidFill>
            <a:srgbClr val="0A1E24">
              <a:alpha val="85000"/>
            </a:srgbClr>
          </a:solidFill>
          <a:ln w="9525">
            <a:solidFill>
              <a:srgbClr val="1F4A55"/>
            </a:solidFill>
            <a:prstDash val="solid"/>
          </a:ln>
        </p:spPr>
      </p:sp>
      <p:sp>
        <p:nvSpPr>
          <p:cNvPr id="26" name="Shape 20"/>
          <p:cNvSpPr/>
          <p:nvPr/>
        </p:nvSpPr>
        <p:spPr>
          <a:xfrm>
            <a:off x="6656832" y="3675888"/>
            <a:ext cx="621792" cy="621792"/>
          </a:xfrm>
          <a:prstGeom prst="ellipse">
            <a:avLst/>
          </a:prstGeom>
          <a:solidFill>
            <a:srgbClr val="2FB8C4">
              <a:alpha val="18000"/>
            </a:srgbClr>
          </a:solidFill>
          <a:ln w="9525">
            <a:solidFill>
              <a:srgbClr val="2FB8C4">
                <a:alpha val="60000"/>
              </a:srgbClr>
            </a:solidFill>
            <a:prstDash val="solid"/>
          </a:ln>
        </p:spPr>
      </p:sp>
      <p:pic>
        <p:nvPicPr>
          <p:cNvPr id="27" name="Image 4" descr="preencoded.png">    </p:cNvPr>
          <p:cNvPicPr>
            <a:picLocks noChangeAspect="1"/>
          </p:cNvPicPr>
          <p:nvPr/>
        </p:nvPicPr>
        <p:blipFill>
          <a:blip r:embed="rId5"/>
          <a:stretch>
            <a:fillRect/>
          </a:stretch>
        </p:blipFill>
        <p:spPr>
          <a:xfrm>
            <a:off x="6818498" y="3837554"/>
            <a:ext cx="298460" cy="298460"/>
          </a:xfrm>
          <a:prstGeom prst="rect">
            <a:avLst/>
          </a:prstGeom>
        </p:spPr>
      </p:pic>
      <p:sp>
        <p:nvSpPr>
          <p:cNvPr id="28" name="Text 21"/>
          <p:cNvSpPr txBox="1"/>
          <p:nvPr/>
        </p:nvSpPr>
        <p:spPr>
          <a:xfrm>
            <a:off x="10789920" y="3712464"/>
            <a:ext cx="640080" cy="457200"/>
          </a:xfrm>
          <a:prstGeom prst="rect">
            <a:avLst/>
          </a:prstGeom>
          <a:noFill/>
          <a:ln/>
        </p:spPr>
        <p:txBody>
          <a:bodyPr wrap="square" lIns="0" tIns="0" rIns="0" bIns="0" rtlCol="0" anchor="ctr"/>
          <a:lstStyle/>
          <a:p>
            <a:pPr algn="r" indent="0" marL="0">
              <a:buNone/>
            </a:pPr>
            <a:r>
              <a:rPr lang="en-US" sz="2000" b="1" dirty="0">
                <a:solidFill>
                  <a:srgbClr val="1F4A55"/>
                </a:solidFill>
                <a:latin typeface="Arial" pitchFamily="34" charset="0"/>
                <a:ea typeface="Arial" pitchFamily="34" charset="-122"/>
                <a:cs typeface="Arial" pitchFamily="34" charset="-120"/>
              </a:rPr>
              <a:t>03</a:t>
            </a:r>
            <a:endParaRPr lang="en-US" sz="2000" dirty="0"/>
          </a:p>
        </p:txBody>
      </p:sp>
      <p:sp>
        <p:nvSpPr>
          <p:cNvPr id="29" name="Text 22"/>
          <p:cNvSpPr txBox="1"/>
          <p:nvPr/>
        </p:nvSpPr>
        <p:spPr>
          <a:xfrm>
            <a:off x="7498080" y="3621024"/>
            <a:ext cx="329184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Upload a photo</a:t>
            </a:r>
            <a:endParaRPr lang="en-US" sz="1600" dirty="0"/>
          </a:p>
        </p:txBody>
      </p:sp>
      <p:sp>
        <p:nvSpPr>
          <p:cNvPr id="30" name="Text 23"/>
          <p:cNvSpPr txBox="1"/>
          <p:nvPr/>
        </p:nvSpPr>
        <p:spPr>
          <a:xfrm>
            <a:off x="7498080" y="4005072"/>
            <a:ext cx="3337560" cy="365760"/>
          </a:xfrm>
          <a:prstGeom prst="rect">
            <a:avLst/>
          </a:prstGeom>
          <a:noFill/>
          <a:ln/>
        </p:spPr>
        <p:txBody>
          <a:bodyPr wrap="square" lIns="0" tIns="0" rIns="0" bIns="0" rtlCol="0" anchor="ctr"/>
          <a:lstStyle/>
          <a:p>
            <a:pPr indent="0" marL="0">
              <a:buNone/>
            </a:pPr>
            <a:r>
              <a:rPr lang="en-US" sz="1050" dirty="0">
                <a:solidFill>
                  <a:srgbClr val="8FA9AE"/>
                </a:solidFill>
                <a:latin typeface="Arial" pitchFamily="34" charset="0"/>
                <a:ea typeface="Arial" pitchFamily="34" charset="-122"/>
                <a:cs typeface="Arial" pitchFamily="34" charset="-120"/>
              </a:rPr>
              <a:t>The video faithfully recreates your storefront &amp; products</a:t>
            </a:r>
            <a:endParaRPr lang="en-US" sz="1050" dirty="0"/>
          </a:p>
        </p:txBody>
      </p:sp>
      <p:sp>
        <p:nvSpPr>
          <p:cNvPr id="31" name="Shape 24"/>
          <p:cNvSpPr/>
          <p:nvPr/>
        </p:nvSpPr>
        <p:spPr>
          <a:xfrm>
            <a:off x="6400800" y="4700016"/>
            <a:ext cx="5239512" cy="1097280"/>
          </a:xfrm>
          <a:prstGeom prst="roundRect">
            <a:avLst>
              <a:gd name="adj" fmla="val 10000"/>
            </a:avLst>
          </a:prstGeom>
          <a:solidFill>
            <a:srgbClr val="0A1E24">
              <a:alpha val="85000"/>
            </a:srgbClr>
          </a:solidFill>
          <a:ln w="9525">
            <a:solidFill>
              <a:srgbClr val="1F4A55"/>
            </a:solidFill>
            <a:prstDash val="solid"/>
          </a:ln>
        </p:spPr>
      </p:sp>
      <p:sp>
        <p:nvSpPr>
          <p:cNvPr id="32" name="Shape 25"/>
          <p:cNvSpPr/>
          <p:nvPr/>
        </p:nvSpPr>
        <p:spPr>
          <a:xfrm>
            <a:off x="6656832" y="4937760"/>
            <a:ext cx="621792" cy="621792"/>
          </a:xfrm>
          <a:prstGeom prst="ellipse">
            <a:avLst/>
          </a:prstGeom>
          <a:solidFill>
            <a:srgbClr val="2FB8C4">
              <a:alpha val="18000"/>
            </a:srgbClr>
          </a:solidFill>
          <a:ln w="9525">
            <a:solidFill>
              <a:srgbClr val="2FB8C4">
                <a:alpha val="60000"/>
              </a:srgbClr>
            </a:solidFill>
            <a:prstDash val="solid"/>
          </a:ln>
        </p:spPr>
      </p:sp>
      <p:pic>
        <p:nvPicPr>
          <p:cNvPr id="33" name="Image 5" descr="preencoded.png">    </p:cNvPr>
          <p:cNvPicPr>
            <a:picLocks noChangeAspect="1"/>
          </p:cNvPicPr>
          <p:nvPr/>
        </p:nvPicPr>
        <p:blipFill>
          <a:blip r:embed="rId6"/>
          <a:stretch>
            <a:fillRect/>
          </a:stretch>
        </p:blipFill>
        <p:spPr>
          <a:xfrm>
            <a:off x="6818498" y="5099426"/>
            <a:ext cx="298460" cy="298460"/>
          </a:xfrm>
          <a:prstGeom prst="rect">
            <a:avLst/>
          </a:prstGeom>
        </p:spPr>
      </p:pic>
      <p:sp>
        <p:nvSpPr>
          <p:cNvPr id="34" name="Text 26"/>
          <p:cNvSpPr txBox="1"/>
          <p:nvPr/>
        </p:nvSpPr>
        <p:spPr>
          <a:xfrm>
            <a:off x="10789920" y="4974336"/>
            <a:ext cx="640080" cy="457200"/>
          </a:xfrm>
          <a:prstGeom prst="rect">
            <a:avLst/>
          </a:prstGeom>
          <a:noFill/>
          <a:ln/>
        </p:spPr>
        <p:txBody>
          <a:bodyPr wrap="square" lIns="0" tIns="0" rIns="0" bIns="0" rtlCol="0" anchor="ctr"/>
          <a:lstStyle/>
          <a:p>
            <a:pPr algn="r" indent="0" marL="0">
              <a:buNone/>
            </a:pPr>
            <a:r>
              <a:rPr lang="en-US" sz="2000" b="1" dirty="0">
                <a:solidFill>
                  <a:srgbClr val="1F4A55"/>
                </a:solidFill>
                <a:latin typeface="Arial" pitchFamily="34" charset="0"/>
                <a:ea typeface="Arial" pitchFamily="34" charset="-122"/>
                <a:cs typeface="Arial" pitchFamily="34" charset="-120"/>
              </a:rPr>
              <a:t>04</a:t>
            </a:r>
            <a:endParaRPr lang="en-US" sz="2000" dirty="0"/>
          </a:p>
        </p:txBody>
      </p:sp>
      <p:sp>
        <p:nvSpPr>
          <p:cNvPr id="35" name="Text 27"/>
          <p:cNvSpPr txBox="1"/>
          <p:nvPr/>
        </p:nvSpPr>
        <p:spPr>
          <a:xfrm>
            <a:off x="7498080" y="4882896"/>
            <a:ext cx="329184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Generate</a:t>
            </a:r>
            <a:endParaRPr lang="en-US" sz="1600" dirty="0"/>
          </a:p>
        </p:txBody>
      </p:sp>
      <p:sp>
        <p:nvSpPr>
          <p:cNvPr id="36" name="Text 28"/>
          <p:cNvSpPr txBox="1"/>
          <p:nvPr/>
        </p:nvSpPr>
        <p:spPr>
          <a:xfrm>
            <a:off x="7498080" y="5266944"/>
            <a:ext cx="3337560" cy="365760"/>
          </a:xfrm>
          <a:prstGeom prst="rect">
            <a:avLst/>
          </a:prstGeom>
          <a:noFill/>
          <a:ln/>
        </p:spPr>
        <p:txBody>
          <a:bodyPr wrap="square" lIns="0" tIns="0" rIns="0" bIns="0" rtlCol="0" anchor="ctr"/>
          <a:lstStyle/>
          <a:p>
            <a:pPr indent="0" marL="0">
              <a:buNone/>
            </a:pPr>
            <a:r>
              <a:rPr lang="en-US" sz="1050" dirty="0">
                <a:solidFill>
                  <a:srgbClr val="8FA9AE"/>
                </a:solidFill>
                <a:latin typeface="Arial" pitchFamily="34" charset="0"/>
                <a:ea typeface="Arial" pitchFamily="34" charset="-122"/>
                <a:cs typeface="Arial" pitchFamily="34" charset="-120"/>
              </a:rPr>
              <a:t>Script, voice-over, storyboard and captions — all automatic</a:t>
            </a:r>
            <a:endParaRPr lang="en-US" sz="1050" dirty="0"/>
          </a:p>
        </p:txBody>
      </p:sp>
      <p:pic>
        <p:nvPicPr>
          <p:cNvPr id="37" name="Image 6" descr="/tmp/claude-0/-home-user-website/1713201c-620c-5ce1-b439-a99d37e654e6/scratchpad/build/../assets/jm_logo.png">    </p:cNvPr>
          <p:cNvPicPr>
            <a:picLocks noChangeAspect="1"/>
          </p:cNvPicPr>
          <p:nvPr/>
        </p:nvPicPr>
        <p:blipFill>
          <a:blip r:embed="rId7"/>
          <a:stretch>
            <a:fillRect/>
          </a:stretch>
        </p:blipFill>
        <p:spPr>
          <a:xfrm>
            <a:off x="548640" y="6336792"/>
            <a:ext cx="274320" cy="235915"/>
          </a:xfrm>
          <a:prstGeom prst="rect">
            <a:avLst/>
          </a:prstGeom>
        </p:spPr>
      </p:pic>
      <p:sp>
        <p:nvSpPr>
          <p:cNvPr id="38" name="Text 29"/>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39" name="Text 30"/>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tmp/claude-0/-home-user-website/1713201c-620c-5ce1-b439-a99d37e654e6/scratchpad/build/../assets/jm_bg.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WHY JIMENG</a:t>
            </a:r>
            <a:endParaRPr lang="en-US" sz="1100" dirty="0"/>
          </a:p>
        </p:txBody>
      </p:sp>
      <p:sp>
        <p:nvSpPr>
          <p:cNvPr id="4" name="Text 1"/>
          <p:cNvSpPr txBox="1"/>
          <p:nvPr/>
        </p:nvSpPr>
        <p:spPr>
          <a:xfrm>
            <a:off x="548640" y="74980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Why brands work with us</a:t>
            </a:r>
            <a:endParaRPr lang="en-US" sz="3000" dirty="0"/>
          </a:p>
        </p:txBody>
      </p:sp>
      <p:sp>
        <p:nvSpPr>
          <p:cNvPr id="5" name="Text 2"/>
          <p:cNvSpPr txBox="1"/>
          <p:nvPr/>
        </p:nvSpPr>
        <p:spPr>
          <a:xfrm>
            <a:off x="548640" y="1389888"/>
            <a:ext cx="1097280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Six reasons clients keep coming back.</a:t>
            </a:r>
            <a:endParaRPr lang="en-US" sz="1300" dirty="0"/>
          </a:p>
        </p:txBody>
      </p:sp>
      <p:sp>
        <p:nvSpPr>
          <p:cNvPr id="6" name="Shape 3"/>
          <p:cNvSpPr/>
          <p:nvPr/>
        </p:nvSpPr>
        <p:spPr>
          <a:xfrm>
            <a:off x="548640" y="2103120"/>
            <a:ext cx="3566160" cy="1783080"/>
          </a:xfrm>
          <a:prstGeom prst="roundRect">
            <a:avLst>
              <a:gd name="adj" fmla="val 6154"/>
            </a:avLst>
          </a:prstGeom>
          <a:solidFill>
            <a:srgbClr val="0F2A33">
              <a:alpha val="75000"/>
            </a:srgbClr>
          </a:solidFill>
          <a:ln w="9525">
            <a:solidFill>
              <a:srgbClr val="1F4A55"/>
            </a:solidFill>
            <a:prstDash val="solid"/>
          </a:ln>
        </p:spPr>
      </p:sp>
      <p:sp>
        <p:nvSpPr>
          <p:cNvPr id="7" name="Shape 4"/>
          <p:cNvSpPr/>
          <p:nvPr/>
        </p:nvSpPr>
        <p:spPr>
          <a:xfrm>
            <a:off x="822960" y="2377440"/>
            <a:ext cx="548640" cy="548640"/>
          </a:xfrm>
          <a:prstGeom prst="ellipse">
            <a:avLst/>
          </a:prstGeom>
          <a:solidFill>
            <a:srgbClr val="2FB8C4">
              <a:alpha val="18000"/>
            </a:srgbClr>
          </a:solidFill>
          <a:ln w="9525">
            <a:solidFill>
              <a:srgbClr val="2FB8C4">
                <a:alpha val="60000"/>
              </a:srgbClr>
            </a:solidFill>
            <a:prstDash val="solid"/>
          </a:ln>
        </p:spPr>
      </p:sp>
      <p:pic>
        <p:nvPicPr>
          <p:cNvPr id="8" name="Image 1" descr="preencoded.png">    </p:cNvPr>
          <p:cNvPicPr>
            <a:picLocks noChangeAspect="1"/>
          </p:cNvPicPr>
          <p:nvPr/>
        </p:nvPicPr>
        <p:blipFill>
          <a:blip r:embed="rId2"/>
          <a:stretch>
            <a:fillRect/>
          </a:stretch>
        </p:blipFill>
        <p:spPr>
          <a:xfrm>
            <a:off x="965606" y="2520086"/>
            <a:ext cx="263347" cy="263347"/>
          </a:xfrm>
          <a:prstGeom prst="rect">
            <a:avLst/>
          </a:prstGeom>
        </p:spPr>
      </p:pic>
      <p:sp>
        <p:nvSpPr>
          <p:cNvPr id="9" name="Text 5"/>
          <p:cNvSpPr txBox="1"/>
          <p:nvPr/>
        </p:nvSpPr>
        <p:spPr>
          <a:xfrm>
            <a:off x="1536192" y="2377440"/>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 decade-long core team</a:t>
            </a:r>
            <a:endParaRPr lang="en-US" sz="1500" dirty="0"/>
          </a:p>
        </p:txBody>
      </p:sp>
      <p:sp>
        <p:nvSpPr>
          <p:cNvPr id="10" name="Text 6"/>
          <p:cNvSpPr txBox="1"/>
          <p:nvPr/>
        </p:nvSpPr>
        <p:spPr>
          <a:xfrm>
            <a:off x="822960" y="3063240"/>
            <a:ext cx="3017520" cy="731520"/>
          </a:xfrm>
          <a:prstGeom prst="rect">
            <a:avLst/>
          </a:prstGeom>
          <a:noFill/>
          <a:ln/>
        </p:spPr>
        <p:txBody>
          <a:bodyPr wrap="square" lIns="0" tIns="0" rIns="0" bIns="0" rtlCol="0" anchor="t"/>
          <a:lstStyle/>
          <a:p>
            <a:pPr indent="0" marL="0">
              <a:lnSpc>
                <a:spcPct val="120000"/>
              </a:lnSpc>
              <a:buNone/>
            </a:pPr>
            <a:r>
              <a:rPr lang="en-US" sz="1100" dirty="0">
                <a:solidFill>
                  <a:srgbClr val="8FA9AE"/>
                </a:solidFill>
                <a:latin typeface="Arial" pitchFamily="34" charset="0"/>
                <a:ea typeface="Arial" pitchFamily="34" charset="-122"/>
                <a:cs typeface="Arial" pitchFamily="34" charset="-120"/>
              </a:rPr>
              <a:t>Our core engineers have worked together for over ten years — quality never slips with turnover.</a:t>
            </a:r>
            <a:endParaRPr lang="en-US" sz="1100" dirty="0"/>
          </a:p>
        </p:txBody>
      </p:sp>
      <p:sp>
        <p:nvSpPr>
          <p:cNvPr id="11" name="Shape 7"/>
          <p:cNvSpPr/>
          <p:nvPr/>
        </p:nvSpPr>
        <p:spPr>
          <a:xfrm>
            <a:off x="4279392" y="2103120"/>
            <a:ext cx="3566160" cy="1783080"/>
          </a:xfrm>
          <a:prstGeom prst="roundRect">
            <a:avLst>
              <a:gd name="adj" fmla="val 6154"/>
            </a:avLst>
          </a:prstGeom>
          <a:solidFill>
            <a:srgbClr val="0F2A33">
              <a:alpha val="75000"/>
            </a:srgbClr>
          </a:solidFill>
          <a:ln w="9525">
            <a:solidFill>
              <a:srgbClr val="1F4A55"/>
            </a:solidFill>
            <a:prstDash val="solid"/>
          </a:ln>
        </p:spPr>
      </p:sp>
      <p:sp>
        <p:nvSpPr>
          <p:cNvPr id="12" name="Shape 8"/>
          <p:cNvSpPr/>
          <p:nvPr/>
        </p:nvSpPr>
        <p:spPr>
          <a:xfrm>
            <a:off x="4553712" y="2377440"/>
            <a:ext cx="548640" cy="548640"/>
          </a:xfrm>
          <a:prstGeom prst="ellipse">
            <a:avLst/>
          </a:prstGeom>
          <a:solidFill>
            <a:srgbClr val="2FB8C4">
              <a:alpha val="18000"/>
            </a:srgbClr>
          </a:solidFill>
          <a:ln w="9525">
            <a:solidFill>
              <a:srgbClr val="2FB8C4">
                <a:alpha val="60000"/>
              </a:srgbClr>
            </a:solidFill>
            <a:prstDash val="solid"/>
          </a:ln>
        </p:spPr>
      </p:sp>
      <p:pic>
        <p:nvPicPr>
          <p:cNvPr id="13" name="Image 2" descr="preencoded.png">    </p:cNvPr>
          <p:cNvPicPr>
            <a:picLocks noChangeAspect="1"/>
          </p:cNvPicPr>
          <p:nvPr/>
        </p:nvPicPr>
        <p:blipFill>
          <a:blip r:embed="rId3"/>
          <a:stretch>
            <a:fillRect/>
          </a:stretch>
        </p:blipFill>
        <p:spPr>
          <a:xfrm>
            <a:off x="4696358" y="2520086"/>
            <a:ext cx="263347" cy="263347"/>
          </a:xfrm>
          <a:prstGeom prst="rect">
            <a:avLst/>
          </a:prstGeom>
        </p:spPr>
      </p:pic>
      <p:sp>
        <p:nvSpPr>
          <p:cNvPr id="14" name="Text 9"/>
          <p:cNvSpPr txBox="1"/>
          <p:nvPr/>
        </p:nvSpPr>
        <p:spPr>
          <a:xfrm>
            <a:off x="5266944" y="2377440"/>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End-to-end capability</a:t>
            </a:r>
            <a:endParaRPr lang="en-US" sz="1500" dirty="0"/>
          </a:p>
        </p:txBody>
      </p:sp>
      <p:sp>
        <p:nvSpPr>
          <p:cNvPr id="15" name="Text 10"/>
          <p:cNvSpPr txBox="1"/>
          <p:nvPr/>
        </p:nvSpPr>
        <p:spPr>
          <a:xfrm>
            <a:off x="4553712" y="3063240"/>
            <a:ext cx="3017520" cy="731520"/>
          </a:xfrm>
          <a:prstGeom prst="rect">
            <a:avLst/>
          </a:prstGeom>
          <a:noFill/>
          <a:ln/>
        </p:spPr>
        <p:txBody>
          <a:bodyPr wrap="square" lIns="0" tIns="0" rIns="0" bIns="0" rtlCol="0" anchor="t"/>
          <a:lstStyle/>
          <a:p>
            <a:pPr indent="0" marL="0">
              <a:lnSpc>
                <a:spcPct val="120000"/>
              </a:lnSpc>
              <a:buNone/>
            </a:pPr>
            <a:r>
              <a:rPr lang="en-US" sz="1100" dirty="0">
                <a:solidFill>
                  <a:srgbClr val="8FA9AE"/>
                </a:solidFill>
                <a:latin typeface="Arial" pitchFamily="34" charset="0"/>
                <a:ea typeface="Arial" pitchFamily="34" charset="-122"/>
                <a:cs typeface="Arial" pitchFamily="34" charset="-120"/>
              </a:rPr>
              <a:t>Strategy, design, engineering, operations and AI — delivered by one team.</a:t>
            </a:r>
            <a:endParaRPr lang="en-US" sz="1100" dirty="0"/>
          </a:p>
        </p:txBody>
      </p:sp>
      <p:sp>
        <p:nvSpPr>
          <p:cNvPr id="16" name="Shape 11"/>
          <p:cNvSpPr/>
          <p:nvPr/>
        </p:nvSpPr>
        <p:spPr>
          <a:xfrm>
            <a:off x="8010144" y="2103120"/>
            <a:ext cx="3566160" cy="1783080"/>
          </a:xfrm>
          <a:prstGeom prst="roundRect">
            <a:avLst>
              <a:gd name="adj" fmla="val 6154"/>
            </a:avLst>
          </a:prstGeom>
          <a:solidFill>
            <a:srgbClr val="0F2A33">
              <a:alpha val="75000"/>
            </a:srgbClr>
          </a:solidFill>
          <a:ln w="9525">
            <a:solidFill>
              <a:srgbClr val="1F4A55"/>
            </a:solidFill>
            <a:prstDash val="solid"/>
          </a:ln>
        </p:spPr>
      </p:sp>
      <p:sp>
        <p:nvSpPr>
          <p:cNvPr id="17" name="Shape 12"/>
          <p:cNvSpPr/>
          <p:nvPr/>
        </p:nvSpPr>
        <p:spPr>
          <a:xfrm>
            <a:off x="8284464" y="2377440"/>
            <a:ext cx="548640" cy="548640"/>
          </a:xfrm>
          <a:prstGeom prst="ellipse">
            <a:avLst/>
          </a:prstGeom>
          <a:solidFill>
            <a:srgbClr val="2FB8C4">
              <a:alpha val="18000"/>
            </a:srgbClr>
          </a:solidFill>
          <a:ln w="9525">
            <a:solidFill>
              <a:srgbClr val="2FB8C4">
                <a:alpha val="60000"/>
              </a:srgbClr>
            </a:solidFill>
            <a:prstDash val="solid"/>
          </a:ln>
        </p:spPr>
      </p:sp>
      <p:pic>
        <p:nvPicPr>
          <p:cNvPr id="18" name="Image 3" descr="preencoded.png">    </p:cNvPr>
          <p:cNvPicPr>
            <a:picLocks noChangeAspect="1"/>
          </p:cNvPicPr>
          <p:nvPr/>
        </p:nvPicPr>
        <p:blipFill>
          <a:blip r:embed="rId4"/>
          <a:stretch>
            <a:fillRect/>
          </a:stretch>
        </p:blipFill>
        <p:spPr>
          <a:xfrm>
            <a:off x="8427110" y="2520086"/>
            <a:ext cx="263347" cy="263347"/>
          </a:xfrm>
          <a:prstGeom prst="rect">
            <a:avLst/>
          </a:prstGeom>
        </p:spPr>
      </p:pic>
      <p:sp>
        <p:nvSpPr>
          <p:cNvPr id="19" name="Text 13"/>
          <p:cNvSpPr txBox="1"/>
          <p:nvPr/>
        </p:nvSpPr>
        <p:spPr>
          <a:xfrm>
            <a:off x="8997696" y="2377440"/>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Brand-grade standards</a:t>
            </a:r>
            <a:endParaRPr lang="en-US" sz="1500" dirty="0"/>
          </a:p>
        </p:txBody>
      </p:sp>
      <p:sp>
        <p:nvSpPr>
          <p:cNvPr id="20" name="Text 14"/>
          <p:cNvSpPr txBox="1"/>
          <p:nvPr/>
        </p:nvSpPr>
        <p:spPr>
          <a:xfrm>
            <a:off x="8284464" y="3063240"/>
            <a:ext cx="3017520" cy="731520"/>
          </a:xfrm>
          <a:prstGeom prst="rect">
            <a:avLst/>
          </a:prstGeom>
          <a:noFill/>
          <a:ln/>
        </p:spPr>
        <p:txBody>
          <a:bodyPr wrap="square" lIns="0" tIns="0" rIns="0" bIns="0" rtlCol="0" anchor="t"/>
          <a:lstStyle/>
          <a:p>
            <a:pPr indent="0" marL="0">
              <a:lnSpc>
                <a:spcPct val="120000"/>
              </a:lnSpc>
              <a:buNone/>
            </a:pPr>
            <a:r>
              <a:rPr lang="en-US" sz="1100" dirty="0">
                <a:solidFill>
                  <a:srgbClr val="8FA9AE"/>
                </a:solidFill>
                <a:latin typeface="Arial" pitchFamily="34" charset="0"/>
                <a:ea typeface="Arial" pitchFamily="34" charset="-122"/>
                <a:cs typeface="Arial" pitchFamily="34" charset="-120"/>
              </a:rPr>
              <a:t>Experienced with global beauty and luxury brands and their security &amp; compliance demands.</a:t>
            </a:r>
            <a:endParaRPr lang="en-US" sz="1100" dirty="0"/>
          </a:p>
        </p:txBody>
      </p:sp>
      <p:sp>
        <p:nvSpPr>
          <p:cNvPr id="21" name="Shape 15"/>
          <p:cNvSpPr/>
          <p:nvPr/>
        </p:nvSpPr>
        <p:spPr>
          <a:xfrm>
            <a:off x="548640" y="4069080"/>
            <a:ext cx="3566160" cy="1783080"/>
          </a:xfrm>
          <a:prstGeom prst="roundRect">
            <a:avLst>
              <a:gd name="adj" fmla="val 6154"/>
            </a:avLst>
          </a:prstGeom>
          <a:solidFill>
            <a:srgbClr val="0F2A33">
              <a:alpha val="75000"/>
            </a:srgbClr>
          </a:solidFill>
          <a:ln w="9525">
            <a:solidFill>
              <a:srgbClr val="1F4A55"/>
            </a:solidFill>
            <a:prstDash val="solid"/>
          </a:ln>
        </p:spPr>
      </p:sp>
      <p:sp>
        <p:nvSpPr>
          <p:cNvPr id="22" name="Shape 16"/>
          <p:cNvSpPr/>
          <p:nvPr/>
        </p:nvSpPr>
        <p:spPr>
          <a:xfrm>
            <a:off x="822960" y="4343400"/>
            <a:ext cx="548640" cy="548640"/>
          </a:xfrm>
          <a:prstGeom prst="ellipse">
            <a:avLst/>
          </a:prstGeom>
          <a:solidFill>
            <a:srgbClr val="2FB8C4">
              <a:alpha val="18000"/>
            </a:srgbClr>
          </a:solidFill>
          <a:ln w="9525">
            <a:solidFill>
              <a:srgbClr val="2FB8C4">
                <a:alpha val="60000"/>
              </a:srgbClr>
            </a:solidFill>
            <a:prstDash val="solid"/>
          </a:ln>
        </p:spPr>
      </p:sp>
      <p:pic>
        <p:nvPicPr>
          <p:cNvPr id="23" name="Image 4" descr="preencoded.png">    </p:cNvPr>
          <p:cNvPicPr>
            <a:picLocks noChangeAspect="1"/>
          </p:cNvPicPr>
          <p:nvPr/>
        </p:nvPicPr>
        <p:blipFill>
          <a:blip r:embed="rId5"/>
          <a:stretch>
            <a:fillRect/>
          </a:stretch>
        </p:blipFill>
        <p:spPr>
          <a:xfrm>
            <a:off x="965606" y="4486046"/>
            <a:ext cx="263347" cy="263347"/>
          </a:xfrm>
          <a:prstGeom prst="rect">
            <a:avLst/>
          </a:prstGeom>
        </p:spPr>
      </p:pic>
      <p:sp>
        <p:nvSpPr>
          <p:cNvPr id="24" name="Text 17"/>
          <p:cNvSpPr txBox="1"/>
          <p:nvPr/>
        </p:nvSpPr>
        <p:spPr>
          <a:xfrm>
            <a:off x="1536192" y="4343400"/>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Proven at scale</a:t>
            </a:r>
            <a:endParaRPr lang="en-US" sz="1500" dirty="0"/>
          </a:p>
        </p:txBody>
      </p:sp>
      <p:sp>
        <p:nvSpPr>
          <p:cNvPr id="25" name="Text 18"/>
          <p:cNvSpPr txBox="1"/>
          <p:nvPr/>
        </p:nvSpPr>
        <p:spPr>
          <a:xfrm>
            <a:off x="822960" y="5029200"/>
            <a:ext cx="3017520" cy="731520"/>
          </a:xfrm>
          <a:prstGeom prst="rect">
            <a:avLst/>
          </a:prstGeom>
          <a:noFill/>
          <a:ln/>
        </p:spPr>
        <p:txBody>
          <a:bodyPr wrap="square" lIns="0" tIns="0" rIns="0" bIns="0" rtlCol="0" anchor="t"/>
          <a:lstStyle/>
          <a:p>
            <a:pPr indent="0" marL="0">
              <a:lnSpc>
                <a:spcPct val="120000"/>
              </a:lnSpc>
              <a:buNone/>
            </a:pPr>
            <a:r>
              <a:rPr lang="en-US" sz="1100" dirty="0">
                <a:solidFill>
                  <a:srgbClr val="8FA9AE"/>
                </a:solidFill>
                <a:latin typeface="Arial" pitchFamily="34" charset="0"/>
                <a:ea typeface="Arial" pitchFamily="34" charset="-122"/>
                <a:cs typeface="Arial" pitchFamily="34" charset="-120"/>
              </a:rPr>
              <a:t>Years of building and operating multiple 10M-scale systems.</a:t>
            </a:r>
            <a:endParaRPr lang="en-US" sz="1100" dirty="0"/>
          </a:p>
        </p:txBody>
      </p:sp>
      <p:sp>
        <p:nvSpPr>
          <p:cNvPr id="26" name="Shape 19"/>
          <p:cNvSpPr/>
          <p:nvPr/>
        </p:nvSpPr>
        <p:spPr>
          <a:xfrm>
            <a:off x="4279392" y="4069080"/>
            <a:ext cx="3566160" cy="1783080"/>
          </a:xfrm>
          <a:prstGeom prst="roundRect">
            <a:avLst>
              <a:gd name="adj" fmla="val 6154"/>
            </a:avLst>
          </a:prstGeom>
          <a:solidFill>
            <a:srgbClr val="0F2A33">
              <a:alpha val="75000"/>
            </a:srgbClr>
          </a:solidFill>
          <a:ln w="9525">
            <a:solidFill>
              <a:srgbClr val="1F4A55"/>
            </a:solidFill>
            <a:prstDash val="solid"/>
          </a:ln>
        </p:spPr>
      </p:sp>
      <p:sp>
        <p:nvSpPr>
          <p:cNvPr id="27" name="Shape 20"/>
          <p:cNvSpPr/>
          <p:nvPr/>
        </p:nvSpPr>
        <p:spPr>
          <a:xfrm>
            <a:off x="4553712" y="4343400"/>
            <a:ext cx="548640" cy="548640"/>
          </a:xfrm>
          <a:prstGeom prst="ellipse">
            <a:avLst/>
          </a:prstGeom>
          <a:solidFill>
            <a:srgbClr val="2FB8C4">
              <a:alpha val="18000"/>
            </a:srgbClr>
          </a:solidFill>
          <a:ln w="9525">
            <a:solidFill>
              <a:srgbClr val="2FB8C4">
                <a:alpha val="60000"/>
              </a:srgbClr>
            </a:solidFill>
            <a:prstDash val="solid"/>
          </a:ln>
        </p:spPr>
      </p:sp>
      <p:pic>
        <p:nvPicPr>
          <p:cNvPr id="28" name="Image 5" descr="preencoded.png">    </p:cNvPr>
          <p:cNvPicPr>
            <a:picLocks noChangeAspect="1"/>
          </p:cNvPicPr>
          <p:nvPr/>
        </p:nvPicPr>
        <p:blipFill>
          <a:blip r:embed="rId6"/>
          <a:stretch>
            <a:fillRect/>
          </a:stretch>
        </p:blipFill>
        <p:spPr>
          <a:xfrm>
            <a:off x="4696358" y="4486046"/>
            <a:ext cx="263347" cy="263347"/>
          </a:xfrm>
          <a:prstGeom prst="rect">
            <a:avLst/>
          </a:prstGeom>
        </p:spPr>
      </p:pic>
      <p:sp>
        <p:nvSpPr>
          <p:cNvPr id="29" name="Text 21"/>
          <p:cNvSpPr txBox="1"/>
          <p:nvPr/>
        </p:nvSpPr>
        <p:spPr>
          <a:xfrm>
            <a:off x="5266944" y="4343400"/>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AI-native</a:t>
            </a:r>
            <a:endParaRPr lang="en-US" sz="1500" dirty="0"/>
          </a:p>
        </p:txBody>
      </p:sp>
      <p:sp>
        <p:nvSpPr>
          <p:cNvPr id="30" name="Text 22"/>
          <p:cNvSpPr txBox="1"/>
          <p:nvPr/>
        </p:nvSpPr>
        <p:spPr>
          <a:xfrm>
            <a:off x="4553712" y="5029200"/>
            <a:ext cx="3017520" cy="731520"/>
          </a:xfrm>
          <a:prstGeom prst="rect">
            <a:avLst/>
          </a:prstGeom>
          <a:noFill/>
          <a:ln/>
        </p:spPr>
        <p:txBody>
          <a:bodyPr wrap="square" lIns="0" tIns="0" rIns="0" bIns="0" rtlCol="0" anchor="t"/>
          <a:lstStyle/>
          <a:p>
            <a:pPr indent="0" marL="0">
              <a:lnSpc>
                <a:spcPct val="120000"/>
              </a:lnSpc>
              <a:buNone/>
            </a:pPr>
            <a:r>
              <a:rPr lang="en-US" sz="1100" dirty="0">
                <a:solidFill>
                  <a:srgbClr val="8FA9AE"/>
                </a:solidFill>
                <a:latin typeface="Arial" pitchFamily="34" charset="0"/>
                <a:ea typeface="Arial" pitchFamily="34" charset="-122"/>
                <a:cs typeface="Arial" pitchFamily="34" charset="-120"/>
              </a:rPr>
              <a:t>Our own AIGC pipeline, with proven capacity of a thousand videos a month.</a:t>
            </a:r>
            <a:endParaRPr lang="en-US" sz="1100" dirty="0"/>
          </a:p>
        </p:txBody>
      </p:sp>
      <p:sp>
        <p:nvSpPr>
          <p:cNvPr id="31" name="Shape 23"/>
          <p:cNvSpPr/>
          <p:nvPr/>
        </p:nvSpPr>
        <p:spPr>
          <a:xfrm>
            <a:off x="8010144" y="4069080"/>
            <a:ext cx="3566160" cy="1783080"/>
          </a:xfrm>
          <a:prstGeom prst="roundRect">
            <a:avLst>
              <a:gd name="adj" fmla="val 6154"/>
            </a:avLst>
          </a:prstGeom>
          <a:solidFill>
            <a:srgbClr val="0F2A33">
              <a:alpha val="75000"/>
            </a:srgbClr>
          </a:solidFill>
          <a:ln w="9525">
            <a:solidFill>
              <a:srgbClr val="1F4A55"/>
            </a:solidFill>
            <a:prstDash val="solid"/>
          </a:ln>
        </p:spPr>
      </p:sp>
      <p:sp>
        <p:nvSpPr>
          <p:cNvPr id="32" name="Shape 24"/>
          <p:cNvSpPr/>
          <p:nvPr/>
        </p:nvSpPr>
        <p:spPr>
          <a:xfrm>
            <a:off x="8284464" y="4343400"/>
            <a:ext cx="548640" cy="548640"/>
          </a:xfrm>
          <a:prstGeom prst="ellipse">
            <a:avLst/>
          </a:prstGeom>
          <a:solidFill>
            <a:srgbClr val="2FB8C4">
              <a:alpha val="18000"/>
            </a:srgbClr>
          </a:solidFill>
          <a:ln w="9525">
            <a:solidFill>
              <a:srgbClr val="2FB8C4">
                <a:alpha val="60000"/>
              </a:srgbClr>
            </a:solidFill>
            <a:prstDash val="solid"/>
          </a:ln>
        </p:spPr>
      </p:sp>
      <p:pic>
        <p:nvPicPr>
          <p:cNvPr id="33" name="Image 6" descr="preencoded.png">    </p:cNvPr>
          <p:cNvPicPr>
            <a:picLocks noChangeAspect="1"/>
          </p:cNvPicPr>
          <p:nvPr/>
        </p:nvPicPr>
        <p:blipFill>
          <a:blip r:embed="rId7"/>
          <a:stretch>
            <a:fillRect/>
          </a:stretch>
        </p:blipFill>
        <p:spPr>
          <a:xfrm>
            <a:off x="8427110" y="4486046"/>
            <a:ext cx="263347" cy="263347"/>
          </a:xfrm>
          <a:prstGeom prst="rect">
            <a:avLst/>
          </a:prstGeom>
        </p:spPr>
      </p:pic>
      <p:sp>
        <p:nvSpPr>
          <p:cNvPr id="34" name="Text 25"/>
          <p:cNvSpPr txBox="1"/>
          <p:nvPr/>
        </p:nvSpPr>
        <p:spPr>
          <a:xfrm>
            <a:off x="8997696" y="4343400"/>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Long-term partner</a:t>
            </a:r>
            <a:endParaRPr lang="en-US" sz="1500" dirty="0"/>
          </a:p>
        </p:txBody>
      </p:sp>
      <p:sp>
        <p:nvSpPr>
          <p:cNvPr id="35" name="Text 26"/>
          <p:cNvSpPr txBox="1"/>
          <p:nvPr/>
        </p:nvSpPr>
        <p:spPr>
          <a:xfrm>
            <a:off x="8284464" y="5029200"/>
            <a:ext cx="3017520" cy="731520"/>
          </a:xfrm>
          <a:prstGeom prst="rect">
            <a:avLst/>
          </a:prstGeom>
          <a:noFill/>
          <a:ln/>
        </p:spPr>
        <p:txBody>
          <a:bodyPr wrap="square" lIns="0" tIns="0" rIns="0" bIns="0" rtlCol="0" anchor="t"/>
          <a:lstStyle/>
          <a:p>
            <a:pPr indent="0" marL="0">
              <a:lnSpc>
                <a:spcPct val="120000"/>
              </a:lnSpc>
              <a:buNone/>
            </a:pPr>
            <a:r>
              <a:rPr lang="en-US" sz="1100" dirty="0">
                <a:solidFill>
                  <a:srgbClr val="8FA9AE"/>
                </a:solidFill>
                <a:latin typeface="Arial" pitchFamily="34" charset="0"/>
                <a:ea typeface="Arial" pitchFamily="34" charset="-122"/>
                <a:cs typeface="Arial" pitchFamily="34" charset="-120"/>
              </a:rPr>
              <a:t>Dedicated one-to-one service, with continuous iteration well after launch.</a:t>
            </a:r>
            <a:endParaRPr lang="en-US" sz="1100" dirty="0"/>
          </a:p>
        </p:txBody>
      </p:sp>
      <p:pic>
        <p:nvPicPr>
          <p:cNvPr id="36" name="Image 7" descr="/tmp/claude-0/-home-user-website/1713201c-620c-5ce1-b439-a99d37e654e6/scratchpad/build/../assets/jm_logo.png">    </p:cNvPr>
          <p:cNvPicPr>
            <a:picLocks noChangeAspect="1"/>
          </p:cNvPicPr>
          <p:nvPr/>
        </p:nvPicPr>
        <p:blipFill>
          <a:blip r:embed="rId8"/>
          <a:stretch>
            <a:fillRect/>
          </a:stretch>
        </p:blipFill>
        <p:spPr>
          <a:xfrm>
            <a:off x="548640" y="6336792"/>
            <a:ext cx="274320" cy="235915"/>
          </a:xfrm>
          <a:prstGeom prst="rect">
            <a:avLst/>
          </a:prstGeom>
        </p:spPr>
      </p:pic>
      <p:sp>
        <p:nvSpPr>
          <p:cNvPr id="37" name="Text 27"/>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38" name="Text 28"/>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tmp/claude-0/-home-user-website/1713201c-620c-5ce1-b439-a99d37e654e6/scratchpad/build/../assets/jm_bg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100" b="1" spc="500" kern="0" dirty="0">
                <a:solidFill>
                  <a:srgbClr val="2FB8C4"/>
                </a:solidFill>
                <a:latin typeface="Arial" pitchFamily="34" charset="0"/>
                <a:ea typeface="Arial" pitchFamily="34" charset="-122"/>
                <a:cs typeface="Arial" pitchFamily="34" charset="-120"/>
              </a:rPr>
              <a:t>ENGAGEMENT MODELS</a:t>
            </a:r>
            <a:endParaRPr lang="en-US" sz="1100" dirty="0"/>
          </a:p>
        </p:txBody>
      </p:sp>
      <p:sp>
        <p:nvSpPr>
          <p:cNvPr id="4" name="Text 1"/>
          <p:cNvSpPr txBox="1"/>
          <p:nvPr/>
        </p:nvSpPr>
        <p:spPr>
          <a:xfrm>
            <a:off x="548640" y="74980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Three ways to work with us</a:t>
            </a:r>
            <a:endParaRPr lang="en-US" sz="3000" dirty="0"/>
          </a:p>
        </p:txBody>
      </p:sp>
      <p:sp>
        <p:nvSpPr>
          <p:cNvPr id="5" name="Text 2"/>
          <p:cNvSpPr txBox="1"/>
          <p:nvPr/>
        </p:nvSpPr>
        <p:spPr>
          <a:xfrm>
            <a:off x="548640" y="1389888"/>
            <a:ext cx="10972800" cy="329184"/>
          </a:xfrm>
          <a:prstGeom prst="rect">
            <a:avLst/>
          </a:prstGeom>
          <a:noFill/>
          <a:ln/>
        </p:spPr>
        <p:txBody>
          <a:bodyPr wrap="square" lIns="0" tIns="0" rIns="0" bIns="0" rtlCol="0" anchor="ctr"/>
          <a:lstStyle/>
          <a:p>
            <a:pPr indent="0" marL="0">
              <a:buNone/>
            </a:pPr>
            <a:r>
              <a:rPr lang="en-US" sz="1300" dirty="0">
                <a:solidFill>
                  <a:srgbClr val="8FA9AE"/>
                </a:solidFill>
                <a:latin typeface="Arial" pitchFamily="34" charset="0"/>
                <a:ea typeface="Arial" pitchFamily="34" charset="-122"/>
                <a:cs typeface="Arial" pitchFamily="34" charset="-120"/>
              </a:rPr>
              <a:t>Choose the model that fits your project.</a:t>
            </a:r>
            <a:endParaRPr lang="en-US" sz="1300" dirty="0"/>
          </a:p>
        </p:txBody>
      </p:sp>
      <p:sp>
        <p:nvSpPr>
          <p:cNvPr id="6" name="Shape 3"/>
          <p:cNvSpPr/>
          <p:nvPr/>
        </p:nvSpPr>
        <p:spPr>
          <a:xfrm>
            <a:off x="548640" y="2103120"/>
            <a:ext cx="3566160" cy="3931920"/>
          </a:xfrm>
          <a:prstGeom prst="roundRect">
            <a:avLst>
              <a:gd name="adj" fmla="val 3077"/>
            </a:avLst>
          </a:prstGeom>
          <a:solidFill>
            <a:srgbClr val="0F2A33">
              <a:alpha val="75000"/>
            </a:srgbClr>
          </a:solidFill>
          <a:ln w="9525">
            <a:solidFill>
              <a:srgbClr val="1F4A55"/>
            </a:solidFill>
            <a:prstDash val="solid"/>
          </a:ln>
        </p:spPr>
      </p:sp>
      <p:sp>
        <p:nvSpPr>
          <p:cNvPr id="7" name="Shape 4"/>
          <p:cNvSpPr/>
          <p:nvPr/>
        </p:nvSpPr>
        <p:spPr>
          <a:xfrm>
            <a:off x="822960" y="2377440"/>
            <a:ext cx="603504" cy="603504"/>
          </a:xfrm>
          <a:prstGeom prst="ellipse">
            <a:avLst/>
          </a:prstGeom>
          <a:solidFill>
            <a:srgbClr val="2FB8C4">
              <a:alpha val="18000"/>
            </a:srgbClr>
          </a:solidFill>
          <a:ln w="9525">
            <a:solidFill>
              <a:srgbClr val="2FB8C4">
                <a:alpha val="60000"/>
              </a:srgbClr>
            </a:solidFill>
            <a:prstDash val="solid"/>
          </a:ln>
        </p:spPr>
      </p:sp>
      <p:pic>
        <p:nvPicPr>
          <p:cNvPr id="8" name="Image 1" descr="preencoded.png">    </p:cNvPr>
          <p:cNvPicPr>
            <a:picLocks noChangeAspect="1"/>
          </p:cNvPicPr>
          <p:nvPr/>
        </p:nvPicPr>
        <p:blipFill>
          <a:blip r:embed="rId2"/>
          <a:stretch>
            <a:fillRect/>
          </a:stretch>
        </p:blipFill>
        <p:spPr>
          <a:xfrm>
            <a:off x="979871" y="2534351"/>
            <a:ext cx="289682" cy="289682"/>
          </a:xfrm>
          <a:prstGeom prst="rect">
            <a:avLst/>
          </a:prstGeom>
        </p:spPr>
      </p:pic>
      <p:sp>
        <p:nvSpPr>
          <p:cNvPr id="9" name="Text 5"/>
          <p:cNvSpPr txBox="1"/>
          <p:nvPr/>
        </p:nvSpPr>
        <p:spPr>
          <a:xfrm>
            <a:off x="822960" y="3154680"/>
            <a:ext cx="301752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Project-Based</a:t>
            </a:r>
            <a:endParaRPr lang="en-US" sz="1900" dirty="0"/>
          </a:p>
        </p:txBody>
      </p:sp>
      <p:sp>
        <p:nvSpPr>
          <p:cNvPr id="10" name="Text 6"/>
          <p:cNvSpPr txBox="1"/>
          <p:nvPr/>
        </p:nvSpPr>
        <p:spPr>
          <a:xfrm>
            <a:off x="822960" y="3657600"/>
            <a:ext cx="3017520" cy="1188720"/>
          </a:xfrm>
          <a:prstGeom prst="rect">
            <a:avLst/>
          </a:prstGeom>
          <a:noFill/>
          <a:ln/>
        </p:spPr>
        <p:txBody>
          <a:bodyPr wrap="square" lIns="0" tIns="0" rIns="0" bIns="0" rtlCol="0" anchor="t"/>
          <a:lstStyle/>
          <a:p>
            <a:pPr indent="0" marL="0">
              <a:lnSpc>
                <a:spcPct val="125000"/>
              </a:lnSpc>
              <a:buNone/>
            </a:pPr>
            <a:r>
              <a:rPr lang="en-US" sz="1150" dirty="0">
                <a:solidFill>
                  <a:srgbClr val="8FA9AE"/>
                </a:solidFill>
                <a:latin typeface="Arial" pitchFamily="34" charset="0"/>
                <a:ea typeface="Arial" pitchFamily="34" charset="-122"/>
                <a:cs typeface="Arial" pitchFamily="34" charset="-120"/>
              </a:rPr>
              <a:t>Clear scope, milestones and acceptance criteria — ideal for websites, mini programs, apps and enterprise systems.</a:t>
            </a:r>
            <a:endParaRPr lang="en-US" sz="1150" dirty="0"/>
          </a:p>
        </p:txBody>
      </p:sp>
      <p:pic>
        <p:nvPicPr>
          <p:cNvPr id="11" name="Image 2" descr="preencoded.png">    </p:cNvPr>
          <p:cNvPicPr>
            <a:picLocks noChangeAspect="1"/>
          </p:cNvPicPr>
          <p:nvPr/>
        </p:nvPicPr>
        <p:blipFill>
          <a:blip r:embed="rId3"/>
          <a:stretch>
            <a:fillRect/>
          </a:stretch>
        </p:blipFill>
        <p:spPr>
          <a:xfrm>
            <a:off x="822960" y="4983480"/>
            <a:ext cx="182880" cy="182880"/>
          </a:xfrm>
          <a:prstGeom prst="rect">
            <a:avLst/>
          </a:prstGeom>
        </p:spPr>
      </p:pic>
      <p:sp>
        <p:nvSpPr>
          <p:cNvPr id="12" name="Text 7"/>
          <p:cNvSpPr txBox="1"/>
          <p:nvPr/>
        </p:nvSpPr>
        <p:spPr>
          <a:xfrm>
            <a:off x="1097280" y="4937760"/>
            <a:ext cx="2743200" cy="274320"/>
          </a:xfrm>
          <a:prstGeom prst="rect">
            <a:avLst/>
          </a:prstGeom>
          <a:noFill/>
          <a:ln/>
        </p:spPr>
        <p:txBody>
          <a:bodyPr wrap="square" lIns="0" tIns="0" rIns="0" bIns="0" rtlCol="0" anchor="ctr"/>
          <a:lstStyle/>
          <a:p>
            <a:pPr indent="0" marL="0">
              <a:buNone/>
            </a:pPr>
            <a:r>
              <a:rPr lang="en-US" sz="1100" dirty="0">
                <a:solidFill>
                  <a:srgbClr val="E6F1F3"/>
                </a:solidFill>
                <a:latin typeface="Arial" pitchFamily="34" charset="0"/>
                <a:ea typeface="Arial" pitchFamily="34" charset="-122"/>
                <a:cs typeface="Arial" pitchFamily="34" charset="-120"/>
              </a:rPr>
              <a:t>Fixed scope &amp; pricing</a:t>
            </a:r>
            <a:endParaRPr lang="en-US" sz="1100" dirty="0"/>
          </a:p>
        </p:txBody>
      </p:sp>
      <p:pic>
        <p:nvPicPr>
          <p:cNvPr id="13" name="Image 3" descr="preencoded.png">    </p:cNvPr>
          <p:cNvPicPr>
            <a:picLocks noChangeAspect="1"/>
          </p:cNvPicPr>
          <p:nvPr/>
        </p:nvPicPr>
        <p:blipFill>
          <a:blip r:embed="rId4"/>
          <a:stretch>
            <a:fillRect/>
          </a:stretch>
        </p:blipFill>
        <p:spPr>
          <a:xfrm>
            <a:off x="822960" y="5312664"/>
            <a:ext cx="182880" cy="182880"/>
          </a:xfrm>
          <a:prstGeom prst="rect">
            <a:avLst/>
          </a:prstGeom>
        </p:spPr>
      </p:pic>
      <p:sp>
        <p:nvSpPr>
          <p:cNvPr id="14" name="Text 8"/>
          <p:cNvSpPr txBox="1"/>
          <p:nvPr/>
        </p:nvSpPr>
        <p:spPr>
          <a:xfrm>
            <a:off x="1097280" y="5266944"/>
            <a:ext cx="2743200" cy="274320"/>
          </a:xfrm>
          <a:prstGeom prst="rect">
            <a:avLst/>
          </a:prstGeom>
          <a:noFill/>
          <a:ln/>
        </p:spPr>
        <p:txBody>
          <a:bodyPr wrap="square" lIns="0" tIns="0" rIns="0" bIns="0" rtlCol="0" anchor="ctr"/>
          <a:lstStyle/>
          <a:p>
            <a:pPr indent="0" marL="0">
              <a:buNone/>
            </a:pPr>
            <a:r>
              <a:rPr lang="en-US" sz="1100" dirty="0">
                <a:solidFill>
                  <a:srgbClr val="E6F1F3"/>
                </a:solidFill>
                <a:latin typeface="Arial" pitchFamily="34" charset="0"/>
                <a:ea typeface="Arial" pitchFamily="34" charset="-122"/>
                <a:cs typeface="Arial" pitchFamily="34" charset="-120"/>
              </a:rPr>
              <a:t>Milestone acceptance</a:t>
            </a:r>
            <a:endParaRPr lang="en-US" sz="1100" dirty="0"/>
          </a:p>
        </p:txBody>
      </p:sp>
      <p:pic>
        <p:nvPicPr>
          <p:cNvPr id="15" name="Image 4" descr="preencoded.png">    </p:cNvPr>
          <p:cNvPicPr>
            <a:picLocks noChangeAspect="1"/>
          </p:cNvPicPr>
          <p:nvPr/>
        </p:nvPicPr>
        <p:blipFill>
          <a:blip r:embed="rId5"/>
          <a:stretch>
            <a:fillRect/>
          </a:stretch>
        </p:blipFill>
        <p:spPr>
          <a:xfrm>
            <a:off x="822960" y="5641848"/>
            <a:ext cx="182880" cy="182880"/>
          </a:xfrm>
          <a:prstGeom prst="rect">
            <a:avLst/>
          </a:prstGeom>
        </p:spPr>
      </p:pic>
      <p:sp>
        <p:nvSpPr>
          <p:cNvPr id="16" name="Text 9"/>
          <p:cNvSpPr txBox="1"/>
          <p:nvPr/>
        </p:nvSpPr>
        <p:spPr>
          <a:xfrm>
            <a:off x="1097280" y="5596128"/>
            <a:ext cx="2743200" cy="274320"/>
          </a:xfrm>
          <a:prstGeom prst="rect">
            <a:avLst/>
          </a:prstGeom>
          <a:noFill/>
          <a:ln/>
        </p:spPr>
        <p:txBody>
          <a:bodyPr wrap="square" lIns="0" tIns="0" rIns="0" bIns="0" rtlCol="0" anchor="ctr"/>
          <a:lstStyle/>
          <a:p>
            <a:pPr indent="0" marL="0">
              <a:buNone/>
            </a:pPr>
            <a:r>
              <a:rPr lang="en-US" sz="1100" dirty="0">
                <a:solidFill>
                  <a:srgbClr val="E6F1F3"/>
                </a:solidFill>
                <a:latin typeface="Arial" pitchFamily="34" charset="0"/>
                <a:ea typeface="Arial" pitchFamily="34" charset="-122"/>
                <a:cs typeface="Arial" pitchFamily="34" charset="-120"/>
              </a:rPr>
              <a:t>Post-launch warranty</a:t>
            </a:r>
            <a:endParaRPr lang="en-US" sz="1100" dirty="0"/>
          </a:p>
        </p:txBody>
      </p:sp>
      <p:sp>
        <p:nvSpPr>
          <p:cNvPr id="17" name="Shape 10"/>
          <p:cNvSpPr/>
          <p:nvPr/>
        </p:nvSpPr>
        <p:spPr>
          <a:xfrm>
            <a:off x="4279392" y="2103120"/>
            <a:ext cx="3566160" cy="3931920"/>
          </a:xfrm>
          <a:prstGeom prst="roundRect">
            <a:avLst>
              <a:gd name="adj" fmla="val 3077"/>
            </a:avLst>
          </a:prstGeom>
          <a:solidFill>
            <a:srgbClr val="0E6E7E">
              <a:alpha val="70000"/>
            </a:srgbClr>
          </a:solidFill>
          <a:ln w="15875">
            <a:solidFill>
              <a:srgbClr val="2FB8C4"/>
            </a:solidFill>
            <a:prstDash val="solid"/>
          </a:ln>
        </p:spPr>
      </p:sp>
      <p:sp>
        <p:nvSpPr>
          <p:cNvPr id="18" name="Text 11"/>
          <p:cNvSpPr txBox="1"/>
          <p:nvPr/>
        </p:nvSpPr>
        <p:spPr>
          <a:xfrm>
            <a:off x="6245352" y="2450592"/>
            <a:ext cx="1371600" cy="292608"/>
          </a:xfrm>
          <a:prstGeom prst="roundRect">
            <a:avLst>
              <a:gd name="adj" fmla="val 46875"/>
            </a:avLst>
          </a:prstGeom>
          <a:solidFill>
            <a:srgbClr val="2FB8C4"/>
          </a:solidFill>
          <a:ln w="6350">
            <a:solidFill>
              <a:srgbClr val="2FB8C4"/>
            </a:solidFill>
          </a:ln>
        </p:spPr>
        <p:txBody>
          <a:bodyPr wrap="square" lIns="0" tIns="0" rIns="0" bIns="0" rtlCol="0" anchor="ctr"/>
          <a:lstStyle/>
          <a:p>
            <a:pPr algn="ctr" indent="0" marL="0">
              <a:buNone/>
            </a:pPr>
            <a:r>
              <a:rPr lang="en-US" sz="900" b="1" dirty="0">
                <a:solidFill>
                  <a:srgbClr val="061116"/>
                </a:solidFill>
                <a:latin typeface="Arial" pitchFamily="34" charset="0"/>
                <a:ea typeface="Arial" pitchFamily="34" charset="-122"/>
                <a:cs typeface="Arial" pitchFamily="34" charset="-120"/>
              </a:rPr>
              <a:t>RECOMMENDED</a:t>
            </a:r>
            <a:endParaRPr lang="en-US" sz="900" dirty="0"/>
          </a:p>
        </p:txBody>
      </p:sp>
      <p:sp>
        <p:nvSpPr>
          <p:cNvPr id="19" name="Shape 12"/>
          <p:cNvSpPr/>
          <p:nvPr/>
        </p:nvSpPr>
        <p:spPr>
          <a:xfrm>
            <a:off x="4553712" y="2377440"/>
            <a:ext cx="603504" cy="603504"/>
          </a:xfrm>
          <a:prstGeom prst="ellipse">
            <a:avLst/>
          </a:prstGeom>
          <a:solidFill>
            <a:srgbClr val="2FB8C4">
              <a:alpha val="45000"/>
            </a:srgbClr>
          </a:solidFill>
          <a:ln w="9525">
            <a:solidFill>
              <a:srgbClr val="2FB8C4">
                <a:alpha val="60000"/>
              </a:srgbClr>
            </a:solidFill>
            <a:prstDash val="solid"/>
          </a:ln>
        </p:spPr>
      </p:sp>
      <p:pic>
        <p:nvPicPr>
          <p:cNvPr id="20" name="Image 5" descr="preencoded.png">    </p:cNvPr>
          <p:cNvPicPr>
            <a:picLocks noChangeAspect="1"/>
          </p:cNvPicPr>
          <p:nvPr/>
        </p:nvPicPr>
        <p:blipFill>
          <a:blip r:embed="rId6"/>
          <a:stretch>
            <a:fillRect/>
          </a:stretch>
        </p:blipFill>
        <p:spPr>
          <a:xfrm>
            <a:off x="4710623" y="2534351"/>
            <a:ext cx="289682" cy="289682"/>
          </a:xfrm>
          <a:prstGeom prst="rect">
            <a:avLst/>
          </a:prstGeom>
        </p:spPr>
      </p:pic>
      <p:sp>
        <p:nvSpPr>
          <p:cNvPr id="21" name="Text 13"/>
          <p:cNvSpPr txBox="1"/>
          <p:nvPr/>
        </p:nvSpPr>
        <p:spPr>
          <a:xfrm>
            <a:off x="4553712" y="3154680"/>
            <a:ext cx="301752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AI FDE</a:t>
            </a:r>
            <a:endParaRPr lang="en-US" sz="1900" dirty="0"/>
          </a:p>
        </p:txBody>
      </p:sp>
      <p:sp>
        <p:nvSpPr>
          <p:cNvPr id="22" name="Text 14"/>
          <p:cNvSpPr txBox="1"/>
          <p:nvPr/>
        </p:nvSpPr>
        <p:spPr>
          <a:xfrm>
            <a:off x="4553712" y="3657600"/>
            <a:ext cx="3017520" cy="1188720"/>
          </a:xfrm>
          <a:prstGeom prst="rect">
            <a:avLst/>
          </a:prstGeom>
          <a:noFill/>
          <a:ln/>
        </p:spPr>
        <p:txBody>
          <a:bodyPr wrap="square" lIns="0" tIns="0" rIns="0" bIns="0" rtlCol="0" anchor="t"/>
          <a:lstStyle/>
          <a:p>
            <a:pPr indent="0" marL="0">
              <a:lnSpc>
                <a:spcPct val="125000"/>
              </a:lnSpc>
              <a:buNone/>
            </a:pPr>
            <a:r>
              <a:rPr lang="en-US" sz="1150" dirty="0">
                <a:solidFill>
                  <a:srgbClr val="E6F1F3"/>
                </a:solidFill>
                <a:latin typeface="Arial" pitchFamily="34" charset="0"/>
                <a:ea typeface="Arial" pitchFamily="34" charset="-122"/>
                <a:cs typeface="Arial" pitchFamily="34" charset="-120"/>
              </a:rPr>
              <a:t>Engineers embedded in your team, delivering AI production systems through discover, prototype, deploy and transfer.</a:t>
            </a:r>
            <a:endParaRPr lang="en-US" sz="1150" dirty="0"/>
          </a:p>
        </p:txBody>
      </p:sp>
      <p:pic>
        <p:nvPicPr>
          <p:cNvPr id="23" name="Image 6" descr="preencoded.png">    </p:cNvPr>
          <p:cNvPicPr>
            <a:picLocks noChangeAspect="1"/>
          </p:cNvPicPr>
          <p:nvPr/>
        </p:nvPicPr>
        <p:blipFill>
          <a:blip r:embed="rId7"/>
          <a:stretch>
            <a:fillRect/>
          </a:stretch>
        </p:blipFill>
        <p:spPr>
          <a:xfrm>
            <a:off x="4553712" y="4983480"/>
            <a:ext cx="182880" cy="182880"/>
          </a:xfrm>
          <a:prstGeom prst="rect">
            <a:avLst/>
          </a:prstGeom>
        </p:spPr>
      </p:pic>
      <p:sp>
        <p:nvSpPr>
          <p:cNvPr id="24" name="Text 15"/>
          <p:cNvSpPr txBox="1"/>
          <p:nvPr/>
        </p:nvSpPr>
        <p:spPr>
          <a:xfrm>
            <a:off x="4828032" y="4937760"/>
            <a:ext cx="2743200" cy="274320"/>
          </a:xfrm>
          <a:prstGeom prst="rect">
            <a:avLst/>
          </a:prstGeom>
          <a:noFill/>
          <a:ln/>
        </p:spPr>
        <p:txBody>
          <a:bodyPr wrap="square" lIns="0" tIns="0" rIns="0" bIns="0" rtlCol="0" anchor="ctr"/>
          <a:lstStyle/>
          <a:p>
            <a:pPr indent="0" marL="0">
              <a:buNone/>
            </a:pPr>
            <a:r>
              <a:rPr lang="en-US" sz="1100" dirty="0">
                <a:solidFill>
                  <a:srgbClr val="E6F1F3"/>
                </a:solidFill>
                <a:latin typeface="Arial" pitchFamily="34" charset="0"/>
                <a:ea typeface="Arial" pitchFamily="34" charset="-122"/>
                <a:cs typeface="Arial" pitchFamily="34" charset="-120"/>
              </a:rPr>
              <a:t>On-site or remote embedding</a:t>
            </a:r>
            <a:endParaRPr lang="en-US" sz="1100" dirty="0"/>
          </a:p>
        </p:txBody>
      </p:sp>
      <p:pic>
        <p:nvPicPr>
          <p:cNvPr id="25" name="Image 7" descr="preencoded.png">    </p:cNvPr>
          <p:cNvPicPr>
            <a:picLocks noChangeAspect="1"/>
          </p:cNvPicPr>
          <p:nvPr/>
        </p:nvPicPr>
        <p:blipFill>
          <a:blip r:embed="rId8"/>
          <a:stretch>
            <a:fillRect/>
          </a:stretch>
        </p:blipFill>
        <p:spPr>
          <a:xfrm>
            <a:off x="4553712" y="5312664"/>
            <a:ext cx="182880" cy="182880"/>
          </a:xfrm>
          <a:prstGeom prst="rect">
            <a:avLst/>
          </a:prstGeom>
        </p:spPr>
      </p:pic>
      <p:sp>
        <p:nvSpPr>
          <p:cNvPr id="26" name="Text 16"/>
          <p:cNvSpPr txBox="1"/>
          <p:nvPr/>
        </p:nvSpPr>
        <p:spPr>
          <a:xfrm>
            <a:off x="4828032" y="5266944"/>
            <a:ext cx="2743200" cy="274320"/>
          </a:xfrm>
          <a:prstGeom prst="rect">
            <a:avLst/>
          </a:prstGeom>
          <a:noFill/>
          <a:ln/>
        </p:spPr>
        <p:txBody>
          <a:bodyPr wrap="square" lIns="0" tIns="0" rIns="0" bIns="0" rtlCol="0" anchor="ctr"/>
          <a:lstStyle/>
          <a:p>
            <a:pPr indent="0" marL="0">
              <a:buNone/>
            </a:pPr>
            <a:r>
              <a:rPr lang="en-US" sz="1100" dirty="0">
                <a:solidFill>
                  <a:srgbClr val="E6F1F3"/>
                </a:solidFill>
                <a:latin typeface="Arial" pitchFamily="34" charset="0"/>
                <a:ea typeface="Arial" pitchFamily="34" charset="-122"/>
                <a:cs typeface="Arial" pitchFamily="34" charset="-120"/>
              </a:rPr>
              <a:t>Phased delivery &amp; sign-off</a:t>
            </a:r>
            <a:endParaRPr lang="en-US" sz="1100" dirty="0"/>
          </a:p>
        </p:txBody>
      </p:sp>
      <p:pic>
        <p:nvPicPr>
          <p:cNvPr id="27" name="Image 8" descr="preencoded.png">    </p:cNvPr>
          <p:cNvPicPr>
            <a:picLocks noChangeAspect="1"/>
          </p:cNvPicPr>
          <p:nvPr/>
        </p:nvPicPr>
        <p:blipFill>
          <a:blip r:embed="rId9"/>
          <a:stretch>
            <a:fillRect/>
          </a:stretch>
        </p:blipFill>
        <p:spPr>
          <a:xfrm>
            <a:off x="4553712" y="5641848"/>
            <a:ext cx="182880" cy="182880"/>
          </a:xfrm>
          <a:prstGeom prst="rect">
            <a:avLst/>
          </a:prstGeom>
        </p:spPr>
      </p:pic>
      <p:sp>
        <p:nvSpPr>
          <p:cNvPr id="28" name="Text 17"/>
          <p:cNvSpPr txBox="1"/>
          <p:nvPr/>
        </p:nvSpPr>
        <p:spPr>
          <a:xfrm>
            <a:off x="4828032" y="5596128"/>
            <a:ext cx="2743200" cy="274320"/>
          </a:xfrm>
          <a:prstGeom prst="rect">
            <a:avLst/>
          </a:prstGeom>
          <a:noFill/>
          <a:ln/>
        </p:spPr>
        <p:txBody>
          <a:bodyPr wrap="square" lIns="0" tIns="0" rIns="0" bIns="0" rtlCol="0" anchor="ctr"/>
          <a:lstStyle/>
          <a:p>
            <a:pPr indent="0" marL="0">
              <a:buNone/>
            </a:pPr>
            <a:r>
              <a:rPr lang="en-US" sz="1100" dirty="0">
                <a:solidFill>
                  <a:srgbClr val="E6F1F3"/>
                </a:solidFill>
                <a:latin typeface="Arial" pitchFamily="34" charset="0"/>
                <a:ea typeface="Arial" pitchFamily="34" charset="-122"/>
                <a:cs typeface="Arial" pitchFamily="34" charset="-120"/>
              </a:rPr>
              <a:t>Knowledge transfer &amp; training</a:t>
            </a:r>
            <a:endParaRPr lang="en-US" sz="1100" dirty="0"/>
          </a:p>
        </p:txBody>
      </p:sp>
      <p:sp>
        <p:nvSpPr>
          <p:cNvPr id="29" name="Shape 18"/>
          <p:cNvSpPr/>
          <p:nvPr/>
        </p:nvSpPr>
        <p:spPr>
          <a:xfrm>
            <a:off x="8010144" y="2103120"/>
            <a:ext cx="3566160" cy="3931920"/>
          </a:xfrm>
          <a:prstGeom prst="roundRect">
            <a:avLst>
              <a:gd name="adj" fmla="val 3077"/>
            </a:avLst>
          </a:prstGeom>
          <a:solidFill>
            <a:srgbClr val="0F2A33">
              <a:alpha val="75000"/>
            </a:srgbClr>
          </a:solidFill>
          <a:ln w="9525">
            <a:solidFill>
              <a:srgbClr val="1F4A55"/>
            </a:solidFill>
            <a:prstDash val="solid"/>
          </a:ln>
        </p:spPr>
      </p:sp>
      <p:sp>
        <p:nvSpPr>
          <p:cNvPr id="30" name="Shape 19"/>
          <p:cNvSpPr/>
          <p:nvPr/>
        </p:nvSpPr>
        <p:spPr>
          <a:xfrm>
            <a:off x="8284464" y="2377440"/>
            <a:ext cx="603504" cy="603504"/>
          </a:xfrm>
          <a:prstGeom prst="ellipse">
            <a:avLst/>
          </a:prstGeom>
          <a:solidFill>
            <a:srgbClr val="2FB8C4">
              <a:alpha val="18000"/>
            </a:srgbClr>
          </a:solidFill>
          <a:ln w="9525">
            <a:solidFill>
              <a:srgbClr val="2FB8C4">
                <a:alpha val="60000"/>
              </a:srgbClr>
            </a:solidFill>
            <a:prstDash val="solid"/>
          </a:ln>
        </p:spPr>
      </p:sp>
      <p:pic>
        <p:nvPicPr>
          <p:cNvPr id="31" name="Image 9" descr="preencoded.png">    </p:cNvPr>
          <p:cNvPicPr>
            <a:picLocks noChangeAspect="1"/>
          </p:cNvPicPr>
          <p:nvPr/>
        </p:nvPicPr>
        <p:blipFill>
          <a:blip r:embed="rId10"/>
          <a:stretch>
            <a:fillRect/>
          </a:stretch>
        </p:blipFill>
        <p:spPr>
          <a:xfrm>
            <a:off x="8441375" y="2534351"/>
            <a:ext cx="289682" cy="289682"/>
          </a:xfrm>
          <a:prstGeom prst="rect">
            <a:avLst/>
          </a:prstGeom>
        </p:spPr>
      </p:pic>
      <p:sp>
        <p:nvSpPr>
          <p:cNvPr id="32" name="Text 20"/>
          <p:cNvSpPr txBox="1"/>
          <p:nvPr/>
        </p:nvSpPr>
        <p:spPr>
          <a:xfrm>
            <a:off x="8284464" y="3154680"/>
            <a:ext cx="301752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Managed Operations</a:t>
            </a:r>
            <a:endParaRPr lang="en-US" sz="1900" dirty="0"/>
          </a:p>
        </p:txBody>
      </p:sp>
      <p:sp>
        <p:nvSpPr>
          <p:cNvPr id="33" name="Text 21"/>
          <p:cNvSpPr txBox="1"/>
          <p:nvPr/>
        </p:nvSpPr>
        <p:spPr>
          <a:xfrm>
            <a:off x="8284464" y="3657600"/>
            <a:ext cx="3017520" cy="1188720"/>
          </a:xfrm>
          <a:prstGeom prst="rect">
            <a:avLst/>
          </a:prstGeom>
          <a:noFill/>
          <a:ln/>
        </p:spPr>
        <p:txBody>
          <a:bodyPr wrap="square" lIns="0" tIns="0" rIns="0" bIns="0" rtlCol="0" anchor="t"/>
          <a:lstStyle/>
          <a:p>
            <a:pPr indent="0" marL="0">
              <a:lnSpc>
                <a:spcPct val="125000"/>
              </a:lnSpc>
              <a:buNone/>
            </a:pPr>
            <a:r>
              <a:rPr lang="en-US" sz="1150" dirty="0">
                <a:solidFill>
                  <a:srgbClr val="8FA9AE"/>
                </a:solidFill>
                <a:latin typeface="Arial" pitchFamily="34" charset="0"/>
                <a:ea typeface="Arial" pitchFamily="34" charset="-122"/>
                <a:cs typeface="Arial" pitchFamily="34" charset="-120"/>
              </a:rPr>
              <a:t>Content production, platform operations and community management as a monthly service — continuously delivered and improved.</a:t>
            </a:r>
            <a:endParaRPr lang="en-US" sz="1150" dirty="0"/>
          </a:p>
        </p:txBody>
      </p:sp>
      <p:pic>
        <p:nvPicPr>
          <p:cNvPr id="34" name="Image 10" descr="preencoded.png">    </p:cNvPr>
          <p:cNvPicPr>
            <a:picLocks noChangeAspect="1"/>
          </p:cNvPicPr>
          <p:nvPr/>
        </p:nvPicPr>
        <p:blipFill>
          <a:blip r:embed="rId11"/>
          <a:stretch>
            <a:fillRect/>
          </a:stretch>
        </p:blipFill>
        <p:spPr>
          <a:xfrm>
            <a:off x="8284464" y="4983480"/>
            <a:ext cx="182880" cy="182880"/>
          </a:xfrm>
          <a:prstGeom prst="rect">
            <a:avLst/>
          </a:prstGeom>
        </p:spPr>
      </p:pic>
      <p:sp>
        <p:nvSpPr>
          <p:cNvPr id="35" name="Text 22"/>
          <p:cNvSpPr txBox="1"/>
          <p:nvPr/>
        </p:nvSpPr>
        <p:spPr>
          <a:xfrm>
            <a:off x="8558784" y="4937760"/>
            <a:ext cx="2743200" cy="274320"/>
          </a:xfrm>
          <a:prstGeom prst="rect">
            <a:avLst/>
          </a:prstGeom>
          <a:noFill/>
          <a:ln/>
        </p:spPr>
        <p:txBody>
          <a:bodyPr wrap="square" lIns="0" tIns="0" rIns="0" bIns="0" rtlCol="0" anchor="ctr"/>
          <a:lstStyle/>
          <a:p>
            <a:pPr indent="0" marL="0">
              <a:buNone/>
            </a:pPr>
            <a:r>
              <a:rPr lang="en-US" sz="1100" dirty="0">
                <a:solidFill>
                  <a:srgbClr val="E6F1F3"/>
                </a:solidFill>
                <a:latin typeface="Arial" pitchFamily="34" charset="0"/>
                <a:ea typeface="Arial" pitchFamily="34" charset="-122"/>
                <a:cs typeface="Arial" pitchFamily="34" charset="-120"/>
              </a:rPr>
              <a:t>Monthly service package</a:t>
            </a:r>
            <a:endParaRPr lang="en-US" sz="1100" dirty="0"/>
          </a:p>
        </p:txBody>
      </p:sp>
      <p:pic>
        <p:nvPicPr>
          <p:cNvPr id="36" name="Image 11" descr="preencoded.png">    </p:cNvPr>
          <p:cNvPicPr>
            <a:picLocks noChangeAspect="1"/>
          </p:cNvPicPr>
          <p:nvPr/>
        </p:nvPicPr>
        <p:blipFill>
          <a:blip r:embed="rId12"/>
          <a:stretch>
            <a:fillRect/>
          </a:stretch>
        </p:blipFill>
        <p:spPr>
          <a:xfrm>
            <a:off x="8284464" y="5312664"/>
            <a:ext cx="182880" cy="182880"/>
          </a:xfrm>
          <a:prstGeom prst="rect">
            <a:avLst/>
          </a:prstGeom>
        </p:spPr>
      </p:pic>
      <p:sp>
        <p:nvSpPr>
          <p:cNvPr id="37" name="Text 23"/>
          <p:cNvSpPr txBox="1"/>
          <p:nvPr/>
        </p:nvSpPr>
        <p:spPr>
          <a:xfrm>
            <a:off x="8558784" y="5266944"/>
            <a:ext cx="2743200" cy="274320"/>
          </a:xfrm>
          <a:prstGeom prst="rect">
            <a:avLst/>
          </a:prstGeom>
          <a:noFill/>
          <a:ln/>
        </p:spPr>
        <p:txBody>
          <a:bodyPr wrap="square" lIns="0" tIns="0" rIns="0" bIns="0" rtlCol="0" anchor="ctr"/>
          <a:lstStyle/>
          <a:p>
            <a:pPr indent="0" marL="0">
              <a:buNone/>
            </a:pPr>
            <a:r>
              <a:rPr lang="en-US" sz="1100" dirty="0">
                <a:solidFill>
                  <a:srgbClr val="E6F1F3"/>
                </a:solidFill>
                <a:latin typeface="Arial" pitchFamily="34" charset="0"/>
                <a:ea typeface="Arial" pitchFamily="34" charset="-122"/>
                <a:cs typeface="Arial" pitchFamily="34" charset="-120"/>
              </a:rPr>
              <a:t>AI content at scale</a:t>
            </a:r>
            <a:endParaRPr lang="en-US" sz="1100" dirty="0"/>
          </a:p>
        </p:txBody>
      </p:sp>
      <p:pic>
        <p:nvPicPr>
          <p:cNvPr id="38" name="Image 12" descr="preencoded.png">    </p:cNvPr>
          <p:cNvPicPr>
            <a:picLocks noChangeAspect="1"/>
          </p:cNvPicPr>
          <p:nvPr/>
        </p:nvPicPr>
        <p:blipFill>
          <a:blip r:embed="rId13"/>
          <a:stretch>
            <a:fillRect/>
          </a:stretch>
        </p:blipFill>
        <p:spPr>
          <a:xfrm>
            <a:off x="8284464" y="5641848"/>
            <a:ext cx="182880" cy="182880"/>
          </a:xfrm>
          <a:prstGeom prst="rect">
            <a:avLst/>
          </a:prstGeom>
        </p:spPr>
      </p:pic>
      <p:sp>
        <p:nvSpPr>
          <p:cNvPr id="39" name="Text 24"/>
          <p:cNvSpPr txBox="1"/>
          <p:nvPr/>
        </p:nvSpPr>
        <p:spPr>
          <a:xfrm>
            <a:off x="8558784" y="5596128"/>
            <a:ext cx="2743200" cy="274320"/>
          </a:xfrm>
          <a:prstGeom prst="rect">
            <a:avLst/>
          </a:prstGeom>
          <a:noFill/>
          <a:ln/>
        </p:spPr>
        <p:txBody>
          <a:bodyPr wrap="square" lIns="0" tIns="0" rIns="0" bIns="0" rtlCol="0" anchor="ctr"/>
          <a:lstStyle/>
          <a:p>
            <a:pPr indent="0" marL="0">
              <a:buNone/>
            </a:pPr>
            <a:r>
              <a:rPr lang="en-US" sz="1100" dirty="0">
                <a:solidFill>
                  <a:srgbClr val="E6F1F3"/>
                </a:solidFill>
                <a:latin typeface="Arial" pitchFamily="34" charset="0"/>
                <a:ea typeface="Arial" pitchFamily="34" charset="-122"/>
                <a:cs typeface="Arial" pitchFamily="34" charset="-120"/>
              </a:rPr>
              <a:t>Data reviews &amp; iteration</a:t>
            </a:r>
            <a:endParaRPr lang="en-US" sz="1100" dirty="0"/>
          </a:p>
        </p:txBody>
      </p:sp>
      <p:pic>
        <p:nvPicPr>
          <p:cNvPr id="40" name="Image 13" descr="/tmp/claude-0/-home-user-website/1713201c-620c-5ce1-b439-a99d37e654e6/scratchpad/build/../assets/jm_logo.png">    </p:cNvPr>
          <p:cNvPicPr>
            <a:picLocks noChangeAspect="1"/>
          </p:cNvPicPr>
          <p:nvPr/>
        </p:nvPicPr>
        <p:blipFill>
          <a:blip r:embed="rId14"/>
          <a:stretch>
            <a:fillRect/>
          </a:stretch>
        </p:blipFill>
        <p:spPr>
          <a:xfrm>
            <a:off x="548640" y="6336792"/>
            <a:ext cx="274320" cy="235915"/>
          </a:xfrm>
          <a:prstGeom prst="rect">
            <a:avLst/>
          </a:prstGeom>
        </p:spPr>
      </p:pic>
      <p:sp>
        <p:nvSpPr>
          <p:cNvPr id="41" name="Text 25"/>
          <p:cNvSpPr txBox="1"/>
          <p:nvPr/>
        </p:nvSpPr>
        <p:spPr>
          <a:xfrm>
            <a:off x="914400" y="6309360"/>
            <a:ext cx="4572000" cy="292608"/>
          </a:xfrm>
          <a:prstGeom prst="rect">
            <a:avLst/>
          </a:prstGeom>
          <a:noFill/>
          <a:ln/>
        </p:spPr>
        <p:txBody>
          <a:bodyPr wrap="square" lIns="0" tIns="0" rIns="0" bIns="0" rtlCol="0" anchor="ctr"/>
          <a:lstStyle/>
          <a:p>
            <a:pPr indent="0" marL="0">
              <a:buNone/>
            </a:pPr>
            <a:r>
              <a:rPr lang="en-US" sz="900" spc="200" kern="0" dirty="0">
                <a:solidFill>
                  <a:srgbClr val="5E7A80"/>
                </a:solidFill>
                <a:latin typeface="Arial" pitchFamily="34" charset="0"/>
                <a:ea typeface="Arial" pitchFamily="34" charset="-122"/>
                <a:cs typeface="Arial" pitchFamily="34" charset="-120"/>
              </a:rPr>
              <a:t>JIMENG NETWORK</a:t>
            </a:r>
            <a:endParaRPr lang="en-US" sz="900" dirty="0"/>
          </a:p>
        </p:txBody>
      </p:sp>
      <p:sp>
        <p:nvSpPr>
          <p:cNvPr id="42" name="Text 26"/>
          <p:cNvSpPr txBox="1"/>
          <p:nvPr/>
        </p:nvSpPr>
        <p:spPr>
          <a:xfrm>
            <a:off x="10728655" y="6309360"/>
            <a:ext cx="914400" cy="292608"/>
          </a:xfrm>
          <a:prstGeom prst="rect">
            <a:avLst/>
          </a:prstGeom>
          <a:noFill/>
          <a:ln/>
        </p:spPr>
        <p:txBody>
          <a:bodyPr wrap="square" lIns="0" tIns="0" rIns="0" bIns="0" rtlCol="0" anchor="ctr"/>
          <a:lstStyle/>
          <a:p>
            <a:pPr algn="r" indent="0" marL="0">
              <a:buNone/>
            </a:pPr>
            <a:r>
              <a:rPr lang="en-US" sz="900" dirty="0">
                <a:solidFill>
                  <a:srgbClr val="5E7A80"/>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tmp/claude-0/-home-user-website/1713201c-620c-5ce1-b439-a99d37e654e6/scratchpad/build/../assets/jm_cove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website/1713201c-620c-5ce1-b439-a99d37e654e6/scratchpad/build/../assets/jm_logo.png">    </p:cNvPr>
          <p:cNvPicPr>
            <a:picLocks noChangeAspect="1"/>
          </p:cNvPicPr>
          <p:nvPr/>
        </p:nvPicPr>
        <p:blipFill>
          <a:blip r:embed="rId2">
            <a:alphaModFix amt="12000"/>
          </a:blip>
          <a:stretch>
            <a:fillRect/>
          </a:stretch>
        </p:blipFill>
        <p:spPr>
          <a:xfrm>
            <a:off x="7223760" y="822960"/>
            <a:ext cx="5852160" cy="5029200"/>
          </a:xfrm>
          <a:prstGeom prst="rect">
            <a:avLst/>
          </a:prstGeom>
        </p:spPr>
      </p:pic>
      <p:pic>
        <p:nvPicPr>
          <p:cNvPr id="4" name="Image 2" descr="/tmp/claude-0/-home-user-website/1713201c-620c-5ce1-b439-a99d37e654e6/scratchpad/build/../assets/jm_logo.png">    </p:cNvPr>
          <p:cNvPicPr>
            <a:picLocks noChangeAspect="1"/>
          </p:cNvPicPr>
          <p:nvPr/>
        </p:nvPicPr>
        <p:blipFill>
          <a:blip r:embed="rId3"/>
          <a:stretch>
            <a:fillRect/>
          </a:stretch>
        </p:blipFill>
        <p:spPr>
          <a:xfrm>
            <a:off x="731520" y="685800"/>
            <a:ext cx="713232" cy="612648"/>
          </a:xfrm>
          <a:prstGeom prst="rect">
            <a:avLst/>
          </a:prstGeom>
        </p:spPr>
      </p:pic>
      <p:sp>
        <p:nvSpPr>
          <p:cNvPr id="5" name="Text 0"/>
          <p:cNvSpPr txBox="1"/>
          <p:nvPr/>
        </p:nvSpPr>
        <p:spPr>
          <a:xfrm>
            <a:off x="731520" y="1828800"/>
            <a:ext cx="7315200" cy="1097280"/>
          </a:xfrm>
          <a:prstGeom prst="rect">
            <a:avLst/>
          </a:prstGeom>
          <a:noFill/>
          <a:ln/>
        </p:spPr>
        <p:txBody>
          <a:bodyPr wrap="square" lIns="0" tIns="0" rIns="0" bIns="0" rtlCol="0" anchor="ctr"/>
          <a:lstStyle/>
          <a:p>
            <a:pPr indent="0" marL="0">
              <a:buNone/>
            </a:pPr>
            <a:r>
              <a:rPr lang="en-US" sz="6400" b="1" dirty="0">
                <a:solidFill>
                  <a:srgbClr val="FFFFFF"/>
                </a:solidFill>
                <a:latin typeface="Arial" pitchFamily="34" charset="0"/>
                <a:ea typeface="Arial" pitchFamily="34" charset="-122"/>
                <a:cs typeface="Arial" pitchFamily="34" charset="-120"/>
              </a:rPr>
              <a:t>THANK YOU</a:t>
            </a:r>
            <a:endParaRPr lang="en-US" sz="6400" dirty="0"/>
          </a:p>
        </p:txBody>
      </p:sp>
      <p:sp>
        <p:nvSpPr>
          <p:cNvPr id="6" name="Text 1"/>
          <p:cNvSpPr txBox="1"/>
          <p:nvPr/>
        </p:nvSpPr>
        <p:spPr>
          <a:xfrm>
            <a:off x="731520" y="3063240"/>
            <a:ext cx="8229600" cy="914400"/>
          </a:xfrm>
          <a:prstGeom prst="rect">
            <a:avLst/>
          </a:prstGeom>
          <a:noFill/>
          <a:ln/>
        </p:spPr>
        <p:txBody>
          <a:bodyPr wrap="square" lIns="0" tIns="0" rIns="0" bIns="0" rtlCol="0" anchor="ctr"/>
          <a:lstStyle/>
          <a:p>
            <a:pPr indent="0" marL="0">
              <a:lnSpc>
                <a:spcPct val="130000"/>
              </a:lnSpc>
              <a:buNone/>
            </a:pPr>
            <a:r>
              <a:rPr lang="en-US" sz="1800" dirty="0">
                <a:solidFill>
                  <a:srgbClr val="7FD9DF"/>
                </a:solidFill>
                <a:latin typeface="Arial" pitchFamily="34" charset="0"/>
                <a:ea typeface="Arial" pitchFamily="34" charset="-122"/>
                <a:cs typeface="Arial" pitchFamily="34" charset="-120"/>
              </a:rPr>
              <a:t>The digital age changes fast; we never drift with the tide.</a:t>
            </a:r>
            <a:endParaRPr lang="en-US" sz="1800" dirty="0"/>
          </a:p>
          <a:p>
            <a:pPr indent="0" marL="0">
              <a:lnSpc>
                <a:spcPct val="130000"/>
              </a:lnSpc>
              <a:buNone/>
            </a:pPr>
            <a:r>
              <a:rPr lang="en-US" sz="1800" dirty="0">
                <a:solidFill>
                  <a:srgbClr val="7FD9DF"/>
                </a:solidFill>
                <a:latin typeface="Arial" pitchFamily="34" charset="0"/>
                <a:ea typeface="Arial" pitchFamily="34" charset="-122"/>
                <a:cs typeface="Arial" pitchFamily="34" charset="-120"/>
              </a:rPr>
              <a:t>We start from delivering value — and do everything we promise.</a:t>
            </a:r>
            <a:endParaRPr lang="en-US" sz="1800" dirty="0"/>
          </a:p>
        </p:txBody>
      </p:sp>
      <p:sp>
        <p:nvSpPr>
          <p:cNvPr id="7" name="Text 2"/>
          <p:cNvSpPr txBox="1"/>
          <p:nvPr/>
        </p:nvSpPr>
        <p:spPr>
          <a:xfrm>
            <a:off x="731520" y="5120640"/>
            <a:ext cx="7315200" cy="6400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Shanghai Jimeng Network Technology Co., Ltd.</a:t>
            </a:r>
            <a:endParaRPr lang="en-US" sz="1300" dirty="0"/>
          </a:p>
          <a:p>
            <a:pPr indent="0" marL="0">
              <a:buNone/>
            </a:pPr>
            <a:r>
              <a:rPr lang="en-US" sz="1050" dirty="0">
                <a:solidFill>
                  <a:srgbClr val="8FA9AE"/>
                </a:solidFill>
                <a:latin typeface="Arial" pitchFamily="34" charset="0"/>
                <a:ea typeface="Arial" pitchFamily="34" charset="-122"/>
                <a:cs typeface="Arial" pitchFamily="34" charset="-120"/>
              </a:rPr>
              <a:t>jimeng.it.com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Jimeng 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Jimeng Network — Company Profile</dc:title>
  <dc:subject>PptxGenJS Presentation</dc:subject>
  <dc:creator>Shanghai Jimeng Network Technology Co., Ltd.</dc:creator>
  <cp:lastModifiedBy>Shanghai Jimeng Network Technology Co., Ltd.</cp:lastModifiedBy>
  <cp:revision>1</cp:revision>
  <dcterms:created xsi:type="dcterms:W3CDTF">2026-10-02T19:04:58Z</dcterms:created>
  <dcterms:modified xsi:type="dcterms:W3CDTF">2026-10-02T19:04:58Z</dcterms:modified>
</cp:coreProperties>
</file>