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3" Type="http://schemas.openxmlformats.org/officeDocument/2006/relationships/image" Target="../media/image-1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7223760" y="822960"/>
            <a:ext cx="5852160" cy="5029200"/>
          </a:xfrm>
          <a:prstGeom prst="rect">
            <a:avLst/>
          </a:prstGeom>
        </p:spPr>
      </p:pic>
      <p:pic>
        <p:nvPicPr>
          <p:cNvPr id="4" name="Image 2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713232" cy="61264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1572768" y="658368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绩盟网络</a:t>
            </a:r>
            <a:endParaRPr lang="en-US" sz="2000" dirty="0"/>
          </a:p>
          <a:p>
            <a:pPr indent="0" marL="0">
              <a:buNone/>
            </a:pPr>
            <a:r>
              <a:rPr lang="en-US" sz="1000" spc="400" kern="0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</a:t>
            </a:r>
            <a:endParaRPr lang="en-US" sz="20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  2026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251460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让技术，真正</a:t>
            </a:r>
            <a:endParaRPr lang="en-US" sz="6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长在业务里</a:t>
            </a:r>
            <a:endParaRPr lang="en-US" sz="60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that lives inside your business.</a:t>
            </a:r>
            <a:endParaRPr lang="en-US" sz="2000" dirty="0"/>
          </a:p>
        </p:txBody>
      </p:sp>
      <p:sp>
        <p:nvSpPr>
          <p:cNvPr id="9" name="Text 4"/>
          <p:cNvSpPr txBox="1"/>
          <p:nvPr/>
        </p:nvSpPr>
        <p:spPr>
          <a:xfrm>
            <a:off x="731520" y="5166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  ·  开发  ·  运营  ·  AI FDE 前置部署工程</a:t>
            </a:r>
            <a:endParaRPr lang="en-US" sz="1300" dirty="0"/>
          </a:p>
        </p:txBody>
      </p:sp>
      <p:sp>
        <p:nvSpPr>
          <p:cNvPr id="10" name="Text 5"/>
          <p:cNvSpPr txBox="1"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上海绩盟网络科技有限公司   |   Since 2014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ARE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十二年，一支把事情做成的团队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years of turning ideas into shipped, working systems.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上海绩盟网络科技有限公司成立于 2014 年，是一家以工程交付为核心的数字化与 AI 技术服务商。团队由互联网营销专家、品牌策划、资深工程师与设计师组成，核心技术班底共事十余年。</a:t>
            </a: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lnSpc>
                <a:spcPct val="135000"/>
              </a:lnSpc>
              <a:spcAft>
                <a:spcPts val="400"/>
              </a:spcAft>
              <a:buNone/>
            </a:pPr>
            <a:r>
              <a:rPr lang="en-US" sz="13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我们为美妆、奢侈品、电商与互联网平台等行业的品牌，提供从策划、开发到运营的全链路服务；如今，我们以 FDE（前置部署工程）的方式，把 AI 直接交付进客户的真实业务。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8006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in Shanghai in 2014, Jimeng Network is an engineering-first digital &amp; AI services company. We deliver strategy, engineering and operations for brands across beauty, luxury, e-commerce and internet platforms — and now deploy AI straight into client workflows through Forward Deployed Engineering.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583680" y="210312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0" y="235915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</a:t>
            </a:r>
            <a:endParaRPr lang="en-US" sz="38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成立于上海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Founded in Shanghai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9189720" y="210312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64040" y="235915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100+</a:t>
            </a:r>
            <a:endParaRPr lang="en-US" sz="3800" dirty="0"/>
          </a:p>
        </p:txBody>
      </p:sp>
      <p:sp>
        <p:nvSpPr>
          <p:cNvPr id="14" name="Text 11"/>
          <p:cNvSpPr txBox="1"/>
          <p:nvPr/>
        </p:nvSpPr>
        <p:spPr>
          <a:xfrm>
            <a:off x="9464040" y="3154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累计交付项目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464040" y="34472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delivered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583680" y="4114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0" y="43708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千万级</a:t>
            </a:r>
            <a:endParaRPr lang="en-US" sz="38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0" y="5166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系统开发与长期运维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0" y="5458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10M-scale systems built &amp; run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9189720" y="4114800"/>
            <a:ext cx="2423160" cy="1828800"/>
          </a:xfrm>
          <a:prstGeom prst="roundRect">
            <a:avLst>
              <a:gd name="adj" fmla="val 6000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464040" y="437083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1000+</a:t>
            </a:r>
            <a:endParaRPr lang="en-US" sz="3800" dirty="0"/>
          </a:p>
        </p:txBody>
      </p:sp>
      <p:sp>
        <p:nvSpPr>
          <p:cNvPr id="22" name="Text 19"/>
          <p:cNvSpPr txBox="1"/>
          <p:nvPr/>
        </p:nvSpPr>
        <p:spPr>
          <a:xfrm>
            <a:off x="9464040" y="5166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营销短视频 / 月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464040" y="54589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videos produced monthly</a:t>
            </a:r>
            <a:endParaRPr lang="en-US" sz="950" dirty="0"/>
          </a:p>
        </p:txBody>
      </p:sp>
      <p:pic>
        <p:nvPicPr>
          <p:cNvPr id="24" name="Image 1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26" name="Text 22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每一次技术浪潮，我们都在一线交付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front line of every technology wave since 2014.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3246120"/>
            <a:ext cx="10607040" cy="0"/>
          </a:xfrm>
          <a:prstGeom prst="line">
            <a:avLst/>
          </a:prstGeom>
          <a:noFill/>
          <a:ln w="19050">
            <a:solidFill>
              <a:srgbClr val="1F4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0" y="3246120"/>
            <a:ext cx="2743200" cy="0"/>
          </a:xfrm>
          <a:prstGeom prst="line">
            <a:avLst/>
          </a:prstGeom>
          <a:noFill/>
          <a:ln w="31750">
            <a:solidFill>
              <a:srgbClr val="2FB8C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3232" y="3136392"/>
            <a:ext cx="219456" cy="219456"/>
          </a:xfrm>
          <a:prstGeom prst="ellipse">
            <a:avLst/>
          </a:prstGeom>
          <a:solidFill>
            <a:srgbClr val="061116"/>
          </a:solidFill>
          <a:ln w="25400">
            <a:solidFill>
              <a:srgbClr val="2FB8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2014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&amp; BRAND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品牌数字化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4389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响应式官网、品牌策划、营销推广 H5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456432" y="3136392"/>
            <a:ext cx="219456" cy="219456"/>
          </a:xfrm>
          <a:prstGeom prst="ellipse">
            <a:avLst/>
          </a:prstGeom>
          <a:solidFill>
            <a:srgbClr val="061116"/>
          </a:solidFill>
          <a:ln w="25400">
            <a:solidFill>
              <a:srgbClr val="2FB8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47472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移动时代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4747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3474720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微信生态与移动端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474720" y="4389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公众号、小程序、电商 APP、社群营销工具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199632" y="3136392"/>
            <a:ext cx="219456" cy="219456"/>
          </a:xfrm>
          <a:prstGeom prst="ellipse">
            <a:avLst/>
          </a:prstGeom>
          <a:solidFill>
            <a:srgbClr val="061116"/>
          </a:solidFill>
          <a:ln w="25400">
            <a:solidFill>
              <a:srgbClr val="2FB8C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平台时代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企业级系统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217920" y="4389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企业管理系统、C2C 商城与结算、多账号管理平台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8796528" y="2990088"/>
            <a:ext cx="512064" cy="512064"/>
          </a:xfrm>
          <a:prstGeom prst="ellipse">
            <a:avLst/>
          </a:prstGeom>
          <a:solidFill>
            <a:srgbClr val="2FB8C4">
              <a:alpha val="25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8942832" y="3136392"/>
            <a:ext cx="219456" cy="219456"/>
          </a:xfrm>
          <a:prstGeom prst="ellipse">
            <a:avLst/>
          </a:prstGeom>
          <a:solidFill>
            <a:srgbClr val="2FB8C4"/>
          </a:solidFill>
          <a:ln w="25400">
            <a:solidFill>
              <a:srgbClr val="2FB8C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96112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</a:t>
            </a:r>
            <a:endParaRPr lang="en-US" sz="3000" dirty="0"/>
          </a:p>
        </p:txBody>
      </p:sp>
      <p:sp>
        <p:nvSpPr>
          <p:cNvPr id="26" name="Text 23"/>
          <p:cNvSpPr txBox="1"/>
          <p:nvPr/>
        </p:nvSpPr>
        <p:spPr>
          <a:xfrm>
            <a:off x="8961120" y="3611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961120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961120" y="4389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内容生产线、AI FDE 驻场交付、自研产品 ThinkNova</a:t>
            </a:r>
            <a:endParaRPr lang="en-US" sz="1150" dirty="0"/>
          </a:p>
        </p:txBody>
      </p:sp>
      <p:pic>
        <p:nvPicPr>
          <p:cNvPr id="29" name="Image 1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四大核心业务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strategy to shipped systems — and now, AI in production.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2633472" cy="3840480"/>
          </a:xfrm>
          <a:prstGeom prst="roundRect">
            <a:avLst>
              <a:gd name="adj" fmla="val 416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635301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21992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3832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项目方案策划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40690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Planning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448056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商业模式、营销活动与品牌策划，结合企业自身优势，量身定制项目方案与运营思路。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364992" y="2148840"/>
            <a:ext cx="2633472" cy="3840480"/>
          </a:xfrm>
          <a:prstGeom prst="roundRect">
            <a:avLst>
              <a:gd name="adj" fmla="val 416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39312" y="2468880"/>
            <a:ext cx="640080" cy="64008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733" y="263530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38344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3639312" y="33832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开发与执行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3639312" y="40690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&amp; Delivery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3639312" y="448056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设计、开发、测试、运维一体化，覆盖官网、小程序、APP 与企业管理系统的多终端定制开发。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81344" y="2148840"/>
            <a:ext cx="2633472" cy="3840480"/>
          </a:xfrm>
          <a:prstGeom prst="roundRect">
            <a:avLst>
              <a:gd name="adj" fmla="val 416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55664" y="2468880"/>
            <a:ext cx="640080" cy="64008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085" y="263530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854696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6455664" y="33832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项目及社群运营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6455664" y="40690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Growth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455664" y="448056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基于用户与数据分析，提供线上平台与私域社群运营，以及营销方案与线下活动执行。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8997696" y="2148840"/>
            <a:ext cx="2633472" cy="3840480"/>
          </a:xfrm>
          <a:prstGeom prst="roundRect">
            <a:avLst>
              <a:gd name="adj" fmla="val 4167"/>
            </a:avLst>
          </a:prstGeom>
          <a:solidFill>
            <a:srgbClr val="0E6E7E">
              <a:alpha val="70000"/>
            </a:srgbClr>
          </a:solidFill>
          <a:ln w="15875">
            <a:solidFill>
              <a:srgbClr val="2FB8C4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272016" y="2468880"/>
            <a:ext cx="640080" cy="640080"/>
          </a:xfrm>
          <a:prstGeom prst="ellipse">
            <a:avLst/>
          </a:prstGeom>
          <a:solidFill>
            <a:srgbClr val="2FB8C4">
              <a:alpha val="45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8437" y="2635301"/>
            <a:ext cx="307238" cy="30723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0671048" y="2423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24"/>
          <p:cNvSpPr txBox="1"/>
          <p:nvPr/>
        </p:nvSpPr>
        <p:spPr>
          <a:xfrm>
            <a:off x="10049256" y="2624328"/>
            <a:ext cx="566928" cy="274320"/>
          </a:xfrm>
          <a:prstGeom prst="roundRect">
            <a:avLst>
              <a:gd name="adj" fmla="val 33333"/>
            </a:avLst>
          </a:prstGeom>
          <a:solidFill>
            <a:srgbClr val="2FB8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9272016" y="3383280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FDE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前置部署工程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9272016" y="4069080"/>
            <a:ext cx="2176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Deployed Engineering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9272016" y="448056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工程师驻场嵌入业务一线，把大模型、AIGC 与智能体真正部署进客户的工作流。</a:t>
            </a:r>
            <a:endParaRPr lang="en-US" sz="1150" dirty="0"/>
          </a:p>
        </p:txBody>
      </p:sp>
      <p:pic>
        <p:nvPicPr>
          <p:cNvPr id="35" name="Image 5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2FB8C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BUSINESS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468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FDE</a:t>
            </a:r>
            <a:endParaRPr lang="en-US" sz="8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前置部署工程  ·  Forward Deployed Engineering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526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项目很少败在模型不够好，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而是败在没有人把它接进真实业务。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4406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projects rarely fail because the model isn't good enough — they fail because no one wires it into the real business.</a:t>
            </a:r>
            <a:endParaRPr lang="en-US" sz="1100" dirty="0"/>
          </a:p>
        </p:txBody>
      </p:sp>
      <p:pic>
        <p:nvPicPr>
          <p:cNvPr id="9" name="Image 1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FDE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不是外包，也不是买一个账号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outsourcing. Not another SaaS seat. Engineers in the room.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0312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FDE（Forward Deployed Engineer）源自硅谷头部 AI 与数据公司的交付模式：工程师不在远端等需求，而是前置部署到客户一线，与业务团队并肩，从真实问题出发，把 AI 做成能上线、能用、能持续迭代的生产系统。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2628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Pioneered by leading Silicon Valley AI and data companies: engineers embed with your team, start from real problems, and ship AI as production systems.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2103120"/>
          <a:ext cx="71323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828800"/>
                <a:gridCol w="228600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传统外包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FA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Outsourcing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 SaaS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8FA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Off-the-shelf SaaS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0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6111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绩盟 AI FDE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0611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Jimeng AI FDE</a:t>
                      </a:r>
                      <a:endParaRPr lang="en-US" sz="12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B8C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起点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需求文档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标准功能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业务现场的真实问题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F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交付物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按文档交付的软件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一个通用账号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跑在业务里的 AI 系统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F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定制深度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深度贴合流程与数据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F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迭代速度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变更需重新报价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等待产品排期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驻场快速迭代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F4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FB8C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对结果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交付即结束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FA9A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用户自行摸索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E2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对上线效果负责，并移交能力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611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F48"/>
                    </a:solidFill>
                  </a:tcPr>
                </a:tc>
              </a:tr>
            </a:tbl>
          </a:graphicData>
        </a:graphic>
      </p:graphicFrame>
      <p:pic>
        <p:nvPicPr>
          <p:cNvPr id="9" name="Image 1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DELIVER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四步，把 AI 从想法变成生产系统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four-phase delivery method, from on-site discovery to handover.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633472" cy="3063240"/>
          </a:xfrm>
          <a:prstGeom prst="roundRect">
            <a:avLst>
              <a:gd name="adj" fmla="val 416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377440"/>
            <a:ext cx="566928" cy="566928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61" y="2524841"/>
            <a:ext cx="272125" cy="27212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267712" y="23774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2130552" y="3520440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2FB8C4">
              <a:alpha val="20000"/>
            </a:srgbClr>
          </a:solidFill>
          <a:ln w="6350">
            <a:solidFill>
              <a:srgbClr val="2FB8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1–2 周</a:t>
            </a:r>
            <a:endParaRPr lang="en-US" sz="95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397764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驻场访谈、流程拆解、数据盘点，找出投入产出比最高的 AI 切入点</a:t>
            </a:r>
            <a:endParaRPr lang="en-US" sz="11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3824" y="3474720"/>
            <a:ext cx="219456" cy="2194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364992" y="2103120"/>
            <a:ext cx="2633472" cy="3063240"/>
          </a:xfrm>
          <a:prstGeom prst="roundRect">
            <a:avLst>
              <a:gd name="adj" fmla="val 416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639312" y="2377440"/>
            <a:ext cx="566928" cy="566928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6713" y="2524841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084064" y="23774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3639312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原型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3639312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4946904" y="3520440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2FB8C4">
              <a:alpha val="20000"/>
            </a:srgbClr>
          </a:solidFill>
          <a:ln w="6350">
            <a:solidFill>
              <a:srgbClr val="2FB8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2–4 周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3639312" y="397764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用真实数据跑通最小可用原型，业务方全程参与验收</a:t>
            </a:r>
            <a:endParaRPr lang="en-US" sz="11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0176" y="3474720"/>
            <a:ext cx="219456" cy="219456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181344" y="2103120"/>
            <a:ext cx="2633472" cy="3063240"/>
          </a:xfrm>
          <a:prstGeom prst="roundRect">
            <a:avLst>
              <a:gd name="adj" fmla="val 416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455664" y="2377440"/>
            <a:ext cx="566928" cy="566928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3065" y="2524841"/>
            <a:ext cx="272125" cy="27212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7900416" y="23774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Text 20"/>
          <p:cNvSpPr txBox="1"/>
          <p:nvPr/>
        </p:nvSpPr>
        <p:spPr>
          <a:xfrm>
            <a:off x="6455664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1900" dirty="0"/>
          </a:p>
        </p:txBody>
      </p:sp>
      <p:sp>
        <p:nvSpPr>
          <p:cNvPr id="29" name="Text 21"/>
          <p:cNvSpPr txBox="1"/>
          <p:nvPr/>
        </p:nvSpPr>
        <p:spPr>
          <a:xfrm>
            <a:off x="6455664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7763256" y="3520440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2FB8C4">
              <a:alpha val="20000"/>
            </a:srgbClr>
          </a:solidFill>
          <a:ln w="6350">
            <a:solidFill>
              <a:srgbClr val="2FB8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4–8 周</a:t>
            </a:r>
            <a:endParaRPr lang="en-US" sz="950" dirty="0"/>
          </a:p>
        </p:txBody>
      </p:sp>
      <p:sp>
        <p:nvSpPr>
          <p:cNvPr id="31" name="Text 23"/>
          <p:cNvSpPr txBox="1"/>
          <p:nvPr/>
        </p:nvSpPr>
        <p:spPr>
          <a:xfrm>
            <a:off x="6455664" y="397764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接入企业系统与权限体系，灰度上线，建立监控与效果评测</a:t>
            </a:r>
            <a:endParaRPr lang="en-US" sz="11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6528" y="3474720"/>
            <a:ext cx="219456" cy="219456"/>
          </a:xfrm>
          <a:prstGeom prst="rect">
            <a:avLst/>
          </a:prstGeom>
        </p:spPr>
      </p:pic>
      <p:sp>
        <p:nvSpPr>
          <p:cNvPr id="33" name="Shape 24"/>
          <p:cNvSpPr/>
          <p:nvPr/>
        </p:nvSpPr>
        <p:spPr>
          <a:xfrm>
            <a:off x="8997696" y="2103120"/>
            <a:ext cx="2633472" cy="3063240"/>
          </a:xfrm>
          <a:prstGeom prst="roundRect">
            <a:avLst>
              <a:gd name="adj" fmla="val 416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9272016" y="2377440"/>
            <a:ext cx="566928" cy="566928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19417" y="2524841"/>
            <a:ext cx="272125" cy="272125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10716768" y="237744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7" name="Text 27"/>
          <p:cNvSpPr txBox="1"/>
          <p:nvPr/>
        </p:nvSpPr>
        <p:spPr>
          <a:xfrm>
            <a:off x="9272016" y="31089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移交与运营</a:t>
            </a:r>
            <a:endParaRPr lang="en-US" sz="1900" dirty="0"/>
          </a:p>
        </p:txBody>
      </p:sp>
      <p:sp>
        <p:nvSpPr>
          <p:cNvPr id="38" name="Text 28"/>
          <p:cNvSpPr txBox="1"/>
          <p:nvPr/>
        </p:nvSpPr>
        <p:spPr>
          <a:xfrm>
            <a:off x="9272016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&amp; Run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10579608" y="3520440"/>
            <a:ext cx="822960" cy="274320"/>
          </a:xfrm>
          <a:prstGeom prst="roundRect">
            <a:avLst>
              <a:gd name="adj" fmla="val 40000"/>
            </a:avLst>
          </a:prstGeom>
          <a:solidFill>
            <a:srgbClr val="2FB8C4">
              <a:alpha val="20000"/>
            </a:srgbClr>
          </a:solidFill>
          <a:ln w="6350">
            <a:solidFill>
              <a:srgbClr val="2FB8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</a:t>
            </a:r>
            <a:endParaRPr lang="en-US" sz="950" dirty="0"/>
          </a:p>
        </p:txBody>
      </p:sp>
      <p:sp>
        <p:nvSpPr>
          <p:cNvPr id="40" name="Text 30"/>
          <p:cNvSpPr txBox="1"/>
          <p:nvPr/>
        </p:nvSpPr>
        <p:spPr>
          <a:xfrm>
            <a:off x="9272016" y="3977640"/>
            <a:ext cx="21305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文档、培训与运维移交；或由我们长期运营托管、持续迭代</a:t>
            </a:r>
            <a:endParaRPr lang="en-US" sz="1150" dirty="0"/>
          </a:p>
        </p:txBody>
      </p:sp>
      <p:sp>
        <p:nvSpPr>
          <p:cNvPr id="41" name="Shape 31"/>
          <p:cNvSpPr/>
          <p:nvPr/>
        </p:nvSpPr>
        <p:spPr>
          <a:xfrm>
            <a:off x="548640" y="5394960"/>
            <a:ext cx="11082528" cy="658368"/>
          </a:xfrm>
          <a:prstGeom prst="roundRect">
            <a:avLst>
              <a:gd name="adj" fmla="val 16667"/>
            </a:avLst>
          </a:prstGeom>
          <a:solidFill>
            <a:srgbClr val="0E6E7E">
              <a:alpha val="4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42" name="Text 32"/>
          <p:cNvSpPr txBox="1"/>
          <p:nvPr/>
        </p:nvSpPr>
        <p:spPr>
          <a:xfrm>
            <a:off x="822960" y="539496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  DELIVERABLES    </a:t>
            </a:r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场景诊断报告   ·   可运行原型   ·   生产级系统   ·   效果评测看板   ·   运维与使用手册</a:t>
            </a:r>
            <a:endParaRPr lang="en-US" sz="1100" dirty="0"/>
          </a:p>
        </p:txBody>
      </p:sp>
      <p:sp>
        <p:nvSpPr>
          <p:cNvPr id="43" name="Text 33"/>
          <p:cNvSpPr txBox="1"/>
          <p:nvPr/>
        </p:nvSpPr>
        <p:spPr>
          <a:xfrm>
            <a:off x="548640" y="60533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* 周期为参考值，依项目范围调整  Typical timeline; varies by scope</a:t>
            </a:r>
            <a:endParaRPr lang="en-US" sz="850" dirty="0"/>
          </a:p>
        </p:txBody>
      </p:sp>
      <p:pic>
        <p:nvPicPr>
          <p:cNvPr id="44" name="Image 8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46" name="Text 35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 STACK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一套完整的 AI 工程能力栈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AI engineering — from models to the apps your team actually uses.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2FB8C4">
              <a:alpha val="45000"/>
            </a:srgbClr>
          </a:solidFill>
          <a:ln w="9525">
            <a:solidFill>
              <a:srgbClr val="2FB8C4">
                <a:alpha val="70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5420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246888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智能客服  ·  内容生产  ·  销售助理  ·  数据分析 Agent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0175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2FB8C4">
              <a:alpha val="35000"/>
            </a:srgbClr>
          </a:solidFill>
          <a:ln w="9525">
            <a:solidFill>
              <a:srgbClr val="2FB8C4">
                <a:alpha val="7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31089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编排层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564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85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30175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工作流  ·  提示词工程  ·  多模型路由  ·  效果评测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9319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2FB8C4">
              <a:alpha val="25000"/>
            </a:srgbClr>
          </a:solidFill>
          <a:ln w="9525">
            <a:solidFill>
              <a:srgbClr val="2FB8C4">
                <a:alpha val="7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4023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77240" y="43708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50" dirty="0"/>
          </a:p>
        </p:txBody>
      </p:sp>
      <p:sp>
        <p:nvSpPr>
          <p:cNvPr id="17" name="Text 14"/>
          <p:cNvSpPr txBox="1"/>
          <p:nvPr/>
        </p:nvSpPr>
        <p:spPr>
          <a:xfrm>
            <a:off x="2468880" y="39319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知识库  ·  企业数据接入  ·  素材资产管理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846320"/>
            <a:ext cx="7680960" cy="777240"/>
          </a:xfrm>
          <a:prstGeom prst="roundRect">
            <a:avLst>
              <a:gd name="adj" fmla="val 11765"/>
            </a:avLst>
          </a:prstGeom>
          <a:solidFill>
            <a:srgbClr val="2FB8C4">
              <a:alpha val="15000"/>
            </a:srgbClr>
          </a:solidFill>
          <a:ln w="9525">
            <a:solidFill>
              <a:srgbClr val="2FB8C4">
                <a:alpha val="7000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49377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模型层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52852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2468880" y="48463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  ·  图像生成  ·  视频生成  ·  语音合成（多供应商调度）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30768" y="2103120"/>
            <a:ext cx="3200400" cy="1691640"/>
          </a:xfrm>
          <a:prstGeom prst="roundRect">
            <a:avLst>
              <a:gd name="adj" fmla="val 6486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59368" y="2331720"/>
            <a:ext cx="502920" cy="50292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0127" y="2462479"/>
            <a:ext cx="241402" cy="24140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299448" y="23225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安全与合规</a:t>
            </a:r>
            <a:endParaRPr lang="en-US" sz="1400" dirty="0"/>
          </a:p>
        </p:txBody>
      </p:sp>
      <p:sp>
        <p:nvSpPr>
          <p:cNvPr id="26" name="Text 22"/>
          <p:cNvSpPr txBox="1"/>
          <p:nvPr/>
        </p:nvSpPr>
        <p:spPr>
          <a:xfrm>
            <a:off x="9299448" y="2606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900" dirty="0"/>
          </a:p>
        </p:txBody>
      </p:sp>
      <p:sp>
        <p:nvSpPr>
          <p:cNvPr id="27" name="Text 23"/>
          <p:cNvSpPr txBox="1"/>
          <p:nvPr/>
        </p:nvSpPr>
        <p:spPr>
          <a:xfrm>
            <a:off x="8705088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权限分级与操作审计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数据安全与私有化部署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内容合规自动审核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8430768" y="3931920"/>
            <a:ext cx="3200400" cy="1691640"/>
          </a:xfrm>
          <a:prstGeom prst="roundRect">
            <a:avLst>
              <a:gd name="adj" fmla="val 6486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659368" y="4160520"/>
            <a:ext cx="502920" cy="50292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0127" y="4291279"/>
            <a:ext cx="241402" cy="241402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299448" y="41513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9299448" y="44348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Integrations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8705088" y="48006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企业微信 · 公众号 · 小程序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 / CRM / 电商后台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对象存储与素材库</a:t>
            </a:r>
            <a:endParaRPr lang="en-US" sz="1150" dirty="0"/>
          </a:p>
        </p:txBody>
      </p:sp>
      <p:pic>
        <p:nvPicPr>
          <p:cNvPr id="34" name="Image 3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PLAYBOOKS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接进四类典型业务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 distilled from the industries we have served.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350008"/>
            <a:ext cx="640080" cy="64008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381" y="2516429"/>
            <a:ext cx="307238" cy="30723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91640" y="2331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电商零售  ·  E-commerce &amp; Retail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691640" y="2606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商品内容工厂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1691640" y="30815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商品图、卖点文案、短视频批量生成，与商品库打通，上新即出内容，多平台规格一键适配。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44768" y="20574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19088" y="2350008"/>
            <a:ext cx="640080" cy="64008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509" y="2516429"/>
            <a:ext cx="307238" cy="30723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287768" y="23317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美妆个护  ·  Beauty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7287768" y="26060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营销素材智能中台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287768" y="30815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素材统一管理与检索，AI 多平台改写与多语种适配，品牌规范与广告合规自动审核。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4114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4407408"/>
            <a:ext cx="640080" cy="64008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573829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3891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奢侈品 · 高端零售  ·  Luxury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1691640" y="46634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顾问式销售 AI 助理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1691640" y="51389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基于产品知识库与服务话术，辅助顾问一对一沟通，回复有温度、合乎品牌调性。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144768" y="411480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19088" y="4407408"/>
            <a:ext cx="640080" cy="64008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5509" y="457382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287768" y="4389120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内容与平台  ·  Platforms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287768" y="46634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营销短视频生产线</a:t>
            </a:r>
            <a:endParaRPr lang="en-US" sz="1800" dirty="0"/>
          </a:p>
        </p:txBody>
      </p:sp>
      <p:sp>
        <p:nvSpPr>
          <p:cNvPr id="29" name="Text 22"/>
          <p:cNvSpPr txBox="1"/>
          <p:nvPr/>
        </p:nvSpPr>
        <p:spPr>
          <a:xfrm>
            <a:off x="7287768" y="513892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脚本、分镜、生成、质检全流程工业化，稳定支撑月千条级的持续产出。</a:t>
            </a:r>
            <a:endParaRPr lang="en-US" sz="1150" dirty="0"/>
          </a:p>
        </p:txBody>
      </p:sp>
      <p:pic>
        <p:nvPicPr>
          <p:cNvPr id="30" name="Image 5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FDE CASE  ·  闲鱼 XIANYU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 AI 营销短视频生产线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marketing video production line for Xianyu.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1000+</a:t>
            </a:r>
            <a:endParaRPr lang="en-US" sz="8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200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 AI 营销短视频 / 月   AI videos delivered every month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49040"/>
            <a:ext cx="5760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为闲鱼的营销场景提供 AI 营销短视频的规模化生产。我们将自研的 ThinkNova AIGC 管线部署为专属生产线：从营销选题、脚本、分镜到成片生成、人工质检与批量交付，全流程标准化，稳定支撑每月 1000+ 条的持续产出。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394960"/>
            <a:ext cx="1234440" cy="329184"/>
          </a:xfrm>
          <a:prstGeom prst="roundRect">
            <a:avLst>
              <a:gd name="adj" fmla="val 41667"/>
            </a:avLst>
          </a:prstGeom>
          <a:solidFill>
            <a:srgbClr val="2FB8C4">
              <a:alpha val="18000"/>
            </a:srgbClr>
          </a:solidFill>
          <a:ln w="6350">
            <a:solidFill>
              <a:srgbClr val="2FB8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AIGC 视频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920240" y="5394960"/>
            <a:ext cx="1234440" cy="329184"/>
          </a:xfrm>
          <a:prstGeom prst="roundRect">
            <a:avLst>
              <a:gd name="adj" fmla="val 41667"/>
            </a:avLst>
          </a:prstGeom>
          <a:solidFill>
            <a:srgbClr val="2FB8C4">
              <a:alpha val="18000"/>
            </a:srgbClr>
          </a:solidFill>
          <a:ln w="6350">
            <a:solidFill>
              <a:srgbClr val="2FB8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规模化交付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291840" y="5394960"/>
            <a:ext cx="1234440" cy="329184"/>
          </a:xfrm>
          <a:prstGeom prst="roundRect">
            <a:avLst>
              <a:gd name="adj" fmla="val 41667"/>
            </a:avLst>
          </a:prstGeom>
          <a:solidFill>
            <a:srgbClr val="2FB8C4">
              <a:alpha val="18000"/>
            </a:srgbClr>
          </a:solidFill>
          <a:ln w="6350">
            <a:solidFill>
              <a:srgbClr val="2FB8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专属生产线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5394960"/>
            <a:ext cx="1234440" cy="329184"/>
          </a:xfrm>
          <a:prstGeom prst="roundRect">
            <a:avLst>
              <a:gd name="adj" fmla="val 41667"/>
            </a:avLst>
          </a:prstGeom>
          <a:solidFill>
            <a:srgbClr val="2FB8C4">
              <a:alpha val="18000"/>
            </a:srgbClr>
          </a:solidFill>
          <a:ln w="6350">
            <a:solidFill>
              <a:srgbClr val="2FB8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持续运营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903720" y="502920"/>
            <a:ext cx="4736592" cy="5577840"/>
          </a:xfrm>
          <a:prstGeom prst="roundRect">
            <a:avLst>
              <a:gd name="adj" fmla="val 2317"/>
            </a:avLst>
          </a:prstGeom>
          <a:solidFill>
            <a:srgbClr val="0F2A33">
              <a:alpha val="6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223760" y="731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PIPELINE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269480" y="1234440"/>
            <a:ext cx="603504" cy="603504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391" y="1391351"/>
            <a:ext cx="289682" cy="28968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092440" y="1252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选题与脚本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8092440" y="156362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 &amp; Script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571232" y="1874520"/>
            <a:ext cx="0" cy="256032"/>
          </a:xfrm>
          <a:prstGeom prst="line">
            <a:avLst/>
          </a:prstGeom>
          <a:noFill/>
          <a:ln w="12700">
            <a:solidFill>
              <a:srgbClr val="2FB8C4">
                <a:alpha val="70000"/>
              </a:srgbClr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7269480" y="2167128"/>
            <a:ext cx="603504" cy="603504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6391" y="2324039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092440" y="21854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分镜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092440" y="249631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Storyboard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571232" y="2807208"/>
            <a:ext cx="0" cy="256032"/>
          </a:xfrm>
          <a:prstGeom prst="line">
            <a:avLst/>
          </a:prstGeom>
          <a:noFill/>
          <a:ln w="12700">
            <a:solidFill>
              <a:srgbClr val="2FB8C4">
                <a:alpha val="70000"/>
              </a:srgbClr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7269480" y="3099816"/>
            <a:ext cx="603504" cy="603504"/>
          </a:xfrm>
          <a:prstGeom prst="ellipse">
            <a:avLst/>
          </a:prstGeom>
          <a:solidFill>
            <a:srgbClr val="2FB8C4">
              <a:alpha val="50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6391" y="3256727"/>
            <a:ext cx="289682" cy="28968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092440" y="31181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成片生成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8092440" y="342900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571232" y="3739896"/>
            <a:ext cx="0" cy="256032"/>
          </a:xfrm>
          <a:prstGeom prst="line">
            <a:avLst/>
          </a:prstGeom>
          <a:noFill/>
          <a:ln w="12700">
            <a:solidFill>
              <a:srgbClr val="2FB8C4">
                <a:alpha val="70000"/>
              </a:srgbClr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7269480" y="4032504"/>
            <a:ext cx="603504" cy="603504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391" y="4189415"/>
            <a:ext cx="289682" cy="28968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092440" y="4050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质检审核</a:t>
            </a:r>
            <a:endParaRPr lang="en-US" sz="1500" dirty="0"/>
          </a:p>
        </p:txBody>
      </p:sp>
      <p:sp>
        <p:nvSpPr>
          <p:cNvPr id="33" name="Text 26"/>
          <p:cNvSpPr txBox="1"/>
          <p:nvPr/>
        </p:nvSpPr>
        <p:spPr>
          <a:xfrm>
            <a:off x="8092440" y="436168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&amp; Review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7571232" y="4672584"/>
            <a:ext cx="0" cy="256032"/>
          </a:xfrm>
          <a:prstGeom prst="line">
            <a:avLst/>
          </a:prstGeom>
          <a:noFill/>
          <a:ln w="12700">
            <a:solidFill>
              <a:srgbClr val="2FB8C4">
                <a:alpha val="70000"/>
              </a:srgbClr>
            </a:solidFill>
            <a:prstDash val="dash"/>
          </a:ln>
        </p:spPr>
      </p:sp>
      <p:sp>
        <p:nvSpPr>
          <p:cNvPr id="35" name="Shape 28"/>
          <p:cNvSpPr/>
          <p:nvPr/>
        </p:nvSpPr>
        <p:spPr>
          <a:xfrm>
            <a:off x="7269480" y="4965192"/>
            <a:ext cx="603504" cy="603504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6391" y="5122103"/>
            <a:ext cx="289682" cy="289682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092440" y="49834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批量交付</a:t>
            </a:r>
            <a:endParaRPr lang="en-US" sz="1500" dirty="0"/>
          </a:p>
        </p:txBody>
      </p:sp>
      <p:sp>
        <p:nvSpPr>
          <p:cNvPr id="38" name="Text 30"/>
          <p:cNvSpPr txBox="1"/>
          <p:nvPr/>
        </p:nvSpPr>
        <p:spPr>
          <a:xfrm>
            <a:off x="8092440" y="52943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Delivery</a:t>
            </a:r>
            <a:endParaRPr lang="en-US" sz="950" dirty="0"/>
          </a:p>
        </p:txBody>
      </p:sp>
      <p:pic>
        <p:nvPicPr>
          <p:cNvPr id="39" name="Image 6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41" name="Text 32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CLIENTS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服务品牌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 we have served — from global luxury to China's leading platforms.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0A1E24">
              <a:alpha val="80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spc="3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L'ORÉAL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欧莱雅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美妆 · Beauty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279392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0A1E24">
              <a:alpha val="80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462272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spc="5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VACHERON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spc="5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CONSTANTIN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4462272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江诗丹顿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462272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奢侈品腕表 · Luxury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010144" y="210312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0A1E24">
              <a:alpha val="80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193024" y="228600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1号店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193024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1号店 YHD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193024" y="3566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电商零售 · E-commerce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0A1E24">
              <a:alpha val="80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297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731520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闲鱼 Xianyu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5577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互联网平台 · Platform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279392" y="4114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0A1E24">
              <a:alpha val="80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462272" y="4297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</a:t>
            </a:r>
            <a:endParaRPr lang="en-US" sz="2800" dirty="0"/>
          </a:p>
          <a:p>
            <a:pPr algn="ctr" indent="0" marL="0">
              <a:buNone/>
            </a:pPr>
            <a:r>
              <a:rPr lang="en-US" sz="900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LUXURY CAR CLUB</a:t>
            </a:r>
            <a:endParaRPr lang="en-US" sz="2800" dirty="0"/>
          </a:p>
        </p:txBody>
      </p:sp>
      <p:sp>
        <p:nvSpPr>
          <p:cNvPr id="24" name="Text 21"/>
          <p:cNvSpPr txBox="1"/>
          <p:nvPr/>
        </p:nvSpPr>
        <p:spPr>
          <a:xfrm>
            <a:off x="4462272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1500 名车俱乐部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4462272" y="5577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高端社群 · Community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010144" y="411480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0A1E24">
              <a:alpha val="80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93024" y="4297680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二次源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8193024" y="5303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二次源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193024" y="55778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消费工具 · Fintech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05332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A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品牌名称仅用于说明服务经历，相关商标归各自权利人所有。 Trademarks belong to their respective owners.</a:t>
            </a:r>
            <a:endParaRPr lang="en-US" sz="850" dirty="0"/>
          </a:p>
        </p:txBody>
      </p:sp>
      <p:pic>
        <p:nvPicPr>
          <p:cNvPr id="31" name="Image 1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33" name="Text 29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CASE  ·  01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中国欧莱雅 · 营销数字化服务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L'Oréal China — marketing digital IT services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长期为欧莱雅的营销与 OA 管理体系提供 IT 服务支持，从项目策划建议到系统迭代运维全程参与，并满足品牌对项目安全性的严格要求。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服务内容  SCOPE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2277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96112" y="3886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项目策划与技术建议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0682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" y="4270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OA 管理配套 H5 与项目素材管理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9087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96112" y="4654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 H5 与小程序开发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7492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96112" y="5038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多公众号管理平台的迭代与维护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3566160" y="4572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2FB8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1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长期合作 LONG-TERM</a:t>
            </a:r>
            <a:endParaRPr lang="en-US" sz="1000" dirty="0"/>
          </a:p>
        </p:txBody>
      </p:sp>
      <p:pic>
        <p:nvPicPr>
          <p:cNvPr id="17" name="Image 5" descr="/tmp/claude-0/-home-user-website/1713201c-620c-5ce1-b439-a99d37e654e6/scratchpad/build/../assets/shot2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914400"/>
            <a:ext cx="4754880" cy="3493381"/>
          </a:xfrm>
          <a:prstGeom prst="rect">
            <a:avLst/>
          </a:prstGeom>
        </p:spPr>
      </p:pic>
      <p:pic>
        <p:nvPicPr>
          <p:cNvPr id="18" name="Image 6" descr="/tmp/claude-0/-home-user-website/1713201c-620c-5ce1-b439-a99d37e654e6/scratchpad/build/../assets/shot2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0" y="1234440"/>
            <a:ext cx="1976374" cy="3566160"/>
          </a:xfrm>
          <a:prstGeom prst="rect">
            <a:avLst/>
          </a:prstGeom>
        </p:spPr>
      </p:pic>
      <p:pic>
        <p:nvPicPr>
          <p:cNvPr id="19" name="Image 7" descr="/tmp/claude-0/-home-user-website/1713201c-620c-5ce1-b439-a99d37e654e6/scratchpad/build/../assets/shot23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5360" y="3566160"/>
            <a:ext cx="1368320" cy="2514600"/>
          </a:xfrm>
          <a:prstGeom prst="rect">
            <a:avLst/>
          </a:prstGeom>
        </p:spPr>
      </p:pic>
      <p:pic>
        <p:nvPicPr>
          <p:cNvPr id="20" name="Image 8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CASE  ·  02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1500 名车俱乐部联盟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 Luxury Car Club Union — brand, platform &amp; events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1500 名车俱乐部集结全球高端车友，整合全国各高端品牌车友会，为社群提供活动与服务。我们为其策划并执行整套线上产品与配套营销方案。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服务内容  SCOPE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2277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96112" y="3886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企业品牌宣传策划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0682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" y="4270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官网与公众号搭建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9087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96112" y="4654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社群营销小程序开发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7492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96112" y="5038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线下展会策划与执行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5458968"/>
            <a:ext cx="219456" cy="219456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96112" y="54223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长期运营建议与方案</a:t>
            </a:r>
            <a:endParaRPr lang="en-US" sz="1200" dirty="0"/>
          </a:p>
        </p:txBody>
      </p:sp>
      <p:pic>
        <p:nvPicPr>
          <p:cNvPr id="18" name="Image 6" descr="/tmp/claude-0/-home-user-website/1713201c-620c-5ce1-b439-a99d37e654e6/scratchpad/build/../assets/shot18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77840" y="1097280"/>
            <a:ext cx="4937760" cy="3310315"/>
          </a:xfrm>
          <a:prstGeom prst="rect">
            <a:avLst/>
          </a:prstGeom>
        </p:spPr>
      </p:pic>
      <p:pic>
        <p:nvPicPr>
          <p:cNvPr id="19" name="Image 7" descr="/tmp/claude-0/-home-user-website/1713201c-620c-5ce1-b439-a99d37e654e6/scratchpad/build/../assets/shot20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8240" y="2468880"/>
            <a:ext cx="1978038" cy="3611880"/>
          </a:xfrm>
          <a:prstGeom prst="rect">
            <a:avLst/>
          </a:prstGeom>
        </p:spPr>
      </p:pic>
      <p:pic>
        <p:nvPicPr>
          <p:cNvPr id="20" name="Image 8" descr="/tmp/claude-0/-home-user-website/1713201c-620c-5ce1-b439-a99d37e654e6/scratchpad/build/../assets/shot2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32720" y="2011680"/>
            <a:ext cx="1994424" cy="3611880"/>
          </a:xfrm>
          <a:prstGeom prst="rect">
            <a:avLst/>
          </a:prstGeom>
        </p:spPr>
      </p:pic>
      <p:pic>
        <p:nvPicPr>
          <p:cNvPr id="21" name="Image 9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23" name="Text 11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CASE  ·  03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二次源 · 消费工具平台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Erciyuan — C2C mall, settlement &amp; payment tool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574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二次源是集 C2C 商城、结算系统与付款工具于一体的平台，平台用户流水超过千万。我们与其深度合作，从方案策划到技术开发、内容与活动全面参与。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B8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服务内容  SCOPE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22776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96112" y="38862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项目与执行方案策划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06824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" y="42702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 / APP 技术开发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690872"/>
            <a:ext cx="219456" cy="21945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96112" y="465429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短视频内容制作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74920"/>
            <a:ext cx="219456" cy="219456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96112" y="503834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营销活动策划与执行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3566160" y="457200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2FB8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1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平台流水 千万+</a:t>
            </a:r>
            <a:endParaRPr lang="en-US" sz="1000" dirty="0"/>
          </a:p>
        </p:txBody>
      </p:sp>
      <p:pic>
        <p:nvPicPr>
          <p:cNvPr id="17" name="Image 5" descr="/tmp/claude-0/-home-user-website/1713201c-620c-5ce1-b439-a99d37e654e6/scratchpad/build/../assets/shot2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1188720"/>
            <a:ext cx="2437764" cy="4389120"/>
          </a:xfrm>
          <a:prstGeom prst="rect">
            <a:avLst/>
          </a:prstGeom>
        </p:spPr>
      </p:pic>
      <p:pic>
        <p:nvPicPr>
          <p:cNvPr id="18" name="Image 6" descr="/tmp/claude-0/-home-user-website/1713201c-620c-5ce1-b439-a99d37e654e6/scratchpad/build/../assets/shot2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0" y="1188720"/>
            <a:ext cx="2437764" cy="4389120"/>
          </a:xfrm>
          <a:prstGeom prst="rect">
            <a:avLst/>
          </a:prstGeom>
        </p:spPr>
      </p:pic>
      <p:pic>
        <p:nvPicPr>
          <p:cNvPr id="19" name="Image 7" descr="/tmp/claude-0/-home-user-website/1713201c-620c-5ce1-b439-a99d37e654e6/scratchpad/build/../assets/shot2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0" y="1188720"/>
            <a:ext cx="2437764" cy="4389120"/>
          </a:xfrm>
          <a:prstGeom prst="rect">
            <a:avLst/>
          </a:prstGeom>
        </p:spPr>
      </p:pic>
      <p:pic>
        <p:nvPicPr>
          <p:cNvPr id="20" name="Image 8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22" name="Text 11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secti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PRODUCT</a:t>
            </a:r>
            <a:endParaRPr lang="en-US" sz="1100" dirty="0"/>
          </a:p>
        </p:txBody>
      </p:sp>
      <p:pic>
        <p:nvPicPr>
          <p:cNvPr id="4" name="Image 1" descr="/tmp/claude-0/-home-user-website/1713201c-620c-5ce1-b439-a99d37e654e6/scratchpad/build/../assets/tn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4400"/>
            <a:ext cx="868680" cy="85953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600200" y="896112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ThinkNova</a:t>
            </a:r>
            <a:endParaRPr lang="en-US" sz="3200" dirty="0"/>
          </a:p>
          <a:p>
            <a:pPr indent="0" marL="0">
              <a:buNone/>
            </a:pPr>
            <a:r>
              <a:rPr lang="en-US" sz="130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绩盟技术团队自研 AI 营销内容平台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21488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选场景、填商品、传照片，约 3 分钟生成可直接发布的 15 秒营销短视频或营销海报。它既是面向小微经营者的 SaaS 产品，也是我们 FDE 交付中 AIGC 生产线的核心引擎。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3474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in-house by our core team: pick a scene, add a product, upload a photo — a ready-to-post 15-second video in about 3 minutes.</a:t>
            </a:r>
            <a:endParaRPr lang="en-US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480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min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5074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出片 To video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2331720" y="4480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2331720" y="5074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种输出语言 Languages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114800" y="44805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4114800" y="5074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产品线 视频+海报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0" y="914400"/>
            <a:ext cx="5239512" cy="1097280"/>
          </a:xfrm>
          <a:prstGeom prst="roundRect">
            <a:avLst>
              <a:gd name="adj" fmla="val 10000"/>
            </a:avLst>
          </a:prstGeom>
          <a:solidFill>
            <a:srgbClr val="0A1E24">
              <a:alpha val="8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656832" y="1152144"/>
            <a:ext cx="621792" cy="621792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498" y="1313810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78992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749808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选场景  </a:t>
            </a:r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scene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49808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新品、探店、促销、价目表、节日营销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0" y="2176272"/>
            <a:ext cx="5239512" cy="1097280"/>
          </a:xfrm>
          <a:prstGeom prst="roundRect">
            <a:avLst>
              <a:gd name="adj" fmla="val 10000"/>
            </a:avLst>
          </a:prstGeom>
          <a:solidFill>
            <a:srgbClr val="0A1E24">
              <a:alpha val="8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656832" y="2414016"/>
            <a:ext cx="621792" cy="621792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498" y="2575682"/>
            <a:ext cx="298460" cy="29846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789920" y="2450592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18"/>
          <p:cNvSpPr txBox="1"/>
          <p:nvPr/>
        </p:nvSpPr>
        <p:spPr>
          <a:xfrm>
            <a:off x="7498080" y="235915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填信息  </a:t>
            </a:r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two lines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498080" y="2743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只需商品名与价格活动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6400800" y="3438144"/>
            <a:ext cx="5239512" cy="1097280"/>
          </a:xfrm>
          <a:prstGeom prst="roundRect">
            <a:avLst>
              <a:gd name="adj" fmla="val 10000"/>
            </a:avLst>
          </a:prstGeom>
          <a:solidFill>
            <a:srgbClr val="0A1E24">
              <a:alpha val="8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656832" y="3675888"/>
            <a:ext cx="621792" cy="621792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8498" y="3837554"/>
            <a:ext cx="298460" cy="29846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789920" y="371246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498080" y="36210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传照片  </a:t>
            </a:r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 photo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7498080" y="40050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成片还原真实门头与商品外观</a:t>
            </a:r>
            <a:endParaRPr lang="en-US" sz="1150" dirty="0"/>
          </a:p>
        </p:txBody>
      </p:sp>
      <p:sp>
        <p:nvSpPr>
          <p:cNvPr id="32" name="Shape 25"/>
          <p:cNvSpPr/>
          <p:nvPr/>
        </p:nvSpPr>
        <p:spPr>
          <a:xfrm>
            <a:off x="6400800" y="4700016"/>
            <a:ext cx="5239512" cy="1097280"/>
          </a:xfrm>
          <a:prstGeom prst="roundRect">
            <a:avLst>
              <a:gd name="adj" fmla="val 10000"/>
            </a:avLst>
          </a:prstGeom>
          <a:solidFill>
            <a:srgbClr val="0A1E24">
              <a:alpha val="8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656832" y="4937760"/>
            <a:ext cx="621792" cy="621792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8498" y="5099426"/>
            <a:ext cx="298460" cy="298460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789920" y="49743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F4A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36" name="Text 28"/>
          <p:cNvSpPr txBox="1"/>
          <p:nvPr/>
        </p:nvSpPr>
        <p:spPr>
          <a:xfrm>
            <a:off x="7498080" y="48828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点生成  </a:t>
            </a:r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7498080" y="52669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台词、配音、分镜、字幕全自动</a:t>
            </a:r>
            <a:endParaRPr lang="en-US" sz="1150" dirty="0"/>
          </a:p>
        </p:txBody>
      </p:sp>
      <p:pic>
        <p:nvPicPr>
          <p:cNvPr id="38" name="Image 6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40" name="Text 31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JIMENG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为什么选择绩盟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reasons brands keep working with us.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377440"/>
            <a:ext cx="548640" cy="54864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06" y="2520086"/>
            <a:ext cx="263347" cy="26334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36192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十年稳定班底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536192" y="2679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decade-long core team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0906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核心技术成员共事十余年，交付质量不因人员流动而打折。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79392" y="210312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53712" y="2377440"/>
            <a:ext cx="548640" cy="54864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358" y="2520086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66944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全链路能力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5266944" y="2679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950" dirty="0"/>
          </a:p>
        </p:txBody>
      </p:sp>
      <p:sp>
        <p:nvSpPr>
          <p:cNvPr id="17" name="Text 12"/>
          <p:cNvSpPr txBox="1"/>
          <p:nvPr/>
        </p:nvSpPr>
        <p:spPr>
          <a:xfrm>
            <a:off x="4553712" y="30906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策划、设计、开发、运营与 AI，一个团队闭环交付。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010144" y="210312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84464" y="2377440"/>
            <a:ext cx="548640" cy="54864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110" y="2520086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997696" y="23591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品牌级交付标准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8997696" y="2679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Brand-grade standards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8284464" y="309067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服务国际美妆与奢侈品牌，熟悉品牌安全与合规要求。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0690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4343400"/>
            <a:ext cx="548640" cy="54864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606" y="4486046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36192" y="4325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千万级系统经验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536192" y="4645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at scale</a:t>
            </a:r>
            <a:endParaRPr lang="en-US" sz="950" dirty="0"/>
          </a:p>
        </p:txBody>
      </p:sp>
      <p:sp>
        <p:nvSpPr>
          <p:cNvPr id="29" name="Text 22"/>
          <p:cNvSpPr txBox="1"/>
          <p:nvPr/>
        </p:nvSpPr>
        <p:spPr>
          <a:xfrm>
            <a:off x="822960" y="50566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多个千万级系统的开发与长期运维经验。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279392" y="40690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553712" y="4343400"/>
            <a:ext cx="548640" cy="54864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6358" y="4486046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266944" y="4325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原生能力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5266944" y="4645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4553712" y="50566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AIGC 管线，具备月千条级的内容规模化产能。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8010144" y="4069080"/>
            <a:ext cx="3566160" cy="1783080"/>
          </a:xfrm>
          <a:prstGeom prst="roundRect">
            <a:avLst>
              <a:gd name="adj" fmla="val 6154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8284464" y="4343400"/>
            <a:ext cx="548640" cy="548640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7110" y="4486046"/>
            <a:ext cx="263347" cy="26334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997696" y="432511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长期陪伴</a:t>
            </a:r>
            <a:endParaRPr lang="en-US" sz="1500" dirty="0"/>
          </a:p>
        </p:txBody>
      </p:sp>
      <p:sp>
        <p:nvSpPr>
          <p:cNvPr id="40" name="Text 31"/>
          <p:cNvSpPr txBox="1"/>
          <p:nvPr/>
        </p:nvSpPr>
        <p:spPr>
          <a:xfrm>
            <a:off x="8997696" y="46451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partner</a:t>
            </a:r>
            <a:endParaRPr lang="en-US" sz="950" dirty="0"/>
          </a:p>
        </p:txBody>
      </p:sp>
      <p:sp>
        <p:nvSpPr>
          <p:cNvPr id="41" name="Text 32"/>
          <p:cNvSpPr txBox="1"/>
          <p:nvPr/>
        </p:nvSpPr>
        <p:spPr>
          <a:xfrm>
            <a:off x="8284464" y="5056632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一对一专属服务，上线之后持续迭代与运营。</a:t>
            </a:r>
            <a:endParaRPr lang="en-US" sz="1150" dirty="0"/>
          </a:p>
        </p:txBody>
      </p:sp>
      <p:pic>
        <p:nvPicPr>
          <p:cNvPr id="42" name="Image 7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44" name="Text 34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bg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MODELS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三种合作方式，按需选择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89888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how we work together.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377440"/>
            <a:ext cx="603504" cy="603504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871" y="2534351"/>
            <a:ext cx="289682" cy="28968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项目制交付</a:t>
            </a:r>
            <a:endParaRPr lang="en-US" sz="19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566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明确范围、里程碑与验收标准，适合官网、小程序、APP 与企业系统开发。</a:t>
            </a:r>
            <a:endParaRPr lang="en-US" sz="11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983480"/>
            <a:ext cx="182880" cy="1828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固定范围与报价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312664"/>
            <a:ext cx="182880" cy="18288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5266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里程碑验收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5641848"/>
            <a:ext cx="182880" cy="18288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97280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上线后质保维护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4279392" y="21031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0E6E7E">
              <a:alpha val="70000"/>
            </a:srgbClr>
          </a:solidFill>
          <a:ln w="15875">
            <a:solidFill>
              <a:srgbClr val="2FB8C4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6062472" y="2450592"/>
            <a:ext cx="1554480" cy="292608"/>
          </a:xfrm>
          <a:prstGeom prst="roundRect">
            <a:avLst>
              <a:gd name="adj" fmla="val 37500"/>
            </a:avLst>
          </a:prstGeom>
          <a:solidFill>
            <a:srgbClr val="2FB8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11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RECOMMENDED</a:t>
            </a:r>
            <a:endParaRPr lang="en-US" sz="900" dirty="0"/>
          </a:p>
        </p:txBody>
      </p:sp>
      <p:sp>
        <p:nvSpPr>
          <p:cNvPr id="20" name="Shape 13"/>
          <p:cNvSpPr/>
          <p:nvPr/>
        </p:nvSpPr>
        <p:spPr>
          <a:xfrm>
            <a:off x="4553712" y="2377440"/>
            <a:ext cx="603504" cy="603504"/>
          </a:xfrm>
          <a:prstGeom prst="ellipse">
            <a:avLst/>
          </a:prstGeom>
          <a:solidFill>
            <a:srgbClr val="2FB8C4">
              <a:alpha val="45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10623" y="2534351"/>
            <a:ext cx="289682" cy="28968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553712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FDE 驻场</a:t>
            </a:r>
            <a:endParaRPr lang="en-US" sz="1900" dirty="0"/>
          </a:p>
        </p:txBody>
      </p:sp>
      <p:sp>
        <p:nvSpPr>
          <p:cNvPr id="23" name="Text 15"/>
          <p:cNvSpPr txBox="1"/>
          <p:nvPr/>
        </p:nvSpPr>
        <p:spPr>
          <a:xfrm>
            <a:off x="4553712" y="3566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D9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Deployed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4553712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工程师嵌入客户团队，按诊断、原型、部署、移交四阶段交付 AI 生产系统。</a:t>
            </a:r>
            <a:endParaRPr lang="en-US" sz="115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4983480"/>
            <a:ext cx="182880" cy="18288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4828032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驻场或远程嵌入</a:t>
            </a:r>
            <a:endParaRPr lang="en-US" sz="11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5312664"/>
            <a:ext cx="182880" cy="18288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4828032" y="5266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按阶段交付与验收</a:t>
            </a:r>
            <a:endParaRPr lang="en-US" sz="11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3712" y="5641848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 txBox="1"/>
          <p:nvPr/>
        </p:nvSpPr>
        <p:spPr>
          <a:xfrm>
            <a:off x="4828032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能力移交与培训</a:t>
            </a:r>
            <a:endParaRPr lang="en-US" sz="1100" dirty="0"/>
          </a:p>
        </p:txBody>
      </p:sp>
      <p:sp>
        <p:nvSpPr>
          <p:cNvPr id="31" name="Shape 20"/>
          <p:cNvSpPr/>
          <p:nvPr/>
        </p:nvSpPr>
        <p:spPr>
          <a:xfrm>
            <a:off x="8010144" y="21031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0F2A33">
              <a:alpha val="75000"/>
            </a:srgbClr>
          </a:solidFill>
          <a:ln w="9525">
            <a:solidFill>
              <a:srgbClr val="1F4A55"/>
            </a:solidFill>
            <a:prstDash val="solid"/>
          </a:ln>
        </p:spPr>
      </p:sp>
      <p:sp>
        <p:nvSpPr>
          <p:cNvPr id="32" name="Shape 21"/>
          <p:cNvSpPr/>
          <p:nvPr/>
        </p:nvSpPr>
        <p:spPr>
          <a:xfrm>
            <a:off x="8284464" y="2377440"/>
            <a:ext cx="603504" cy="603504"/>
          </a:xfrm>
          <a:prstGeom prst="ellipse">
            <a:avLst/>
          </a:prstGeom>
          <a:solidFill>
            <a:srgbClr val="2FB8C4">
              <a:alpha val="18000"/>
            </a:srgbClr>
          </a:solidFill>
          <a:ln w="9525">
            <a:solidFill>
              <a:srgbClr val="2FB8C4">
                <a:alpha val="60000"/>
              </a:srgbClr>
            </a:solidFill>
            <a:prstDash val="solid"/>
          </a:ln>
        </p:spPr>
      </p:sp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41375" y="2534351"/>
            <a:ext cx="289682" cy="289682"/>
          </a:xfrm>
          <a:prstGeom prst="rect">
            <a:avLst/>
          </a:prstGeom>
        </p:spPr>
      </p:pic>
      <p:sp>
        <p:nvSpPr>
          <p:cNvPr id="34" name="Text 22"/>
          <p:cNvSpPr txBox="1"/>
          <p:nvPr/>
        </p:nvSpPr>
        <p:spPr>
          <a:xfrm>
            <a:off x="8284464" y="3154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长期运营托管</a:t>
            </a:r>
            <a:endParaRPr lang="en-US" sz="1900" dirty="0"/>
          </a:p>
        </p:txBody>
      </p:sp>
      <p:sp>
        <p:nvSpPr>
          <p:cNvPr id="35" name="Text 23"/>
          <p:cNvSpPr txBox="1"/>
          <p:nvPr/>
        </p:nvSpPr>
        <p:spPr>
          <a:xfrm>
            <a:off x="8284464" y="35661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B8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Operations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8284464" y="39319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FA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内容生产、平台运维与社群运营按月服务，持续交付，持续优化。</a:t>
            </a:r>
            <a:endParaRPr lang="en-US" sz="1150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4464" y="4983480"/>
            <a:ext cx="182880" cy="18288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8558784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月度服务包</a:t>
            </a:r>
            <a:endParaRPr lang="en-US" sz="1100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84464" y="5312664"/>
            <a:ext cx="182880" cy="182880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8558784" y="52669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内容规模化产出</a:t>
            </a:r>
            <a:endParaRPr lang="en-US" sz="110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84464" y="5641848"/>
            <a:ext cx="182880" cy="182880"/>
          </a:xfrm>
          <a:prstGeom prst="rect">
            <a:avLst/>
          </a:prstGeom>
        </p:spPr>
      </p:pic>
      <p:sp>
        <p:nvSpPr>
          <p:cNvPr id="42" name="Text 27"/>
          <p:cNvSpPr txBox="1"/>
          <p:nvPr/>
        </p:nvSpPr>
        <p:spPr>
          <a:xfrm>
            <a:off x="8558784" y="5596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F1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数据复盘与迭代</a:t>
            </a:r>
            <a:endParaRPr lang="en-US" sz="1100" dirty="0"/>
          </a:p>
        </p:txBody>
      </p:sp>
      <p:pic>
        <p:nvPicPr>
          <p:cNvPr id="43" name="Image 13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6336792"/>
            <a:ext cx="274320" cy="235915"/>
          </a:xfrm>
          <a:prstGeom prst="rect">
            <a:avLst/>
          </a:prstGeom>
        </p:spPr>
      </p:pic>
      <p:sp>
        <p:nvSpPr>
          <p:cNvPr id="44" name="Text 28"/>
          <p:cNvSpPr txBox="1"/>
          <p:nvPr/>
        </p:nvSpPr>
        <p:spPr>
          <a:xfrm>
            <a:off x="914400" y="63093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JIMENG NETWORK  ·  绩盟网络</a:t>
            </a:r>
            <a:endParaRPr lang="en-US" sz="900" dirty="0"/>
          </a:p>
        </p:txBody>
      </p:sp>
      <p:sp>
        <p:nvSpPr>
          <p:cNvPr id="45" name="Text 29"/>
          <p:cNvSpPr txBox="1"/>
          <p:nvPr/>
        </p:nvSpPr>
        <p:spPr>
          <a:xfrm>
            <a:off x="10728655" y="630936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A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website/1713201c-620c-5ce1-b439-a99d37e654e6/scratchpad/build/../assets/jm_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2">
            <a:alphaModFix amt="12000"/>
          </a:blip>
          <a:stretch>
            <a:fillRect/>
          </a:stretch>
        </p:blipFill>
        <p:spPr>
          <a:xfrm>
            <a:off x="7223760" y="822960"/>
            <a:ext cx="5852160" cy="5029200"/>
          </a:xfrm>
          <a:prstGeom prst="rect">
            <a:avLst/>
          </a:prstGeom>
        </p:spPr>
      </p:pic>
      <p:pic>
        <p:nvPicPr>
          <p:cNvPr id="4" name="Image 2" descr="/tmp/claude-0/-home-user-website/1713201c-620c-5ce1-b439-a99d37e654e6/scratchpad/build/../assets/jm_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85800"/>
            <a:ext cx="713232" cy="612648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731520" y="18288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6" name="Text 1"/>
          <p:cNvSpPr txBox="1"/>
          <p:nvPr/>
        </p:nvSpPr>
        <p:spPr>
          <a:xfrm>
            <a:off x="731520" y="30632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数字时代瞬息万变，我们从不随波逐流。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7FD9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站在「提供价值」的原点，专注做好每一件承诺您的事。</a:t>
            </a:r>
            <a:endParaRPr lang="en-US" sz="1700" dirty="0"/>
          </a:p>
        </p:txBody>
      </p:sp>
      <p:sp>
        <p:nvSpPr>
          <p:cNvPr id="7" name="Text 2"/>
          <p:cNvSpPr txBox="1"/>
          <p:nvPr/>
        </p:nvSpPr>
        <p:spPr>
          <a:xfrm>
            <a:off x="73152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age changes fast; we never drift with the tide. We start from delivering value — and do everything we promise.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731520" y="51206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上海绩盟网络科技有限公司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8FA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Shanghai Jimeng Network Technology Co., Ltd.   ·   jimeng.it.com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Jimeng Network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绩盟网络 公司介绍 | Jimeng Network Company Profile</dc:title>
  <dc:subject>PptxGenJS Presentation</dc:subject>
  <dc:creator>上海绩盟网络科技有限公司</dc:creator>
  <cp:lastModifiedBy>上海绩盟网络科技有限公司</cp:lastModifiedBy>
  <cp:revision>1</cp:revision>
  <dcterms:created xsi:type="dcterms:W3CDTF">2026-09-27T07:52:22Z</dcterms:created>
  <dcterms:modified xsi:type="dcterms:W3CDTF">2026-09-27T07:52:22Z</dcterms:modified>
</cp:coreProperties>
</file>