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863840" y="1188720"/>
            <a:ext cx="4206240" cy="4169664"/>
          </a:xfrm>
          <a:prstGeom prst="rect">
            <a:avLst/>
          </a:prstGeom>
        </p:spPr>
      </p:pic>
      <p:pic>
        <p:nvPicPr>
          <p:cNvPr id="4" name="Image 2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685800" cy="6766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72768" y="731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</a:t>
            </a:r>
            <a:endParaRPr lang="en-US" sz="24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 2026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2423160"/>
            <a:ext cx="8229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the barrier.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AI in the hands of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business owner.</a:t>
            </a:r>
            <a:endParaRPr lang="en-US" sz="46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4983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marketing department for every small business.</a:t>
            </a:r>
            <a:endParaRPr lang="en-US" sz="19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5577840"/>
            <a:ext cx="196596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15-sec marketing videos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2807208" y="5577840"/>
            <a:ext cx="16002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posters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4517136" y="5577840"/>
            <a:ext cx="164592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output languages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6272784" y="5577840"/>
            <a:ext cx="146304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 to video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  ·  Powered by Jimeng Network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isn't closing the gap. It's widening it.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was supposed to level the playing field. For small businesses, the opposite is happening.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BF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0604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owner knows they need short videos and posters. But they can't shoot, edit or write — and outsourcing costs hundreds per video. Content cost is the trap that keeps small businesses offline.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0" y="1920240"/>
            <a:ext cx="661111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03520" y="2212848"/>
            <a:ext cx="676656" cy="67665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4" y="2382012"/>
            <a:ext cx="338328" cy="3383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210312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make it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046720" y="205740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Shooting, editing and copywriting are three professional skills. Owners have none of them — and no time to learn.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0" y="3337560"/>
            <a:ext cx="661111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0" y="3630168"/>
            <a:ext cx="676656" cy="67665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684" y="3799332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352044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afford it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347472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a single short video costs hundreds of dollars. Daily content blows far past a small shop's budget.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029200" y="4754880"/>
            <a:ext cx="6611112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9525">
            <a:solidFill>
              <a:srgbClr val="DCE5EE"/>
            </a:solidFill>
            <a:prstDash val="solid"/>
          </a:ln>
          <a:effectLst>
            <a:outerShdw sx="100000" sy="100000" kx="0" ky="0" algn="bl" rotWithShape="0" blurRad="152400" dist="38100" dir="5400000">
              <a:srgbClr val="0F1E33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03520" y="5047488"/>
            <a:ext cx="676656" cy="676656"/>
          </a:xfrm>
          <a:prstGeom prst="ellipse">
            <a:avLst/>
          </a:prstGeom>
          <a:solidFill>
            <a:srgbClr val="E3F7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5216652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17920" y="493776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use the tools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0" y="4892040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AI video tools expect prompts, storyboards and editing skills — just another barrier for owners.</a:t>
            </a:r>
            <a:endParaRPr lang="en-US" sz="1150" dirty="0"/>
          </a:p>
        </p:txBody>
      </p:sp>
      <p:pic>
        <p:nvPicPr>
          <p:cNvPr id="24" name="Image 4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a few blanks. Get a finished video.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post — no skills, no prompts, no editing.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shouldn't have to climb over the barrier — we remove it. Model orchestration, prompt engineering and workflow design are all handled by the platform, so there is nothing to learn.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246120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3378708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97180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44752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scene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858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launch, store tour, promotion, price list, festive campaign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86200" y="3017520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14800" y="3246120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388" y="337870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32186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782312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two lines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114800" y="38587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the product name and the price or offer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59028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77240" y="4818888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4951476"/>
            <a:ext cx="265176" cy="26517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971800" y="4791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444752" y="4818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photo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54315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storefront or product shots, faithfully recreated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886200" y="4590288"/>
            <a:ext cx="3200400" cy="1417320"/>
          </a:xfrm>
          <a:prstGeom prst="roundRect">
            <a:avLst>
              <a:gd name="adj" fmla="val 9032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114800" y="4818888"/>
            <a:ext cx="530352" cy="530352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388" y="4951476"/>
            <a:ext cx="265176" cy="26517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309360" y="4791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3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782312" y="48188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4114800" y="5431536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minutes; script, voice-over, shots and captions are automatic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726680" y="777240"/>
            <a:ext cx="3566160" cy="5486400"/>
          </a:xfrm>
          <a:prstGeom prst="roundRect">
            <a:avLst>
              <a:gd name="adj" fmla="val 12821"/>
            </a:avLst>
          </a:prstGeom>
          <a:solidFill>
            <a:srgbClr val="00BFEA">
              <a:alpha val="12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8001000" y="502920"/>
            <a:ext cx="3017520" cy="5669280"/>
          </a:xfrm>
          <a:prstGeom prst="roundRect">
            <a:avLst>
              <a:gd name="adj" fmla="val 12727"/>
            </a:avLst>
          </a:prstGeom>
          <a:solidFill>
            <a:srgbClr val="050B16"/>
          </a:solidFill>
          <a:ln w="19050">
            <a:solidFill>
              <a:srgbClr val="2B4468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110728" y="612648"/>
            <a:ext cx="2798064" cy="5449824"/>
          </a:xfrm>
          <a:prstGeom prst="roundRect">
            <a:avLst>
              <a:gd name="adj" fmla="val 11111"/>
            </a:avLst>
          </a:prstGeom>
          <a:solidFill>
            <a:srgbClr val="F6F9FC"/>
          </a:solidFill>
          <a:ln/>
        </p:spPr>
      </p:sp>
      <p:sp>
        <p:nvSpPr>
          <p:cNvPr id="35" name="Shape 28"/>
          <p:cNvSpPr/>
          <p:nvPr/>
        </p:nvSpPr>
        <p:spPr>
          <a:xfrm>
            <a:off x="9098280" y="704088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50B16"/>
          </a:solidFill>
          <a:ln/>
        </p:spPr>
      </p:sp>
      <p:pic>
        <p:nvPicPr>
          <p:cNvPr id="36" name="Image 5" descr="/tmp/claude-0/-home-user-website/1713201c-620c-5ce1-b439-a99d37e654e6/scratchpad/build/../assets/tn_logo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1069848"/>
            <a:ext cx="292608" cy="29260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705088" y="10515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marketing video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8321040" y="15544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</a:t>
            </a:r>
            <a:endParaRPr lang="en-US" sz="750" dirty="0"/>
          </a:p>
        </p:txBody>
      </p:sp>
      <p:sp>
        <p:nvSpPr>
          <p:cNvPr id="39" name="Text 31"/>
          <p:cNvSpPr txBox="1"/>
          <p:nvPr/>
        </p:nvSpPr>
        <p:spPr>
          <a:xfrm>
            <a:off x="8321040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00B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8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700" dirty="0"/>
          </a:p>
        </p:txBody>
      </p:sp>
      <p:sp>
        <p:nvSpPr>
          <p:cNvPr id="40" name="Text 32"/>
          <p:cNvSpPr txBox="1"/>
          <p:nvPr/>
        </p:nvSpPr>
        <p:spPr>
          <a:xfrm>
            <a:off x="8924544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E9EF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</a:t>
            </a:r>
            <a:endParaRPr lang="en-US" sz="700" dirty="0"/>
          </a:p>
        </p:txBody>
      </p:sp>
      <p:sp>
        <p:nvSpPr>
          <p:cNvPr id="41" name="Text 33"/>
          <p:cNvSpPr txBox="1"/>
          <p:nvPr/>
        </p:nvSpPr>
        <p:spPr>
          <a:xfrm>
            <a:off x="9528048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E9EF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</a:t>
            </a:r>
            <a:endParaRPr lang="en-US" sz="700" dirty="0"/>
          </a:p>
        </p:txBody>
      </p:sp>
      <p:sp>
        <p:nvSpPr>
          <p:cNvPr id="42" name="Text 34"/>
          <p:cNvSpPr txBox="1"/>
          <p:nvPr/>
        </p:nvSpPr>
        <p:spPr>
          <a:xfrm>
            <a:off x="10131552" y="1783080"/>
            <a:ext cx="548640" cy="274320"/>
          </a:xfrm>
          <a:prstGeom prst="roundRect">
            <a:avLst>
              <a:gd name="adj" fmla="val 33333"/>
            </a:avLst>
          </a:prstGeom>
          <a:solidFill>
            <a:srgbClr val="E9EF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Festive</a:t>
            </a:r>
            <a:endParaRPr lang="en-US" sz="700" dirty="0"/>
          </a:p>
        </p:txBody>
      </p:sp>
      <p:sp>
        <p:nvSpPr>
          <p:cNvPr id="43" name="Text 35"/>
          <p:cNvSpPr txBox="1"/>
          <p:nvPr/>
        </p:nvSpPr>
        <p:spPr>
          <a:xfrm>
            <a:off x="8321040" y="22402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750" dirty="0"/>
          </a:p>
        </p:txBody>
      </p:sp>
      <p:sp>
        <p:nvSpPr>
          <p:cNvPr id="44" name="Text 36"/>
          <p:cNvSpPr txBox="1"/>
          <p:nvPr/>
        </p:nvSpPr>
        <p:spPr>
          <a:xfrm>
            <a:off x="8321040" y="2459736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00BFEA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Nasi Lemak</a:t>
            </a:r>
            <a:endParaRPr lang="en-US" sz="950" dirty="0"/>
          </a:p>
        </p:txBody>
      </p:sp>
      <p:sp>
        <p:nvSpPr>
          <p:cNvPr id="45" name="Text 37"/>
          <p:cNvSpPr txBox="1"/>
          <p:nvPr/>
        </p:nvSpPr>
        <p:spPr>
          <a:xfrm>
            <a:off x="8321040" y="2898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offer</a:t>
            </a:r>
            <a:endParaRPr lang="en-US" sz="750" dirty="0"/>
          </a:p>
        </p:txBody>
      </p:sp>
      <p:sp>
        <p:nvSpPr>
          <p:cNvPr id="46" name="Text 38"/>
          <p:cNvSpPr txBox="1"/>
          <p:nvPr/>
        </p:nvSpPr>
        <p:spPr>
          <a:xfrm>
            <a:off x="8321040" y="3118104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CE5EE"/>
            </a:solidFill>
          </a:ln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S$6.8 · New this week</a:t>
            </a:r>
            <a:endParaRPr lang="en-US" sz="950" dirty="0"/>
          </a:p>
        </p:txBody>
      </p:sp>
      <p:sp>
        <p:nvSpPr>
          <p:cNvPr id="47" name="Text 39"/>
          <p:cNvSpPr txBox="1"/>
          <p:nvPr/>
        </p:nvSpPr>
        <p:spPr>
          <a:xfrm>
            <a:off x="8321040" y="35661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Storefront photo (optional)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8321040" y="379476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EEF7FB"/>
          </a:solidFill>
          <a:ln w="9525">
            <a:solidFill>
              <a:srgbClr val="A9DDF0"/>
            </a:solidFill>
            <a:prstDash val="dash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312" y="3931920"/>
            <a:ext cx="310896" cy="310896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321040" y="4270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8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photo uploaded</a:t>
            </a:r>
            <a:endParaRPr lang="en-US" sz="800" dirty="0"/>
          </a:p>
        </p:txBody>
      </p:sp>
      <p:sp>
        <p:nvSpPr>
          <p:cNvPr id="51" name="Text 42"/>
          <p:cNvSpPr txBox="1"/>
          <p:nvPr/>
        </p:nvSpPr>
        <p:spPr>
          <a:xfrm>
            <a:off x="8321040" y="4983480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0F1E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 ·  ~3 min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10588752" y="4873752"/>
            <a:ext cx="182880" cy="182880"/>
          </a:xfrm>
          <a:prstGeom prst="ellipse">
            <a:avLst/>
          </a:prstGeom>
          <a:solidFill>
            <a:srgbClr val="00BF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8001000" y="621792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illustration</a:t>
            </a:r>
            <a:endParaRPr lang="en-US" sz="800" dirty="0"/>
          </a:p>
        </p:txBody>
      </p:sp>
      <p:pic>
        <p:nvPicPr>
          <p:cNvPr id="54" name="Image 7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people every AI tool leaves behind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largest, most underserved group of business owners.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0B3A55">
              <a:alpha val="80000"/>
            </a:srgbClr>
          </a:solidFill>
          <a:ln w="15875">
            <a:solidFill>
              <a:srgbClr val="00BF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251917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Businesses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SEGMENT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12724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Restaurant, beauty, retail and local-service owners: they need customers, have no content skills, and watch every dollar.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79392" y="210312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53712" y="23774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444" y="251917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85232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528523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BRANDS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4553712" y="312724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Property, insurance and other agents who win clients through their personal brand — but don't enjoy filming or editing.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010144" y="2103120"/>
            <a:ext cx="3566160" cy="2240280"/>
          </a:xfrm>
          <a:prstGeom prst="roundRect">
            <a:avLst>
              <a:gd name="adj" fmla="val 5714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84464" y="23774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6196" y="251917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015984" y="23591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015984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&amp; SIDE BUSINESSES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8284464" y="312724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entrepreneurs and part-timers running a small business on the side.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956048"/>
            <a:ext cx="6400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F&amp;B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280160" y="4956048"/>
            <a:ext cx="77724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2148840" y="4956048"/>
            <a:ext cx="73152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2971800" y="4956048"/>
            <a:ext cx="123444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services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297680" y="4956048"/>
            <a:ext cx="77724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5166360" y="4956048"/>
            <a:ext cx="118872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founders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662940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6629400" y="4956048"/>
            <a:ext cx="100584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launch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726680" y="4956048"/>
            <a:ext cx="91440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tour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732520" y="4956048"/>
            <a:ext cx="96012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9784080" y="4956048"/>
            <a:ext cx="86868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list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0744200" y="4956048"/>
            <a:ext cx="777240" cy="347472"/>
          </a:xfrm>
          <a:prstGeom prst="roundRect">
            <a:avLst>
              <a:gd name="adj" fmla="val 42105"/>
            </a:avLst>
          </a:prstGeom>
          <a:solidFill>
            <a:srgbClr val="00BFEA">
              <a:alpha val="15000"/>
            </a:srgbClr>
          </a:solidFill>
          <a:ln w="6350">
            <a:solidFill>
              <a:srgbClr val="00BFEA">
                <a:alpha val="6000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café owner in Singapore, a salon manager in Malaysia, a restaurateur in small-town China, a shopkeeper in Indonesia — they all face the same problem.</a:t>
            </a:r>
            <a:endParaRPr lang="en-US" sz="1150" dirty="0"/>
          </a:p>
        </p:txBody>
      </p:sp>
      <p:pic>
        <p:nvPicPr>
          <p:cNvPr id="39" name="Image 4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 ·  BRAND-SCALE OUTPUT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marketing videos for Xianyu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brand scale.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011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</a:t>
            </a:r>
            <a:endParaRPr lang="en-US" sz="10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marketing videos every month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06908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AIGC pipeline that powers ThinkNova also produces AI marketing videos for Xianyu. Campaign briefs, scripts, storyboards, generation, human QA and batch delivery are fully standardised — sustaining 1,000+ videos a month and proving the platform's brand-grade capacity and reliability.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69480" y="1097280"/>
            <a:ext cx="4370832" cy="4754880"/>
          </a:xfrm>
          <a:prstGeom prst="roundRect">
            <a:avLst>
              <a:gd name="adj" fmla="val 2929"/>
            </a:avLst>
          </a:prstGeom>
          <a:solidFill>
            <a:srgbClr val="12233D">
              <a:alpha val="75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589520" y="187452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252" y="20162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366760" y="18928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templates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8366760" y="22037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style guide, built into every video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589520" y="283464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252" y="297637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66760" y="2852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production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8366760" y="316382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output on a steady cadence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589520" y="379476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393649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6760" y="3813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QA &amp; review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366760" y="412394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video checked before delivery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589520" y="4754880"/>
            <a:ext cx="566928" cy="566928"/>
          </a:xfrm>
          <a:prstGeom prst="ellipse">
            <a:avLst/>
          </a:prstGeom>
          <a:solidFill>
            <a:srgbClr val="00BFEA">
              <a:alpha val="18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252" y="4896612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366760" y="4773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delivery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8366760" y="508406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timelines, consistently met</a:t>
            </a:r>
            <a:endParaRPr lang="en-US" sz="950" dirty="0"/>
          </a:p>
        </p:txBody>
      </p:sp>
      <p:pic>
        <p:nvPicPr>
          <p:cNvPr id="28" name="Image 5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7492"/>
            <a:ext cx="146304" cy="146304"/>
          </a:xfrm>
          <a:prstGeom prst="ellipse">
            <a:avLst/>
          </a:prstGeom>
          <a:solidFill>
            <a:srgbClr val="00BFEA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04672" y="4572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monthly subscription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Credits are consumed only by what you actually generate.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651760" cy="3200400"/>
          </a:xfrm>
          <a:prstGeom prst="roundRect">
            <a:avLst>
              <a:gd name="adj" fmla="val 4828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29.8</a:t>
            </a:r>
            <a:pPr indent="0" marL="0">
              <a:buNone/>
            </a:pPr>
            <a:r>
              <a:rPr lang="en-US" sz="12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06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out — new arrivals and everyday promotions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2103120"/>
            <a:ext cx="2651760" cy="3200400"/>
          </a:xfrm>
          <a:prstGeom prst="roundRect">
            <a:avLst>
              <a:gd name="adj" fmla="val 4828"/>
            </a:avLst>
          </a:prstGeom>
          <a:solidFill>
            <a:srgbClr val="0B3A55">
              <a:alpha val="80000"/>
            </a:srgbClr>
          </a:solidFill>
          <a:ln w="15875">
            <a:solidFill>
              <a:srgbClr val="00BF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404872"/>
            <a:ext cx="868680" cy="256032"/>
          </a:xfrm>
          <a:prstGeom prst="roundRect">
            <a:avLst>
              <a:gd name="adj" fmla="val 42857"/>
            </a:avLst>
          </a:prstGeom>
          <a:solidFill>
            <a:srgbClr val="00BF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65760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pPr indent="0" marL="0">
              <a:buNone/>
            </a:pPr>
            <a:r>
              <a:rPr lang="en-US" sz="4000" b="1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99.8</a:t>
            </a:r>
            <a:pPr indent="0" marL="0">
              <a:buNone/>
            </a:pPr>
            <a:r>
              <a:rPr lang="en-US" sz="12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4206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daily and win customers across scenarios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17920" y="2103120"/>
            <a:ext cx="2651760" cy="3200400"/>
          </a:xfrm>
          <a:prstGeom prst="roundRect">
            <a:avLst>
              <a:gd name="adj" fmla="val 4828"/>
            </a:avLst>
          </a:prstGeom>
          <a:solidFill>
            <a:srgbClr val="12233D">
              <a:alpha val="80000"/>
            </a:srgbClr>
          </a:solidFill>
          <a:ln w="9525">
            <a:solidFill>
              <a:srgbClr val="2238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</a:t>
            </a:r>
            <a:pPr indent="0" marL="0">
              <a:buNone/>
            </a:pPr>
            <a:r>
              <a:rPr lang="en-US" sz="120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/mo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4206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High-volume output for multiple stores or accounts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52560" y="2103120"/>
            <a:ext cx="2587752" cy="3200400"/>
          </a:xfrm>
          <a:prstGeom prst="roundRect">
            <a:avLst>
              <a:gd name="adj" fmla="val 4947"/>
            </a:avLst>
          </a:prstGeom>
          <a:solidFill>
            <a:srgbClr val="00BFEA"/>
          </a:solidFill>
          <a:ln w="9525">
            <a:solidFill>
              <a:srgbClr val="00BF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268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0" y="3154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0" y="42062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templates, batch production, human QA and dedicated delivery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23560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896112" y="5586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subscription for video and posters</a:t>
            </a:r>
            <a:endParaRPr lang="en-US" sz="11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5623560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626864" y="5586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light and heavy users alike</a:t>
            </a:r>
            <a:endParaRPr lang="en-US" sz="11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562356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57616" y="5586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1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and pay on mobile in minutes</a:t>
            </a:r>
            <a:endParaRPr lang="en-US" sz="1150" dirty="0"/>
          </a:p>
        </p:txBody>
      </p:sp>
      <p:pic>
        <p:nvPicPr>
          <p:cNvPr id="30" name="Image 4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36792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96112" y="6309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  ·  AI Marketing for Every Small Business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F6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tn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863840" y="1188720"/>
            <a:ext cx="4206240" cy="4169664"/>
          </a:xfrm>
          <a:prstGeom prst="rect">
            <a:avLst/>
          </a:prstGeom>
        </p:spPr>
      </p:pic>
      <p:pic>
        <p:nvPicPr>
          <p:cNvPr id="4" name="Image 2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685800" cy="676656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72768" y="731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</a:t>
            </a:r>
            <a:endParaRPr lang="en-US" sz="24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201168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marketing department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B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small business.</a:t>
            </a:r>
            <a:endParaRPr lang="en-US" sz="40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4114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benefits of AI shouldn't belong only to those who already know how to use it.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A9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 ·   Singapore   ·   Powered by Jimeng Network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ThinkNova — Product Overview</dc:title>
  <dc:subject>PptxGenJS Presentation</dc:subject>
  <dc:creator>ThinkNova</dc:creator>
  <cp:lastModifiedBy>ThinkNova</cp:lastModifiedBy>
  <cp:revision>1</cp:revision>
  <dcterms:created xsi:type="dcterms:W3CDTF">2026-10-02T19:04:59Z</dcterms:created>
  <dcterms:modified xsi:type="dcterms:W3CDTF">2026-10-02T19:04:59Z</dcterms:modified>
</cp:coreProperties>
</file>