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image" Target="../media/image-1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tn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user-website/1713201c-620c-5ce1-b439-a99d37e654e6/scratchpad/build/../assets/tn_logo_white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7863840" y="1188720"/>
            <a:ext cx="4206240" cy="4169664"/>
          </a:xfrm>
          <a:prstGeom prst="rect">
            <a:avLst/>
          </a:prstGeom>
        </p:spPr>
      </p:pic>
      <p:pic>
        <p:nvPicPr>
          <p:cNvPr id="4" name="Image 2" descr="/tmp/claude-0/-home-user-website/1713201c-620c-5ce1-b439-a99d37e654e6/scratchpad/build/../assets/tn_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85800"/>
            <a:ext cx="685800" cy="676656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72768" y="731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ThinkNova</a:t>
            </a:r>
            <a:endParaRPr lang="en-US" sz="2400" dirty="0"/>
          </a:p>
        </p:txBody>
      </p:sp>
      <p:sp>
        <p:nvSpPr>
          <p:cNvPr id="6" name="Text 1"/>
          <p:cNvSpPr txBox="1"/>
          <p:nvPr/>
        </p:nvSpPr>
        <p:spPr>
          <a:xfrm>
            <a:off x="731520" y="2057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OVERVIEW  2026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731520" y="2423160"/>
            <a:ext cx="7772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打破技术门槛，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落到每一个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00BF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普通经营者手里</a:t>
            </a:r>
            <a:endParaRPr lang="en-US" sz="5000" dirty="0"/>
          </a:p>
        </p:txBody>
      </p:sp>
      <p:sp>
        <p:nvSpPr>
          <p:cNvPr id="8" name="Text 3"/>
          <p:cNvSpPr txBox="1"/>
          <p:nvPr/>
        </p:nvSpPr>
        <p:spPr>
          <a:xfrm>
            <a:off x="731520" y="4983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9F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marketing department for every small business.</a:t>
            </a:r>
            <a:endParaRPr lang="en-US" sz="1900" dirty="0"/>
          </a:p>
        </p:txBody>
      </p:sp>
      <p:sp>
        <p:nvSpPr>
          <p:cNvPr id="9" name="Text 4"/>
          <p:cNvSpPr txBox="1"/>
          <p:nvPr/>
        </p:nvSpPr>
        <p:spPr>
          <a:xfrm>
            <a:off x="731520" y="5577840"/>
            <a:ext cx="1444752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秒营销短视频</a:t>
            </a:r>
            <a:endParaRPr lang="en-US" sz="1050" dirty="0"/>
          </a:p>
        </p:txBody>
      </p:sp>
      <p:sp>
        <p:nvSpPr>
          <p:cNvPr id="10" name="Text 5"/>
          <p:cNvSpPr txBox="1"/>
          <p:nvPr/>
        </p:nvSpPr>
        <p:spPr>
          <a:xfrm>
            <a:off x="2304288" y="5577840"/>
            <a:ext cx="1444752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营销海报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3877056" y="5577840"/>
            <a:ext cx="1444752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种输出语言</a:t>
            </a:r>
            <a:endParaRPr lang="en-US" sz="1050" dirty="0"/>
          </a:p>
        </p:txBody>
      </p:sp>
      <p:sp>
        <p:nvSpPr>
          <p:cNvPr id="12" name="Text 7"/>
          <p:cNvSpPr txBox="1"/>
          <p:nvPr/>
        </p:nvSpPr>
        <p:spPr>
          <a:xfrm>
            <a:off x="5449824" y="5577840"/>
            <a:ext cx="1444752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3 分钟出片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  ·  Powered by Jimeng Network 绩盟网络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tn_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7492"/>
            <a:ext cx="146304" cy="146304"/>
          </a:xfrm>
          <a:prstGeom prst="ellipse">
            <a:avLst/>
          </a:prstGeom>
          <a:solidFill>
            <a:srgbClr val="00BFEA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04672" y="45720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8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没有抹平差距，正在拉大差距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was supposed to level the field. For small businesses, it's widening the gap.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74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00BF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0604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0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老板们都知道要发短视频、要做海报——但不会拍、不会剪、不会写，请人做一条要几百块。内容成本，是压在小经营者线上化路上的死循环。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8463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know they need short videos and posters — but they can't shoot, edit or write, and outsourcing costs hundreds per video.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0" y="1920240"/>
            <a:ext cx="6611112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9525">
            <a:solidFill>
              <a:srgbClr val="DC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03520" y="2212848"/>
            <a:ext cx="676656" cy="676656"/>
          </a:xfrm>
          <a:prstGeom prst="ellipse">
            <a:avLst/>
          </a:prstGeom>
          <a:solidFill>
            <a:srgbClr val="E3F7F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684" y="2382012"/>
            <a:ext cx="338328" cy="33832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21792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不会做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621792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make it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7863840" y="2103120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拍摄、剪辑、文案是三种专业技能，店主一样都不具备，学习成本远超可投入的时间。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029200" y="3337560"/>
            <a:ext cx="6611112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9525">
            <a:solidFill>
              <a:srgbClr val="DC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03520" y="3630168"/>
            <a:ext cx="676656" cy="676656"/>
          </a:xfrm>
          <a:prstGeom prst="ellipse">
            <a:avLst/>
          </a:prstGeom>
          <a:solidFill>
            <a:srgbClr val="E3F7F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684" y="3799332"/>
            <a:ext cx="338328" cy="33832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17920" y="3566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请不起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4023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afford it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7863840" y="3520440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外包一条短视频动辄数百新币，日更内容的开销远超小店的营销预算。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029200" y="4754880"/>
            <a:ext cx="6611112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9525">
            <a:solidFill>
              <a:srgbClr val="DC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303520" y="5047488"/>
            <a:ext cx="676656" cy="676656"/>
          </a:xfrm>
          <a:prstGeom prst="ellipse">
            <a:avLst/>
          </a:prstGeom>
          <a:solidFill>
            <a:srgbClr val="E3F7F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684" y="5216652"/>
            <a:ext cx="338328" cy="33832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217920" y="4983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用不上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6217920" y="5440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use the tools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7863840" y="4937760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 AI 视频工具要会写提示词、懂分镜、会剪辑——对店主来说，是又一道门槛。</a:t>
            </a:r>
            <a:endParaRPr lang="en-US" sz="1200" dirty="0"/>
          </a:p>
        </p:txBody>
      </p:sp>
      <p:pic>
        <p:nvPicPr>
          <p:cNvPr id="28" name="Image 4" descr="/tmp/claude-0/-home-user-website/1713201c-620c-5ce1-b439-a99d37e654e6/scratchpad/build/../assets/tn_logo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36792"/>
            <a:ext cx="246888" cy="24688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96112" y="6309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ThinkNova  ·  AI Marketing for Every Small Business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tn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7492"/>
            <a:ext cx="146304" cy="146304"/>
          </a:xfrm>
          <a:prstGeom prst="ellipse">
            <a:avLst/>
          </a:prstGeom>
          <a:solidFill>
            <a:srgbClr val="00BFEA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04672" y="4572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填几个空，拿一条成片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 a few blanks. Get a ready-to-post video.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116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门槛不该由用户跨过去，该由我们拆掉。模型调度、提示词工程、工作流封装全部由平台来扛——用户侧零学习成本。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3200400" cy="1417320"/>
          </a:xfrm>
          <a:prstGeom prst="roundRect">
            <a:avLst>
              <a:gd name="adj" fmla="val 9032"/>
            </a:avLst>
          </a:prstGeom>
          <a:solidFill>
            <a:srgbClr val="12233D">
              <a:alpha val="80000"/>
            </a:srgbClr>
          </a:solidFill>
          <a:ln w="9525">
            <a:solidFill>
              <a:srgbClr val="22385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3246120"/>
            <a:ext cx="530352" cy="530352"/>
          </a:xfrm>
          <a:prstGeom prst="ellipse">
            <a:avLst/>
          </a:prstGeom>
          <a:solidFill>
            <a:srgbClr val="00BFEA">
              <a:alpha val="18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" y="3378708"/>
            <a:ext cx="265176" cy="26517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71800" y="32186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444752" y="323697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选场景  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444752" y="35295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scene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8862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B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新品上市、探店视角、促销活动、价目表、节日营销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886200" y="3017520"/>
            <a:ext cx="3200400" cy="1417320"/>
          </a:xfrm>
          <a:prstGeom prst="roundRect">
            <a:avLst>
              <a:gd name="adj" fmla="val 9032"/>
            </a:avLst>
          </a:prstGeom>
          <a:solidFill>
            <a:srgbClr val="12233D">
              <a:alpha val="80000"/>
            </a:srgbClr>
          </a:solidFill>
          <a:ln w="9525">
            <a:solidFill>
              <a:srgbClr val="22385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114800" y="3246120"/>
            <a:ext cx="530352" cy="530352"/>
          </a:xfrm>
          <a:prstGeom prst="ellipse">
            <a:avLst/>
          </a:prstGeom>
          <a:solidFill>
            <a:srgbClr val="00BFEA">
              <a:alpha val="18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388" y="3378708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09360" y="32186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782312" y="323697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填信息  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4782312" y="35295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two lines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4114800" y="38862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B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只需填商品名和价格活动，两句话的量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4590288"/>
            <a:ext cx="3200400" cy="1417320"/>
          </a:xfrm>
          <a:prstGeom prst="roundRect">
            <a:avLst>
              <a:gd name="adj" fmla="val 9032"/>
            </a:avLst>
          </a:prstGeom>
          <a:solidFill>
            <a:srgbClr val="12233D">
              <a:alpha val="80000"/>
            </a:srgbClr>
          </a:solidFill>
          <a:ln w="9525">
            <a:solidFill>
              <a:srgbClr val="22385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77240" y="4818888"/>
            <a:ext cx="530352" cy="530352"/>
          </a:xfrm>
          <a:prstGeom prst="ellipse">
            <a:avLst/>
          </a:prstGeom>
          <a:solidFill>
            <a:srgbClr val="00BFEA">
              <a:alpha val="18000"/>
            </a:srgbClr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" y="4951476"/>
            <a:ext cx="265176" cy="26517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2971800" y="47914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1444752" y="480974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传照片（可选）  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1444752" y="51023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 photo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777240" y="545896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B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上传门头照、商品照，成片还原真实招牌与外观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886200" y="4590288"/>
            <a:ext cx="3200400" cy="1417320"/>
          </a:xfrm>
          <a:prstGeom prst="roundRect">
            <a:avLst>
              <a:gd name="adj" fmla="val 9032"/>
            </a:avLst>
          </a:prstGeom>
          <a:solidFill>
            <a:srgbClr val="12233D">
              <a:alpha val="80000"/>
            </a:srgbClr>
          </a:solidFill>
          <a:ln w="9525">
            <a:solidFill>
              <a:srgbClr val="22385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114800" y="4818888"/>
            <a:ext cx="530352" cy="530352"/>
          </a:xfrm>
          <a:prstGeom prst="ellipse">
            <a:avLst/>
          </a:prstGeom>
          <a:solidFill>
            <a:srgbClr val="00BFEA">
              <a:alpha val="18000"/>
            </a:srgbClr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7388" y="4951476"/>
            <a:ext cx="265176" cy="265176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309360" y="47914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4782312" y="480974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点生成  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4782312" y="51023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4114800" y="545896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B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3 分钟出片，台词、配音、分镜、字幕全自动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7726680" y="777240"/>
            <a:ext cx="3566160" cy="5486400"/>
          </a:xfrm>
          <a:prstGeom prst="roundRect">
            <a:avLst>
              <a:gd name="adj" fmla="val 12821"/>
            </a:avLst>
          </a:prstGeom>
          <a:solidFill>
            <a:srgbClr val="00BFEA">
              <a:alpha val="12000"/>
            </a:srgbClr>
          </a:solidFill>
          <a:ln/>
        </p:spPr>
      </p:sp>
      <p:sp>
        <p:nvSpPr>
          <p:cNvPr id="37" name="Shape 30"/>
          <p:cNvSpPr/>
          <p:nvPr/>
        </p:nvSpPr>
        <p:spPr>
          <a:xfrm>
            <a:off x="8001000" y="502920"/>
            <a:ext cx="3017520" cy="5669280"/>
          </a:xfrm>
          <a:prstGeom prst="roundRect">
            <a:avLst>
              <a:gd name="adj" fmla="val 12727"/>
            </a:avLst>
          </a:prstGeom>
          <a:solidFill>
            <a:srgbClr val="050B16"/>
          </a:solidFill>
          <a:ln w="19050">
            <a:solidFill>
              <a:srgbClr val="2B4468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110728" y="612648"/>
            <a:ext cx="2798064" cy="5449824"/>
          </a:xfrm>
          <a:prstGeom prst="roundRect">
            <a:avLst>
              <a:gd name="adj" fmla="val 11111"/>
            </a:avLst>
          </a:prstGeom>
          <a:solidFill>
            <a:srgbClr val="F6F9FC"/>
          </a:solidFill>
          <a:ln/>
        </p:spPr>
      </p:sp>
      <p:sp>
        <p:nvSpPr>
          <p:cNvPr id="39" name="Shape 32"/>
          <p:cNvSpPr/>
          <p:nvPr/>
        </p:nvSpPr>
        <p:spPr>
          <a:xfrm>
            <a:off x="9098280" y="704088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050B16"/>
          </a:solidFill>
          <a:ln/>
        </p:spPr>
      </p:sp>
      <p:pic>
        <p:nvPicPr>
          <p:cNvPr id="40" name="Image 5" descr="/tmp/claude-0/-home-user-website/1713201c-620c-5ce1-b439-a99d37e654e6/scratchpad/build/../assets/tn_logo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1069848"/>
            <a:ext cx="292608" cy="292608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8705088" y="10515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新建营销视频</a:t>
            </a:r>
            <a:endParaRPr lang="en-US" sz="1100" dirty="0"/>
          </a:p>
        </p:txBody>
      </p:sp>
      <p:sp>
        <p:nvSpPr>
          <p:cNvPr id="42" name="Text 34"/>
          <p:cNvSpPr txBox="1"/>
          <p:nvPr/>
        </p:nvSpPr>
        <p:spPr>
          <a:xfrm>
            <a:off x="8321040" y="15544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经营场景</a:t>
            </a:r>
            <a:endParaRPr lang="en-US" sz="750" dirty="0"/>
          </a:p>
        </p:txBody>
      </p:sp>
      <p:sp>
        <p:nvSpPr>
          <p:cNvPr id="43" name="Text 35"/>
          <p:cNvSpPr txBox="1"/>
          <p:nvPr/>
        </p:nvSpPr>
        <p:spPr>
          <a:xfrm>
            <a:off x="8321040" y="1783080"/>
            <a:ext cx="548640" cy="274320"/>
          </a:xfrm>
          <a:prstGeom prst="roundRect">
            <a:avLst>
              <a:gd name="adj" fmla="val 33333"/>
            </a:avLst>
          </a:prstGeom>
          <a:solidFill>
            <a:srgbClr val="00BF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新品上市</a:t>
            </a:r>
            <a:endParaRPr lang="en-US" sz="750" dirty="0"/>
          </a:p>
        </p:txBody>
      </p:sp>
      <p:sp>
        <p:nvSpPr>
          <p:cNvPr id="44" name="Text 36"/>
          <p:cNvSpPr txBox="1"/>
          <p:nvPr/>
        </p:nvSpPr>
        <p:spPr>
          <a:xfrm>
            <a:off x="8924544" y="1783080"/>
            <a:ext cx="548640" cy="274320"/>
          </a:xfrm>
          <a:prstGeom prst="roundRect">
            <a:avLst>
              <a:gd name="adj" fmla="val 33333"/>
            </a:avLst>
          </a:prstGeom>
          <a:solidFill>
            <a:srgbClr val="E9EF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探店</a:t>
            </a:r>
            <a:endParaRPr lang="en-US" sz="750" dirty="0"/>
          </a:p>
        </p:txBody>
      </p:sp>
      <p:sp>
        <p:nvSpPr>
          <p:cNvPr id="45" name="Text 37"/>
          <p:cNvSpPr txBox="1"/>
          <p:nvPr/>
        </p:nvSpPr>
        <p:spPr>
          <a:xfrm>
            <a:off x="9528048" y="1783080"/>
            <a:ext cx="548640" cy="274320"/>
          </a:xfrm>
          <a:prstGeom prst="roundRect">
            <a:avLst>
              <a:gd name="adj" fmla="val 33333"/>
            </a:avLst>
          </a:prstGeom>
          <a:solidFill>
            <a:srgbClr val="E9EF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促销</a:t>
            </a:r>
            <a:endParaRPr lang="en-US" sz="750" dirty="0"/>
          </a:p>
        </p:txBody>
      </p:sp>
      <p:sp>
        <p:nvSpPr>
          <p:cNvPr id="46" name="Text 38"/>
          <p:cNvSpPr txBox="1"/>
          <p:nvPr/>
        </p:nvSpPr>
        <p:spPr>
          <a:xfrm>
            <a:off x="10131552" y="1783080"/>
            <a:ext cx="548640" cy="274320"/>
          </a:xfrm>
          <a:prstGeom prst="roundRect">
            <a:avLst>
              <a:gd name="adj" fmla="val 33333"/>
            </a:avLst>
          </a:prstGeom>
          <a:solidFill>
            <a:srgbClr val="E9EF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节日</a:t>
            </a:r>
            <a:endParaRPr lang="en-US" sz="750" dirty="0"/>
          </a:p>
        </p:txBody>
      </p:sp>
      <p:sp>
        <p:nvSpPr>
          <p:cNvPr id="47" name="Text 39"/>
          <p:cNvSpPr txBox="1"/>
          <p:nvPr/>
        </p:nvSpPr>
        <p:spPr>
          <a:xfrm>
            <a:off x="8321040" y="22402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商品名称</a:t>
            </a:r>
            <a:endParaRPr lang="en-US" sz="750" dirty="0"/>
          </a:p>
        </p:txBody>
      </p:sp>
      <p:sp>
        <p:nvSpPr>
          <p:cNvPr id="48" name="Text 40"/>
          <p:cNvSpPr txBox="1"/>
          <p:nvPr/>
        </p:nvSpPr>
        <p:spPr>
          <a:xfrm>
            <a:off x="8321040" y="2459736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00BFEA"/>
            </a:solidFill>
          </a:ln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招牌椰浆饭</a:t>
            </a:r>
            <a:endParaRPr lang="en-US" sz="950" dirty="0"/>
          </a:p>
        </p:txBody>
      </p:sp>
      <p:sp>
        <p:nvSpPr>
          <p:cNvPr id="49" name="Text 41"/>
          <p:cNvSpPr txBox="1"/>
          <p:nvPr/>
        </p:nvSpPr>
        <p:spPr>
          <a:xfrm>
            <a:off x="8321040" y="2898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 / 活动</a:t>
            </a:r>
            <a:endParaRPr lang="en-US" sz="750" dirty="0"/>
          </a:p>
        </p:txBody>
      </p:sp>
      <p:sp>
        <p:nvSpPr>
          <p:cNvPr id="50" name="Text 42"/>
          <p:cNvSpPr txBox="1"/>
          <p:nvPr/>
        </p:nvSpPr>
        <p:spPr>
          <a:xfrm>
            <a:off x="8321040" y="3118104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E5EE"/>
            </a:solidFill>
          </a:ln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S$6.8 · 本周新品尝鲜</a:t>
            </a:r>
            <a:endParaRPr lang="en-US" sz="950" dirty="0"/>
          </a:p>
        </p:txBody>
      </p:sp>
      <p:sp>
        <p:nvSpPr>
          <p:cNvPr id="51" name="Text 43"/>
          <p:cNvSpPr txBox="1"/>
          <p:nvPr/>
        </p:nvSpPr>
        <p:spPr>
          <a:xfrm>
            <a:off x="8321040" y="35661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门头照（可选）</a:t>
            </a:r>
            <a:endParaRPr lang="en-US" sz="750" dirty="0"/>
          </a:p>
        </p:txBody>
      </p:sp>
      <p:sp>
        <p:nvSpPr>
          <p:cNvPr id="52" name="Shape 44"/>
          <p:cNvSpPr/>
          <p:nvPr/>
        </p:nvSpPr>
        <p:spPr>
          <a:xfrm>
            <a:off x="8321040" y="379476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EEF7FB"/>
          </a:solidFill>
          <a:ln w="9525">
            <a:solidFill>
              <a:srgbClr val="A9DDF0"/>
            </a:solidFill>
            <a:prstDash val="dash"/>
          </a:ln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4312" y="3931920"/>
            <a:ext cx="310896" cy="310896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8321040" y="4270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89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已上传 1 张</a:t>
            </a:r>
            <a:endParaRPr lang="en-US" sz="800" dirty="0"/>
          </a:p>
        </p:txBody>
      </p:sp>
      <p:sp>
        <p:nvSpPr>
          <p:cNvPr id="55" name="Text 46"/>
          <p:cNvSpPr txBox="1"/>
          <p:nvPr/>
        </p:nvSpPr>
        <p:spPr>
          <a:xfrm>
            <a:off x="8321040" y="4983480"/>
            <a:ext cx="2377440" cy="457200"/>
          </a:xfrm>
          <a:prstGeom prst="roundRect">
            <a:avLst>
              <a:gd name="adj" fmla="val 40000"/>
            </a:avLst>
          </a:prstGeom>
          <a:solidFill>
            <a:srgbClr val="0F1E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生成视频  ·  约 3 分钟</a:t>
            </a:r>
            <a:endParaRPr lang="en-US" sz="1050" dirty="0"/>
          </a:p>
        </p:txBody>
      </p:sp>
      <p:sp>
        <p:nvSpPr>
          <p:cNvPr id="56" name="Shape 47"/>
          <p:cNvSpPr/>
          <p:nvPr/>
        </p:nvSpPr>
        <p:spPr>
          <a:xfrm>
            <a:off x="10588752" y="4873752"/>
            <a:ext cx="182880" cy="182880"/>
          </a:xfrm>
          <a:prstGeom prst="ellipse">
            <a:avLst/>
          </a:prstGeom>
          <a:solidFill>
            <a:srgbClr val="00BFE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48"/>
          <p:cNvSpPr txBox="1"/>
          <p:nvPr/>
        </p:nvSpPr>
        <p:spPr>
          <a:xfrm>
            <a:off x="8001000" y="62179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F6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产品界面示意 UI illustration</a:t>
            </a:r>
            <a:endParaRPr lang="en-US" sz="800" dirty="0"/>
          </a:p>
        </p:txBody>
      </p:sp>
      <p:pic>
        <p:nvPicPr>
          <p:cNvPr id="58" name="Image 7" descr="/tmp/claude-0/-home-user-website/1713201c-620c-5ce1-b439-a99d37e654e6/scratchpad/build/../assets/tn_logo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6336792"/>
            <a:ext cx="246888" cy="246888"/>
          </a:xfrm>
          <a:prstGeom prst="rect">
            <a:avLst/>
          </a:prstGeom>
        </p:spPr>
      </p:pic>
      <p:sp>
        <p:nvSpPr>
          <p:cNvPr id="59" name="Text 49"/>
          <p:cNvSpPr txBox="1"/>
          <p:nvPr/>
        </p:nvSpPr>
        <p:spPr>
          <a:xfrm>
            <a:off x="896112" y="6309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6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ThinkNova  ·  AI Marketing for Every Small Business</a:t>
            </a:r>
            <a:endParaRPr lang="en-US" sz="900" dirty="0"/>
          </a:p>
        </p:txBody>
      </p:sp>
      <p:sp>
        <p:nvSpPr>
          <p:cNvPr id="60" name="Text 50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6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tn_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7492"/>
            <a:ext cx="146304" cy="146304"/>
          </a:xfrm>
          <a:prstGeom prst="ellipse">
            <a:avLst/>
          </a:prstGeom>
          <a:solidFill>
            <a:srgbClr val="00BFEA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04672" y="45720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8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全自动内容管线：专业判断全部沉淀在平台里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professional decision lives inside the platform — not in a prompt the user has to write.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2011680" cy="3108960"/>
          </a:xfrm>
          <a:prstGeom prst="roundRect">
            <a:avLst>
              <a:gd name="adj" fmla="val 6364"/>
            </a:avLst>
          </a:prstGeom>
          <a:solidFill>
            <a:srgbClr val="0F1E33"/>
          </a:solidFill>
          <a:ln w="9525">
            <a:solidFill>
              <a:srgbClr val="0F1E33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" y="2377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97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用户只需填两句话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47472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1D335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88620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1D335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商品名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29768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1D335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价格活动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70916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1D335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门头照（可选）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880360" y="2194560"/>
            <a:ext cx="1719072" cy="3108960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9525">
            <a:solidFill>
              <a:srgbClr val="DC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08960" y="2423160"/>
            <a:ext cx="566928" cy="566928"/>
          </a:xfrm>
          <a:prstGeom prst="ellipse">
            <a:avLst/>
          </a:prstGeom>
          <a:solidFill>
            <a:srgbClr val="E3F7FD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692" y="2564892"/>
            <a:ext cx="283464" cy="28346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10896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编剧层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3108960" y="3474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8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3108960" y="3794760"/>
            <a:ext cx="1325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结合行业模板与场景规则，扩写为台词与分镜脚本，精确控制字数与语速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754880" y="2194560"/>
            <a:ext cx="1719072" cy="3108960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9525">
            <a:solidFill>
              <a:srgbClr val="DC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983480" y="2423160"/>
            <a:ext cx="566928" cy="566928"/>
          </a:xfrm>
          <a:prstGeom prst="ellipse">
            <a:avLst/>
          </a:prstGeom>
          <a:solidFill>
            <a:srgbClr val="E3F7FD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212" y="2564892"/>
            <a:ext cx="283464" cy="28346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98348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分镜生成层</a:t>
            </a:r>
            <a:endParaRPr lang="en-US" sz="1350" dirty="0"/>
          </a:p>
        </p:txBody>
      </p:sp>
      <p:sp>
        <p:nvSpPr>
          <p:cNvPr id="24" name="Text 19"/>
          <p:cNvSpPr txBox="1"/>
          <p:nvPr/>
        </p:nvSpPr>
        <p:spPr>
          <a:xfrm>
            <a:off x="4983480" y="3474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8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Storyboard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4983480" y="3794760"/>
            <a:ext cx="1325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生成分镜画面；参考图在此介入，锁定门头招牌与商品外观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629400" y="2194560"/>
            <a:ext cx="1719072" cy="3108960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9525">
            <a:solidFill>
              <a:srgbClr val="DC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858000" y="2423160"/>
            <a:ext cx="566928" cy="566928"/>
          </a:xfrm>
          <a:prstGeom prst="ellipse">
            <a:avLst/>
          </a:prstGeom>
          <a:solidFill>
            <a:srgbClr val="E3F7FD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9732" y="2564892"/>
            <a:ext cx="283464" cy="28346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85800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成片生成层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6858000" y="3474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8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6858000" y="3794760"/>
            <a:ext cx="1325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图生视频模型完成运镜、动作与配音，输出成片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8503920" y="2194560"/>
            <a:ext cx="1719072" cy="3108960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9525">
            <a:solidFill>
              <a:srgbClr val="DC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732520" y="2423160"/>
            <a:ext cx="566928" cy="566928"/>
          </a:xfrm>
          <a:prstGeom prst="ellipse">
            <a:avLst/>
          </a:prstGeom>
          <a:solidFill>
            <a:srgbClr val="E3F7FD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4252" y="2564892"/>
            <a:ext cx="283464" cy="283464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873252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交付层</a:t>
            </a:r>
            <a:endParaRPr lang="en-US" sz="1350" dirty="0"/>
          </a:p>
        </p:txBody>
      </p:sp>
      <p:sp>
        <p:nvSpPr>
          <p:cNvPr id="36" name="Text 29"/>
          <p:cNvSpPr txBox="1"/>
          <p:nvPr/>
        </p:nvSpPr>
        <p:spPr>
          <a:xfrm>
            <a:off x="8732520" y="3474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8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8732520" y="3794760"/>
            <a:ext cx="1325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自动配字幕、按平台规格出片、扫码发布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2642616" y="3685032"/>
            <a:ext cx="146304" cy="146304"/>
          </a:xfrm>
          <a:prstGeom prst="ellipse">
            <a:avLst/>
          </a:prstGeom>
          <a:solidFill>
            <a:srgbClr val="00BFE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4517136" y="3685032"/>
            <a:ext cx="146304" cy="146304"/>
          </a:xfrm>
          <a:prstGeom prst="ellipse">
            <a:avLst/>
          </a:prstGeom>
          <a:solidFill>
            <a:srgbClr val="00BFE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6391656" y="3685032"/>
            <a:ext cx="146304" cy="146304"/>
          </a:xfrm>
          <a:prstGeom prst="ellipse">
            <a:avLst/>
          </a:prstGeom>
          <a:solidFill>
            <a:srgbClr val="00BFE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8266176" y="3685032"/>
            <a:ext cx="146304" cy="146304"/>
          </a:xfrm>
          <a:prstGeom prst="ellipse">
            <a:avLst/>
          </a:prstGeom>
          <a:solidFill>
            <a:srgbClr val="00BFE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10140696" y="3685032"/>
            <a:ext cx="146304" cy="146304"/>
          </a:xfrm>
          <a:prstGeom prst="ellipse">
            <a:avLst/>
          </a:prstGeom>
          <a:solidFill>
            <a:srgbClr val="00BFE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10378440" y="2194560"/>
            <a:ext cx="1261872" cy="3108960"/>
          </a:xfrm>
          <a:prstGeom prst="roundRect">
            <a:avLst>
              <a:gd name="adj" fmla="val 10145"/>
            </a:avLst>
          </a:prstGeom>
          <a:solidFill>
            <a:srgbClr val="00BFEA"/>
          </a:solidFill>
          <a:ln w="9525">
            <a:solidFill>
              <a:srgbClr val="00BFEA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44" name="Text 37"/>
          <p:cNvSpPr txBox="1"/>
          <p:nvPr/>
        </p:nvSpPr>
        <p:spPr>
          <a:xfrm>
            <a:off x="10515600" y="2377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10515600" y="28346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15s</a:t>
            </a:r>
            <a:endParaRPr lang="en-US" sz="3200" dirty="0"/>
          </a:p>
        </p:txBody>
      </p:sp>
      <p:sp>
        <p:nvSpPr>
          <p:cNvPr id="46" name="Text 39"/>
          <p:cNvSpPr txBox="1"/>
          <p:nvPr/>
        </p:nvSpPr>
        <p:spPr>
          <a:xfrm>
            <a:off x="10515600" y="3520440"/>
            <a:ext cx="1005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可直接发布的成片</a:t>
            </a:r>
            <a:endParaRPr lang="en-US" sz="1100" dirty="0"/>
          </a:p>
        </p:txBody>
      </p:sp>
      <p:sp>
        <p:nvSpPr>
          <p:cNvPr id="47" name="Text 40"/>
          <p:cNvSpPr txBox="1"/>
          <p:nvPr/>
        </p:nvSpPr>
        <p:spPr>
          <a:xfrm>
            <a:off x="548640" y="55321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我们与其他 AI 视频工具最根本的区别：写什么、怎么分镜、镜头怎么走、节奏怎么控，都被沉淀成平台内部的规则与模板。</a:t>
            </a:r>
            <a:endParaRPr lang="en-US" sz="1200" dirty="0"/>
          </a:p>
        </p:txBody>
      </p:sp>
      <p:pic>
        <p:nvPicPr>
          <p:cNvPr id="48" name="Image 5" descr="/tmp/claude-0/-home-user-website/1713201c-620c-5ce1-b439-a99d37e654e6/scratchpad/build/../assets/tn_logo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336792"/>
            <a:ext cx="246888" cy="246888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896112" y="6309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ThinkNova  ·  AI Marketing for Every Small Business</a:t>
            </a:r>
            <a:endParaRPr lang="en-US" sz="900" dirty="0"/>
          </a:p>
        </p:txBody>
      </p:sp>
      <p:sp>
        <p:nvSpPr>
          <p:cNvPr id="50" name="Text 42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tn_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7492"/>
            <a:ext cx="146304" cy="146304"/>
          </a:xfrm>
          <a:prstGeom prst="ellipse">
            <a:avLst/>
          </a:prstGeom>
          <a:solidFill>
            <a:srgbClr val="00BFEA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04672" y="45720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8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已上线，已在真实商家跑通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today, proven with real merchants.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356616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DC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377440"/>
            <a:ext cx="585216" cy="585216"/>
          </a:xfrm>
          <a:prstGeom prst="ellipse">
            <a:avLst/>
          </a:prstGeom>
          <a:solidFill>
            <a:srgbClr val="E3F7F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523744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双产品线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554480" y="2697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8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+ Poster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秒营销短视频与营销海报，共享一套订阅与积分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279392" y="2103120"/>
            <a:ext cx="356616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DC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53712" y="2377440"/>
            <a:ext cx="585216" cy="585216"/>
          </a:xfrm>
          <a:prstGeom prst="ellipse">
            <a:avLst/>
          </a:prstGeom>
          <a:solidFill>
            <a:srgbClr val="E3F7F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2523744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85232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行业场景库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5285232" y="2697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8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templates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4553712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餐饮、美业、零售、服务等行业化模板，覆盖主流经营场景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010144" y="2103120"/>
            <a:ext cx="356616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DC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84464" y="2377440"/>
            <a:ext cx="585216" cy="585216"/>
          </a:xfrm>
          <a:prstGeom prst="ellipse">
            <a:avLst/>
          </a:prstGeom>
          <a:solidFill>
            <a:srgbClr val="E3F7F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768" y="2523744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15984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真实还原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015984" y="2697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8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True-to-store</a:t>
            </a:r>
            <a:endParaRPr lang="en-US" sz="950" dirty="0"/>
          </a:p>
        </p:txBody>
      </p:sp>
      <p:sp>
        <p:nvSpPr>
          <p:cNvPr id="24" name="Text 18"/>
          <p:cNvSpPr txBox="1"/>
          <p:nvPr/>
        </p:nvSpPr>
        <p:spPr>
          <a:xfrm>
            <a:off x="8284464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上传门头与商品照，成片做到招牌文字级还原与外观复刻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48640" y="4069080"/>
            <a:ext cx="356616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DC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22960" y="4343400"/>
            <a:ext cx="585216" cy="585216"/>
          </a:xfrm>
          <a:prstGeom prst="ellipse">
            <a:avLst/>
          </a:prstGeom>
          <a:solidFill>
            <a:srgbClr val="E3F7FD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489704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554480" y="4343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种输出语言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1554480" y="4663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8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languages</a:t>
            </a:r>
            <a:endParaRPr lang="en-US" sz="950" dirty="0"/>
          </a:p>
        </p:txBody>
      </p:sp>
      <p:sp>
        <p:nvSpPr>
          <p:cNvPr id="30" name="Text 23"/>
          <p:cNvSpPr txBox="1"/>
          <p:nvPr/>
        </p:nvSpPr>
        <p:spPr>
          <a:xfrm>
            <a:off x="822960" y="5074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中、英、日、韩、西、泰、越、马来、印尼语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4279392" y="4069080"/>
            <a:ext cx="356616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DC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553712" y="4343400"/>
            <a:ext cx="585216" cy="585216"/>
          </a:xfrm>
          <a:prstGeom prst="ellipse">
            <a:avLst/>
          </a:prstGeom>
          <a:solidFill>
            <a:srgbClr val="E3F7FD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016" y="4489704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5285232" y="4343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发布闭环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5285232" y="4663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8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publish</a:t>
            </a:r>
            <a:endParaRPr lang="en-US" sz="950" dirty="0"/>
          </a:p>
        </p:txBody>
      </p:sp>
      <p:sp>
        <p:nvSpPr>
          <p:cNvPr id="36" name="Text 28"/>
          <p:cNvSpPr txBox="1"/>
          <p:nvPr/>
        </p:nvSpPr>
        <p:spPr>
          <a:xfrm>
            <a:off x="4553712" y="5074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成片扫码即发布到主流社交平台，手机端全流程完成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8010144" y="4069080"/>
            <a:ext cx="356616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DC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8284464" y="4343400"/>
            <a:ext cx="585216" cy="585216"/>
          </a:xfrm>
          <a:prstGeom prst="ellipse">
            <a:avLst/>
          </a:prstGeom>
          <a:solidFill>
            <a:srgbClr val="E3F7FD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0768" y="4489704"/>
            <a:ext cx="292608" cy="29260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9015984" y="4343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多模型调度</a:t>
            </a:r>
            <a:endParaRPr lang="en-US" sz="1500" dirty="0"/>
          </a:p>
        </p:txBody>
      </p:sp>
      <p:sp>
        <p:nvSpPr>
          <p:cNvPr id="41" name="Text 32"/>
          <p:cNvSpPr txBox="1"/>
          <p:nvPr/>
        </p:nvSpPr>
        <p:spPr>
          <a:xfrm>
            <a:off x="9015984" y="4663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8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Multi-model routing</a:t>
            </a:r>
            <a:endParaRPr lang="en-US" sz="950" dirty="0"/>
          </a:p>
        </p:txBody>
      </p:sp>
      <p:sp>
        <p:nvSpPr>
          <p:cNvPr id="42" name="Text 33"/>
          <p:cNvSpPr txBox="1"/>
          <p:nvPr/>
        </p:nvSpPr>
        <p:spPr>
          <a:xfrm>
            <a:off x="8284464" y="5074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多家上游模型轮询调度，单一供应商故障或涨价不影响服务</a:t>
            </a:r>
            <a:endParaRPr lang="en-US" sz="1150" dirty="0"/>
          </a:p>
        </p:txBody>
      </p:sp>
      <p:pic>
        <p:nvPicPr>
          <p:cNvPr id="43" name="Image 7" descr="/tmp/claude-0/-home-user-website/1713201c-620c-5ce1-b439-a99d37e654e6/scratchpad/build/../assets/tn_logo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6336792"/>
            <a:ext cx="246888" cy="246888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896112" y="6309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ThinkNova  ·  AI Marketing for Every Small Business</a:t>
            </a:r>
            <a:endParaRPr lang="en-US" sz="900" dirty="0"/>
          </a:p>
        </p:txBody>
      </p:sp>
      <p:sp>
        <p:nvSpPr>
          <p:cNvPr id="45" name="Text 35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tn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7492"/>
            <a:ext cx="146304" cy="146304"/>
          </a:xfrm>
          <a:prstGeom prst="ellipse">
            <a:avLst/>
          </a:prstGeom>
          <a:solidFill>
            <a:srgbClr val="00BFEA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04672" y="45720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IT'S FOR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为最需要、却被所有工具挡在门外的人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people every other AI tool leaves behind.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3566160" cy="2240280"/>
          </a:xfrm>
          <a:prstGeom prst="roundRect">
            <a:avLst>
              <a:gd name="adj" fmla="val 5714"/>
            </a:avLst>
          </a:prstGeom>
          <a:solidFill>
            <a:srgbClr val="0B3A55">
              <a:alpha val="80000"/>
            </a:srgbClr>
          </a:solidFill>
          <a:ln w="15875">
            <a:solidFill>
              <a:srgbClr val="00BF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2377440"/>
            <a:ext cx="566928" cy="566928"/>
          </a:xfrm>
          <a:prstGeom prst="ellipse">
            <a:avLst/>
          </a:prstGeom>
          <a:solidFill>
            <a:srgbClr val="00BFEA">
              <a:alpha val="18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" y="2519172"/>
            <a:ext cx="283464" cy="2834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2359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 B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554480" y="2724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F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核心客群 · Small businesses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1546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B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餐饮、美业、零售、生活服务类实体门店经营者：有获客需求、无内容能力、预算敏感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279392" y="2103120"/>
            <a:ext cx="3566160" cy="2240280"/>
          </a:xfrm>
          <a:prstGeom prst="roundRect">
            <a:avLst>
              <a:gd name="adj" fmla="val 5714"/>
            </a:avLst>
          </a:prstGeom>
          <a:solidFill>
            <a:srgbClr val="12233D">
              <a:alpha val="80000"/>
            </a:srgbClr>
          </a:solidFill>
          <a:ln w="9525">
            <a:solidFill>
              <a:srgbClr val="22385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53712" y="2377440"/>
            <a:ext cx="566928" cy="566928"/>
          </a:xfrm>
          <a:prstGeom prst="ellipse">
            <a:avLst/>
          </a:prstGeom>
          <a:solidFill>
            <a:srgbClr val="00BFEA">
              <a:alpha val="18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444" y="2519172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85232" y="2359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 A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5285232" y="2724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F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4553712" y="31546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B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房产中介、保险与各类代理人：靠个人品牌获客，需要持续输出却不擅长出镜与制作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010144" y="2103120"/>
            <a:ext cx="3566160" cy="2240280"/>
          </a:xfrm>
          <a:prstGeom prst="roundRect">
            <a:avLst>
              <a:gd name="adj" fmla="val 5714"/>
            </a:avLst>
          </a:prstGeom>
          <a:solidFill>
            <a:srgbClr val="12233D">
              <a:alpha val="80000"/>
            </a:srgbClr>
          </a:solidFill>
          <a:ln w="9525">
            <a:solidFill>
              <a:srgbClr val="22385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84464" y="2377440"/>
            <a:ext cx="566928" cy="566928"/>
          </a:xfrm>
          <a:prstGeom prst="ellipse">
            <a:avLst/>
          </a:prstGeom>
          <a:solidFill>
            <a:srgbClr val="00BFEA">
              <a:alpha val="18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196" y="2519172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15984" y="2359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 C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9015984" y="2724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F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Individuals</a:t>
            </a:r>
            <a:endParaRPr lang="en-US" sz="950" dirty="0"/>
          </a:p>
        </p:txBody>
      </p:sp>
      <p:sp>
        <p:nvSpPr>
          <p:cNvPr id="24" name="Text 18"/>
          <p:cNvSpPr txBox="1"/>
          <p:nvPr/>
        </p:nvSpPr>
        <p:spPr>
          <a:xfrm>
            <a:off x="8284464" y="31546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B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个人与微创业者，包括利用业余时间做小生意的兼职经营者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覆盖行业  INDUSTRIES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4956048"/>
            <a:ext cx="914400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餐饮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1572768" y="4956048"/>
            <a:ext cx="914400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美业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2596896" y="4956048"/>
            <a:ext cx="914400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3621024" y="4956048"/>
            <a:ext cx="914400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生活服务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4645152" y="4956048"/>
            <a:ext cx="914400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中介代理</a:t>
            </a:r>
            <a:endParaRPr lang="en-US" sz="1050" dirty="0"/>
          </a:p>
        </p:txBody>
      </p:sp>
      <p:sp>
        <p:nvSpPr>
          <p:cNvPr id="31" name="Text 25"/>
          <p:cNvSpPr txBox="1"/>
          <p:nvPr/>
        </p:nvSpPr>
        <p:spPr>
          <a:xfrm>
            <a:off x="5669280" y="4956048"/>
            <a:ext cx="914400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个人创业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685800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主流场景  SCENARIOS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6858000" y="4956048"/>
            <a:ext cx="868680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新品上市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7818120" y="4956048"/>
            <a:ext cx="868680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探店视角</a:t>
            </a:r>
            <a:endParaRPr lang="en-US" sz="1050" dirty="0"/>
          </a:p>
        </p:txBody>
      </p:sp>
      <p:sp>
        <p:nvSpPr>
          <p:cNvPr id="35" name="Text 29"/>
          <p:cNvSpPr txBox="1"/>
          <p:nvPr/>
        </p:nvSpPr>
        <p:spPr>
          <a:xfrm>
            <a:off x="8778240" y="4956048"/>
            <a:ext cx="868680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促销活动</a:t>
            </a:r>
            <a:endParaRPr lang="en-US" sz="1050" dirty="0"/>
          </a:p>
        </p:txBody>
      </p:sp>
      <p:sp>
        <p:nvSpPr>
          <p:cNvPr id="36" name="Text 30"/>
          <p:cNvSpPr txBox="1"/>
          <p:nvPr/>
        </p:nvSpPr>
        <p:spPr>
          <a:xfrm>
            <a:off x="9738360" y="4956048"/>
            <a:ext cx="868680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价目表</a:t>
            </a:r>
            <a:endParaRPr lang="en-US" sz="1050" dirty="0"/>
          </a:p>
        </p:txBody>
      </p:sp>
      <p:sp>
        <p:nvSpPr>
          <p:cNvPr id="37" name="Text 31"/>
          <p:cNvSpPr txBox="1"/>
          <p:nvPr/>
        </p:nvSpPr>
        <p:spPr>
          <a:xfrm>
            <a:off x="10698480" y="4956048"/>
            <a:ext cx="868680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节日营销</a:t>
            </a:r>
            <a:endParaRPr lang="en-US" sz="1050" dirty="0"/>
          </a:p>
        </p:txBody>
      </p:sp>
      <p:sp>
        <p:nvSpPr>
          <p:cNvPr id="38" name="Text 32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新加坡的咖啡店主、马来西亚的美容院店长、中国县城的餐饮老板、印尼的小型零售商——面对的是同一个问题。</a:t>
            </a:r>
            <a:endParaRPr lang="en-US" sz="1150" dirty="0"/>
          </a:p>
        </p:txBody>
      </p:sp>
      <p:pic>
        <p:nvPicPr>
          <p:cNvPr id="39" name="Image 4" descr="/tmp/claude-0/-home-user-website/1713201c-620c-5ce1-b439-a99d37e654e6/scratchpad/build/../assets/tn_logo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36792"/>
            <a:ext cx="246888" cy="246888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896112" y="6309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6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ThinkNova  ·  AI Marketing for Every Small Business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6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tn_sec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7492"/>
            <a:ext cx="146304" cy="146304"/>
          </a:xfrm>
          <a:prstGeom prst="ellipse">
            <a:avLst/>
          </a:prstGeom>
          <a:solidFill>
            <a:srgbClr val="00BFEA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04672" y="4572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 ·  品牌级产能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闲鱼 AI 营销短视频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for brands: AI marketing videos for Xianyu.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116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1000+</a:t>
            </a:r>
            <a:endParaRPr lang="en-US" sz="110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520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 AI 营销短视频 / 月    videos per month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406908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ThinkNova 的同一套 AIGC 管线，也在为闲鱼持续生产 AI 营销短视频：营销选题、脚本、分镜、成片生成、人工质检与批量交付全流程标准化，稳定支撑每月 1000+ 条产出——验证了平台的品牌级产能与交付稳定性。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269480" y="1097280"/>
            <a:ext cx="4370832" cy="4754880"/>
          </a:xfrm>
          <a:prstGeom prst="roundRect">
            <a:avLst>
              <a:gd name="adj" fmla="val 2929"/>
            </a:avLst>
          </a:prstGeom>
          <a:solidFill>
            <a:srgbClr val="12233D">
              <a:alpha val="75000"/>
            </a:srgbClr>
          </a:solidFill>
          <a:ln w="9525">
            <a:solidFill>
              <a:srgbClr val="2238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8952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F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企业版能力  ENTERPRISE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589520" y="1874520"/>
            <a:ext cx="566928" cy="566928"/>
          </a:xfrm>
          <a:prstGeom prst="ellipse">
            <a:avLst/>
          </a:prstGeom>
          <a:solidFill>
            <a:srgbClr val="00BFEA">
              <a:alpha val="18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1252" y="201625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366760" y="189280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品牌专属模板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8366760" y="22037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templates &amp; style guide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589520" y="2834640"/>
            <a:ext cx="566928" cy="566928"/>
          </a:xfrm>
          <a:prstGeom prst="ellipse">
            <a:avLst/>
          </a:prstGeom>
          <a:solidFill>
            <a:srgbClr val="00BFEA">
              <a:alpha val="18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252" y="297637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66760" y="28529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批量规模化生产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8366760" y="316382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production at scale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589520" y="3794760"/>
            <a:ext cx="566928" cy="566928"/>
          </a:xfrm>
          <a:prstGeom prst="ellipse">
            <a:avLst/>
          </a:prstGeom>
          <a:solidFill>
            <a:srgbClr val="00BFEA">
              <a:alpha val="18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252" y="3936492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366760" y="38130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人工质检与审核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8366760" y="412394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QA &amp; review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7589520" y="4754880"/>
            <a:ext cx="566928" cy="566928"/>
          </a:xfrm>
          <a:prstGeom prst="ellipse">
            <a:avLst/>
          </a:prstGeom>
          <a:solidFill>
            <a:srgbClr val="00BFEA">
              <a:alpha val="18000"/>
            </a:srgbClr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1252" y="4896612"/>
            <a:ext cx="283464" cy="28346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366760" y="47731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稳定交付 SLA</a:t>
            </a:r>
            <a:endParaRPr lang="en-US" sz="1450" dirty="0"/>
          </a:p>
        </p:txBody>
      </p:sp>
      <p:sp>
        <p:nvSpPr>
          <p:cNvPr id="27" name="Text 20"/>
          <p:cNvSpPr txBox="1"/>
          <p:nvPr/>
        </p:nvSpPr>
        <p:spPr>
          <a:xfrm>
            <a:off x="8366760" y="508406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delivery cadence</a:t>
            </a:r>
            <a:endParaRPr lang="en-US" sz="950" dirty="0"/>
          </a:p>
        </p:txBody>
      </p:sp>
      <p:pic>
        <p:nvPicPr>
          <p:cNvPr id="28" name="Image 5" descr="/tmp/claude-0/-home-user-website/1713201c-620c-5ce1-b439-a99d37e654e6/scratchpad/build/../assets/tn_logo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336792"/>
            <a:ext cx="246888" cy="24688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96112" y="6309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6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ThinkNova  ·  AI Marketing for Every Small Business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6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tn_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7492"/>
            <a:ext cx="146304" cy="146304"/>
          </a:xfrm>
          <a:prstGeom prst="ellipse">
            <a:avLst/>
          </a:prstGeom>
          <a:solidFill>
            <a:srgbClr val="00BFEA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04672" y="45720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8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品类在爆发，供给却是空白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category is exploding — yet almost nothing serves zero-skill owners.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3566160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DC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2960" y="2377440"/>
            <a:ext cx="685800" cy="274320"/>
          </a:xfrm>
          <a:prstGeom prst="roundRect">
            <a:avLst>
              <a:gd name="adj" fmla="val 40000"/>
            </a:avLst>
          </a:prstGeom>
          <a:solidFill>
            <a:srgbClr val="00BF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全球生成式 AI 内容创作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80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US$801亿</a:t>
            </a:r>
            <a:endParaRPr lang="en-US" sz="3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794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 年预测 · 2026 年约 US$260 亿 · CAGR 32.5%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434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A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Grand View Research, 2025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279392" y="2103120"/>
            <a:ext cx="3566160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DC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553712" y="2377440"/>
            <a:ext cx="685800" cy="274320"/>
          </a:xfrm>
          <a:prstGeom prst="roundRect">
            <a:avLst>
              <a:gd name="adj" fmla="val 40000"/>
            </a:avLst>
          </a:prstGeom>
          <a:solidFill>
            <a:srgbClr val="00BF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376672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东南亚广告市场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53712" y="2880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US$639亿</a:t>
            </a:r>
            <a:endParaRPr lang="en-US" sz="3800" dirty="0"/>
          </a:p>
        </p:txBody>
      </p:sp>
      <p:sp>
        <p:nvSpPr>
          <p:cNvPr id="17" name="Text 14"/>
          <p:cNvSpPr txBox="1"/>
          <p:nvPr/>
        </p:nvSpPr>
        <p:spPr>
          <a:xfrm>
            <a:off x="4553712" y="3794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2031 年预测 · 2025 年 US$283.4 亿 · CAGR 14.5%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53712" y="4434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A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Mordor Intelligence, 2025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010144" y="2103120"/>
            <a:ext cx="3566160" cy="2743200"/>
          </a:xfrm>
          <a:prstGeom prst="roundRect">
            <a:avLst>
              <a:gd name="adj" fmla="val 4667"/>
            </a:avLst>
          </a:prstGeom>
          <a:solidFill>
            <a:srgbClr val="0F1E33"/>
          </a:solidFill>
          <a:ln w="9525">
            <a:solidFill>
              <a:srgbClr val="0F1E33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8284464" y="2377440"/>
            <a:ext cx="685800" cy="274320"/>
          </a:xfrm>
          <a:prstGeom prst="roundRect">
            <a:avLst>
              <a:gd name="adj" fmla="val 40000"/>
            </a:avLst>
          </a:prstGeom>
          <a:solidFill>
            <a:srgbClr val="00BF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07424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新加坡目标实体行业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284464" y="2880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BF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6.8万家</a:t>
            </a:r>
            <a:endParaRPr lang="en-US" sz="3800" dirty="0"/>
          </a:p>
        </p:txBody>
      </p:sp>
      <p:sp>
        <p:nvSpPr>
          <p:cNvPr id="23" name="Text 20"/>
          <p:cNvSpPr txBox="1"/>
          <p:nvPr/>
        </p:nvSpPr>
        <p:spPr>
          <a:xfrm>
            <a:off x="8284464" y="3794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 37,154 · 餐饮 19,600 · 美业 11,241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284464" y="4434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新加坡统计局, 2024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48640" y="5074920"/>
            <a:ext cx="11091672" cy="960120"/>
          </a:xfrm>
          <a:prstGeom prst="roundRect">
            <a:avLst>
              <a:gd name="adj" fmla="val 13333"/>
            </a:avLst>
          </a:prstGeom>
          <a:solidFill>
            <a:srgbClr val="E3F7FD"/>
          </a:solidFill>
          <a:ln w="9525">
            <a:solidFill>
              <a:srgbClr val="BDEBF8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822960" y="51206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8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14.5%</a:t>
            </a:r>
            <a:endParaRPr lang="en-US" sz="3000" dirty="0"/>
          </a:p>
        </p:txBody>
      </p:sp>
      <p:sp>
        <p:nvSpPr>
          <p:cNvPr id="27" name="Text 24"/>
          <p:cNvSpPr txBox="1"/>
          <p:nvPr/>
        </p:nvSpPr>
        <p:spPr>
          <a:xfrm>
            <a:off x="2560320" y="512064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新加坡中小企业 AI 采用率 2024 年从 4.2% 跃升至 14.5%（IMDA《新加坡数字经济报告 2025》）——用户教育已由大环境完成，真正适配零基础经营者的产品仍然稀缺。</a:t>
            </a:r>
            <a:endParaRPr lang="en-US" sz="1200" dirty="0"/>
          </a:p>
        </p:txBody>
      </p:sp>
      <p:pic>
        <p:nvPicPr>
          <p:cNvPr id="28" name="Image 1" descr="/tmp/claude-0/-home-user-website/1713201c-620c-5ce1-b439-a99d37e654e6/scratchpad/build/../assets/tn_logo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246888" cy="246888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896112" y="6309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ThinkNova  ·  AI Marketing for Every Small Business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tn_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7492"/>
            <a:ext cx="146304" cy="146304"/>
          </a:xfrm>
          <a:prstGeom prst="ellipse">
            <a:avLst/>
          </a:prstGeom>
          <a:solidFill>
            <a:srgbClr val="00BFEA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04672" y="45720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8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EDGE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完整闭环，逐项核查 12 家中外对手无一占满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product that closes the full loop for zero-skill store owners.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9144000" cy="914400"/>
        </p:xfrm>
        <a:graphic>
          <a:graphicData uri="http://schemas.openxmlformats.org/drawingml/2006/table">
            <a:tbl>
              <a:tblPr/>
              <a:tblGrid>
                <a:gridCol w="4142232"/>
                <a:gridCol w="1737360"/>
                <a:gridCol w="1737360"/>
                <a:gridCol w="1737360"/>
                <a:gridCol w="17373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ThinkNova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Creatify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即梦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引力AI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E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分镜图生成前先审（烧算力前把关）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89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B8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B8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E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哪段不满意单独重做哪段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89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E7D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E7D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人工拼接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E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改台词自动重配音、重字幕、重拼接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89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靠剪映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B8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E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全程先审后花钱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89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E7D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B8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B8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E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零输入：照片进、成片出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89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B8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B8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单一垂类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与即梦的差异一句话：它交付给创作者的是“乐高积木”，我们交付给店老板的是“成品”。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897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A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数据来源：2026 年 9 月 1 日公开检索与内部竞品实测。</a:t>
            </a:r>
            <a:endParaRPr lang="en-US" sz="850" dirty="0"/>
          </a:p>
        </p:txBody>
      </p:sp>
      <p:pic>
        <p:nvPicPr>
          <p:cNvPr id="10" name="Image 1" descr="/tmp/claude-0/-home-user-website/1713201c-620c-5ce1-b439-a99d37e654e6/scratchpad/build/../assets/tn_logo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246888" cy="24688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96112" y="6309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ThinkNova  ·  AI Marketing for Every Small Business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tn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7492"/>
            <a:ext cx="146304" cy="146304"/>
          </a:xfrm>
          <a:prstGeom prst="ellipse">
            <a:avLst/>
          </a:prstGeom>
          <a:solidFill>
            <a:srgbClr val="00BFEA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04672" y="45720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订阅制，按需取用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subscription. Credits consumed by actual generation.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2651760" cy="3200400"/>
          </a:xfrm>
          <a:prstGeom prst="roundRect">
            <a:avLst>
              <a:gd name="adj" fmla="val 4828"/>
            </a:avLst>
          </a:prstGeom>
          <a:solidFill>
            <a:srgbClr val="12233D">
              <a:alpha val="80000"/>
            </a:srgbClr>
          </a:solidFill>
          <a:ln w="9525">
            <a:solidFill>
              <a:srgbClr val="22385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基础档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974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154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29.8</a:t>
            </a:r>
            <a:pPr indent="0" marL="0">
              <a:buNone/>
            </a:pPr>
            <a:r>
              <a:rPr lang="en-US" sz="1200" dirty="0">
                <a:solidFill>
                  <a:srgbClr val="8A9B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/月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206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B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轻量尝试，日常上新与促销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383280" y="2103120"/>
            <a:ext cx="2651760" cy="3200400"/>
          </a:xfrm>
          <a:prstGeom prst="roundRect">
            <a:avLst>
              <a:gd name="adj" fmla="val 4828"/>
            </a:avLst>
          </a:prstGeom>
          <a:solidFill>
            <a:srgbClr val="0B3A55">
              <a:alpha val="80000"/>
            </a:srgbClr>
          </a:solidFill>
          <a:ln w="15875">
            <a:solidFill>
              <a:srgbClr val="00BF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57600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进阶档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0" y="26974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3657600" y="3154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</a:t>
            </a:r>
            <a:pPr indent="0" marL="0">
              <a:buNone/>
            </a:pPr>
            <a:r>
              <a:rPr lang="en-US" sz="4000" b="1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99.8</a:t>
            </a:r>
            <a:pPr indent="0" marL="0">
              <a:buNone/>
            </a:pPr>
            <a:r>
              <a:rPr lang="en-US" sz="1200" dirty="0">
                <a:solidFill>
                  <a:srgbClr val="8A9B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/月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657600" y="4206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B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稳定日更，多场景持续获客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17920" y="2103120"/>
            <a:ext cx="2651760" cy="3200400"/>
          </a:xfrm>
          <a:prstGeom prst="roundRect">
            <a:avLst>
              <a:gd name="adj" fmla="val 4828"/>
            </a:avLst>
          </a:prstGeom>
          <a:solidFill>
            <a:srgbClr val="12233D">
              <a:alpha val="80000"/>
            </a:srgbClr>
          </a:solidFill>
          <a:ln w="9525">
            <a:solidFill>
              <a:srgbClr val="2238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92240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专业档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26974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492240" y="3154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</a:t>
            </a:r>
            <a:pPr indent="0" marL="0">
              <a:buNone/>
            </a:pPr>
            <a:r>
              <a:rPr lang="en-US" sz="1200" dirty="0">
                <a:solidFill>
                  <a:srgbClr val="8A9B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/月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4206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B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高频产出，多门店或多账号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52560" y="2103120"/>
            <a:ext cx="2587752" cy="3200400"/>
          </a:xfrm>
          <a:prstGeom prst="roundRect">
            <a:avLst>
              <a:gd name="adj" fmla="val 4947"/>
            </a:avLst>
          </a:prstGeom>
          <a:solidFill>
            <a:srgbClr val="00BFEA"/>
          </a:solidFill>
          <a:ln w="9525">
            <a:solidFill>
              <a:srgbClr val="00BF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32688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企业版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9326880" y="26974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32688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定制报价</a:t>
            </a:r>
            <a:endParaRPr lang="en-US" sz="2800" dirty="0"/>
          </a:p>
        </p:txBody>
      </p:sp>
      <p:sp>
        <p:nvSpPr>
          <p:cNvPr id="26" name="Text 23"/>
          <p:cNvSpPr txBox="1"/>
          <p:nvPr/>
        </p:nvSpPr>
        <p:spPr>
          <a:xfrm>
            <a:off x="9326880" y="4206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品牌专属模板、批量生产、人工质检与专属交付</a:t>
            </a:r>
            <a:endParaRPr lang="en-US" sz="115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623560"/>
            <a:ext cx="237744" cy="23774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896112" y="558698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视频与海报共享一套订阅与积分</a:t>
            </a:r>
            <a:endParaRPr lang="en-US" sz="115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5623560"/>
            <a:ext cx="237744" cy="237744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4626864" y="558698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轻度与重度用户各取所需</a:t>
            </a:r>
            <a:endParaRPr lang="en-US" sz="115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5623560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8357616" y="558698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手机端几分钟完成注册到付费</a:t>
            </a:r>
            <a:endParaRPr lang="en-US" sz="1150" dirty="0"/>
          </a:p>
        </p:txBody>
      </p:sp>
      <p:pic>
        <p:nvPicPr>
          <p:cNvPr id="33" name="Image 4" descr="/tmp/claude-0/-home-user-website/1713201c-620c-5ce1-b439-a99d37e654e6/scratchpad/build/../assets/tn_logo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36792"/>
            <a:ext cx="246888" cy="246888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896112" y="6309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6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ThinkNova  ·  AI Marketing for Every Small Business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6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tn_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7492"/>
            <a:ext cx="146304" cy="146304"/>
          </a:xfrm>
          <a:prstGeom prst="ellipse">
            <a:avLst/>
          </a:prstGeom>
          <a:solidFill>
            <a:srgbClr val="00BFEA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04672" y="45720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8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不是概念，是已经在跑的产品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Shipped, live, and commercialised.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544068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9525">
            <a:solidFill>
              <a:srgbClr val="DC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2331720"/>
            <a:ext cx="603504" cy="603504"/>
          </a:xfrm>
          <a:prstGeom prst="ellipse">
            <a:avLst/>
          </a:prstGeom>
          <a:solidFill>
            <a:srgbClr val="E3F7F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" y="2482596"/>
            <a:ext cx="301752" cy="30175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224028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产品完整上线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1645920" y="25877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视频与海报双产品线在真实商家环境跑通，下单到出片再到发布全链路闭环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44768" y="2057400"/>
            <a:ext cx="544068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9525">
            <a:solidFill>
              <a:srgbClr val="DC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00800" y="2331720"/>
            <a:ext cx="603504" cy="603504"/>
          </a:xfrm>
          <a:prstGeom prst="ellipse">
            <a:avLst/>
          </a:prstGeom>
          <a:solidFill>
            <a:srgbClr val="E3F7F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2482596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242048" y="224028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行业内容体系成型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7242048" y="25877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多行业、多场景模板与案例库建成，覆盖餐饮、美业、零售、服务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3383280"/>
            <a:ext cx="544068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9525">
            <a:solidFill>
              <a:srgbClr val="DC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04672" y="3657600"/>
            <a:ext cx="603504" cy="603504"/>
          </a:xfrm>
          <a:prstGeom prst="ellipse">
            <a:avLst/>
          </a:prstGeom>
          <a:solidFill>
            <a:srgbClr val="E3F7FD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" y="3808476"/>
            <a:ext cx="301752" cy="30175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645920" y="356616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多语言能力就绪</a:t>
            </a:r>
            <a:endParaRPr lang="en-US" sz="1450" dirty="0"/>
          </a:p>
        </p:txBody>
      </p:sp>
      <p:sp>
        <p:nvSpPr>
          <p:cNvPr id="21" name="Text 15"/>
          <p:cNvSpPr txBox="1"/>
          <p:nvPr/>
        </p:nvSpPr>
        <p:spPr>
          <a:xfrm>
            <a:off x="1645920" y="39136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种输出语言全部上线，覆盖东南亚主要市场与中文市场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144768" y="3383280"/>
            <a:ext cx="544068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9525">
            <a:solidFill>
              <a:srgbClr val="DC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400800" y="3657600"/>
            <a:ext cx="603504" cy="603504"/>
          </a:xfrm>
          <a:prstGeom prst="ellipse">
            <a:avLst/>
          </a:prstGeom>
          <a:solidFill>
            <a:srgbClr val="E3F7FD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1676" y="3808476"/>
            <a:ext cx="301752" cy="30175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242048" y="356616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参考图还原验证通过</a:t>
            </a:r>
            <a:endParaRPr lang="en-US" sz="1450" dirty="0"/>
          </a:p>
        </p:txBody>
      </p:sp>
      <p:sp>
        <p:nvSpPr>
          <p:cNvPr id="26" name="Text 19"/>
          <p:cNvSpPr txBox="1"/>
          <p:nvPr/>
        </p:nvSpPr>
        <p:spPr>
          <a:xfrm>
            <a:off x="7242048" y="39136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上传门头与商品照，成片做到招牌文字级还原与外观复刻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48640" y="4709160"/>
            <a:ext cx="544068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9525">
            <a:solidFill>
              <a:srgbClr val="DC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04672" y="4983480"/>
            <a:ext cx="603504" cy="603504"/>
          </a:xfrm>
          <a:prstGeom prst="ellipse">
            <a:avLst/>
          </a:prstGeom>
          <a:solidFill>
            <a:srgbClr val="E3F7FD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" y="5134356"/>
            <a:ext cx="301752" cy="30175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645920" y="489204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商业化链路打通</a:t>
            </a:r>
            <a:endParaRPr lang="en-US" sz="1450" dirty="0"/>
          </a:p>
        </p:txBody>
      </p:sp>
      <p:sp>
        <p:nvSpPr>
          <p:cNvPr id="31" name="Text 23"/>
          <p:cNvSpPr txBox="1"/>
          <p:nvPr/>
        </p:nvSpPr>
        <p:spPr>
          <a:xfrm>
            <a:off x="1645920" y="52395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订阅制三档上线，注册到付费在手机端几分钟内完成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6144768" y="4709160"/>
            <a:ext cx="544068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9525">
            <a:solidFill>
              <a:srgbClr val="DC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6400800" y="4983480"/>
            <a:ext cx="603504" cy="603504"/>
          </a:xfrm>
          <a:prstGeom prst="ellipse">
            <a:avLst/>
          </a:prstGeom>
          <a:solidFill>
            <a:srgbClr val="E3F7FD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1676" y="5134356"/>
            <a:ext cx="301752" cy="301752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7242048" y="489204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移动端网页版上线</a:t>
            </a:r>
            <a:endParaRPr lang="en-US" sz="1450" dirty="0"/>
          </a:p>
        </p:txBody>
      </p:sp>
      <p:sp>
        <p:nvSpPr>
          <p:cNvPr id="36" name="Text 27"/>
          <p:cNvSpPr txBox="1"/>
          <p:nvPr/>
        </p:nvSpPr>
        <p:spPr>
          <a:xfrm>
            <a:off x="7242048" y="52395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商家在手机浏览器即可完成下单到出片的完整流程</a:t>
            </a:r>
            <a:endParaRPr lang="en-US" sz="1100" dirty="0"/>
          </a:p>
        </p:txBody>
      </p:sp>
      <p:pic>
        <p:nvPicPr>
          <p:cNvPr id="37" name="Image 7" descr="/tmp/claude-0/-home-user-website/1713201c-620c-5ce1-b439-a99d37e654e6/scratchpad/build/../assets/tn_logo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6336792"/>
            <a:ext cx="246888" cy="246888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896112" y="6309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ThinkNova  ·  AI Marketing for Every Small Business</a:t>
            </a:r>
            <a:endParaRPr lang="en-US" sz="900" dirty="0"/>
          </a:p>
        </p:txBody>
      </p:sp>
      <p:sp>
        <p:nvSpPr>
          <p:cNvPr id="39" name="Text 29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tn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7492"/>
            <a:ext cx="146304" cy="146304"/>
          </a:xfrm>
          <a:prstGeom prst="ellipse">
            <a:avLst/>
          </a:prstGeom>
          <a:solidFill>
            <a:srgbClr val="00BFEA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04672" y="45720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技术密度高、共事十年的稳定班底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dense, stable engineering team — together for a decade.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2633472" cy="3246120"/>
          </a:xfrm>
          <a:prstGeom prst="roundRect">
            <a:avLst>
              <a:gd name="adj" fmla="val 4861"/>
            </a:avLst>
          </a:prstGeom>
          <a:solidFill>
            <a:srgbClr val="12233D">
              <a:alpha val="80000"/>
            </a:srgbClr>
          </a:solidFill>
          <a:ln w="9525">
            <a:solidFill>
              <a:srgbClr val="2238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2377440"/>
            <a:ext cx="731520" cy="731520"/>
          </a:xfrm>
          <a:prstGeom prst="ellipse">
            <a:avLst/>
          </a:prstGeom>
          <a:solidFill>
            <a:srgbClr val="00BF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24612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Frey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63016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创始人 · 总负责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886200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206240"/>
            <a:ext cx="21305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9B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十年软件开发背景，兼具技术判断与产品视角；主导平台从 0 到 1 的产品定义与技术路线，统筹战略与商业化增长。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64992" y="2103120"/>
            <a:ext cx="2633472" cy="3246120"/>
          </a:xfrm>
          <a:prstGeom prst="roundRect">
            <a:avLst>
              <a:gd name="adj" fmla="val 4861"/>
            </a:avLst>
          </a:prstGeom>
          <a:solidFill>
            <a:srgbClr val="12233D">
              <a:alpha val="80000"/>
            </a:srgbClr>
          </a:solidFill>
          <a:ln w="9525">
            <a:solidFill>
              <a:srgbClr val="2238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39312" y="2377440"/>
            <a:ext cx="731520" cy="731520"/>
          </a:xfrm>
          <a:prstGeom prst="ellipse">
            <a:avLst/>
          </a:prstGeom>
          <a:solidFill>
            <a:srgbClr val="00BFEA">
              <a:alpha val="25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639312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3639312" y="324612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Vicky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3639312" y="363016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合伙人 · 战略合作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3639312" y="3886200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Partner, Strategy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3639312" y="4206240"/>
            <a:ext cx="21305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9B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负责行业协会与政企关系、国际机构合作、赛事与政府资源、对外合作与合规统筹。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181344" y="2103120"/>
            <a:ext cx="2633472" cy="3246120"/>
          </a:xfrm>
          <a:prstGeom prst="roundRect">
            <a:avLst>
              <a:gd name="adj" fmla="val 4861"/>
            </a:avLst>
          </a:prstGeom>
          <a:solidFill>
            <a:srgbClr val="12233D">
              <a:alpha val="80000"/>
            </a:srgbClr>
          </a:solidFill>
          <a:ln w="9525">
            <a:solidFill>
              <a:srgbClr val="2238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55664" y="2377440"/>
            <a:ext cx="731520" cy="731520"/>
          </a:xfrm>
          <a:prstGeom prst="ellipse">
            <a:avLst/>
          </a:prstGeom>
          <a:solidFill>
            <a:srgbClr val="00BFEA">
              <a:alpha val="25000"/>
            </a:srgbClr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55664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6455664" y="324612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6455664" y="363016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技术负责人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455664" y="3886200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Lead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6455664" y="4206240"/>
            <a:ext cx="21305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9B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十余年开发经验，担任技术负责人十年；曾开发并长期运维多个千万级系统。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997696" y="2103120"/>
            <a:ext cx="2633472" cy="3246120"/>
          </a:xfrm>
          <a:prstGeom prst="roundRect">
            <a:avLst>
              <a:gd name="adj" fmla="val 4861"/>
            </a:avLst>
          </a:prstGeom>
          <a:solidFill>
            <a:srgbClr val="12233D">
              <a:alpha val="80000"/>
            </a:srgbClr>
          </a:solidFill>
          <a:ln w="9525">
            <a:solidFill>
              <a:srgbClr val="22385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272016" y="2377440"/>
            <a:ext cx="731520" cy="731520"/>
          </a:xfrm>
          <a:prstGeom prst="ellipse">
            <a:avLst/>
          </a:prstGeom>
          <a:solidFill>
            <a:srgbClr val="00BFEA">
              <a:alpha val="25000"/>
            </a:srgb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272016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31" name="Text 28"/>
          <p:cNvSpPr txBox="1"/>
          <p:nvPr/>
        </p:nvSpPr>
        <p:spPr>
          <a:xfrm>
            <a:off x="9272016" y="324612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Aying</a:t>
            </a:r>
            <a:endParaRPr lang="en-US" sz="1900" dirty="0"/>
          </a:p>
        </p:txBody>
      </p:sp>
      <p:sp>
        <p:nvSpPr>
          <p:cNvPr id="32" name="Text 29"/>
          <p:cNvSpPr txBox="1"/>
          <p:nvPr/>
        </p:nvSpPr>
        <p:spPr>
          <a:xfrm>
            <a:off x="9272016" y="363016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技术负责人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272016" y="3886200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Lead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9272016" y="4206240"/>
            <a:ext cx="21305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9B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十余年开发经验，负责平台架构、AI 生成管线与系统稳定性。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48640" y="5532120"/>
            <a:ext cx="11091672" cy="548640"/>
          </a:xfrm>
          <a:prstGeom prst="roundRect">
            <a:avLst>
              <a:gd name="adj" fmla="val 23333"/>
            </a:avLst>
          </a:prstGeom>
          <a:solidFill>
            <a:srgbClr val="0B3A55">
              <a:alpha val="80000"/>
            </a:srgbClr>
          </a:solidFill>
          <a:ln w="9525">
            <a:solidFill>
              <a:srgbClr val="22385A"/>
            </a:solidFill>
            <a:prstDash val="solid"/>
          </a:ln>
        </p:spPr>
      </p:sp>
      <p:pic>
        <p:nvPicPr>
          <p:cNvPr id="36" name="Image 1" descr="/tmp/claude-0/-home-user-website/1713201c-620c-5ce1-b439-a99d37e654e6/scratchpad/build/../assets/j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41848"/>
            <a:ext cx="384048" cy="329184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1325880" y="55321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技术背书：团队源自 2014 年成立的上海绩盟网络，累计交付 100+ 项目，服务欧莱雅、江诗丹顿、1号店、闲鱼等品牌。</a:t>
            </a:r>
            <a:endParaRPr lang="en-US" sz="1150" dirty="0"/>
          </a:p>
        </p:txBody>
      </p:sp>
      <p:pic>
        <p:nvPicPr>
          <p:cNvPr id="38" name="Image 2" descr="/tmp/claude-0/-home-user-website/1713201c-620c-5ce1-b439-a99d37e654e6/scratchpad/build/../assets/tn_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36792"/>
            <a:ext cx="246888" cy="246888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896112" y="6309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6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ThinkNova  ·  AI Marketing for Every Small Business</a:t>
            </a:r>
            <a:endParaRPr lang="en-US" sz="900" dirty="0"/>
          </a:p>
        </p:txBody>
      </p:sp>
      <p:sp>
        <p:nvSpPr>
          <p:cNvPr id="40" name="Text 35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6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tn_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7492"/>
            <a:ext cx="146304" cy="146304"/>
          </a:xfrm>
          <a:prstGeom prst="ellipse">
            <a:avLst/>
          </a:prstGeom>
          <a:solidFill>
            <a:srgbClr val="00BFEA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04672" y="45720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8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从两个岗位，到一整个 AI 营销部门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two roles today to a full AI marketing department.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2331720"/>
            <a:ext cx="10515600" cy="0"/>
          </a:xfrm>
          <a:prstGeom prst="line">
            <a:avLst/>
          </a:prstGeom>
          <a:noFill/>
          <a:ln w="25400">
            <a:solidFill>
              <a:srgbClr val="DCE5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" y="2221992"/>
            <a:ext cx="219456" cy="219456"/>
          </a:xfrm>
          <a:prstGeom prst="ellipse">
            <a:avLst/>
          </a:prstGeom>
          <a:solidFill>
            <a:srgbClr val="00BFEA"/>
          </a:solidFill>
          <a:ln w="25400">
            <a:solidFill>
              <a:srgbClr val="00BF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697480"/>
            <a:ext cx="3566160" cy="2926080"/>
          </a:xfrm>
          <a:prstGeom prst="roundRect">
            <a:avLst>
              <a:gd name="adj" fmla="val 4375"/>
            </a:avLst>
          </a:prstGeom>
          <a:solidFill>
            <a:srgbClr val="0F1E33"/>
          </a:solidFill>
          <a:ln w="9525">
            <a:solidFill>
              <a:srgbClr val="0F1E33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22960" y="2926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201168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TERM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5204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 APP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1–2 分钟长视频（跨段自动拼接）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管理端数据分析系统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成片自动字幕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480560" y="2221992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BF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79392" y="2697480"/>
            <a:ext cx="3566160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C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553712" y="2926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5742432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008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TERM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553712" y="35204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开源模型本地部署，成本自控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多语言界面扩展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数据看板深化，反哺生成策略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8211312" y="2221992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BF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10144" y="2697480"/>
            <a:ext cx="3566160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C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8284464" y="2926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远期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9473184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008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TERM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284464" y="35204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用户互助长视频：经营者之间互供素材、互相引流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B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沿内容营销完整职能逐岗位补齐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852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A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路线图为方向性规划，未上线内容不作为当前产品承诺。</a:t>
            </a:r>
            <a:endParaRPr lang="en-US" sz="850" dirty="0"/>
          </a:p>
        </p:txBody>
      </p:sp>
      <p:pic>
        <p:nvPicPr>
          <p:cNvPr id="24" name="Image 1" descr="/tmp/claude-0/-home-user-website/1713201c-620c-5ce1-b439-a99d37e654e6/scratchpad/build/../assets/tn_logo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246888" cy="246888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896112" y="6309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ThinkNova  ·  AI Marketing for Every Small Business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tn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user-website/1713201c-620c-5ce1-b439-a99d37e654e6/scratchpad/build/../assets/tn_logo_white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7863840" y="1188720"/>
            <a:ext cx="4206240" cy="4169664"/>
          </a:xfrm>
          <a:prstGeom prst="rect">
            <a:avLst/>
          </a:prstGeom>
        </p:spPr>
      </p:pic>
      <p:pic>
        <p:nvPicPr>
          <p:cNvPr id="4" name="Image 2" descr="/tmp/claude-0/-home-user-website/1713201c-620c-5ce1-b439-a99d37e654e6/scratchpad/build/../assets/tn_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85800"/>
            <a:ext cx="685800" cy="676656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72768" y="731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ThinkNova</a:t>
            </a:r>
            <a:endParaRPr lang="en-US" sz="2400" dirty="0"/>
          </a:p>
        </p:txBody>
      </p:sp>
      <p:sp>
        <p:nvSpPr>
          <p:cNvPr id="6" name="Text 1"/>
          <p:cNvSpPr txBox="1"/>
          <p:nvPr/>
        </p:nvSpPr>
        <p:spPr>
          <a:xfrm>
            <a:off x="731520" y="201168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所有小生意的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00BF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营销部门</a:t>
            </a:r>
            <a:endParaRPr lang="en-US" sz="5400" dirty="0"/>
          </a:p>
        </p:txBody>
      </p:sp>
      <p:sp>
        <p:nvSpPr>
          <p:cNvPr id="7" name="Text 2"/>
          <p:cNvSpPr txBox="1"/>
          <p:nvPr/>
        </p:nvSpPr>
        <p:spPr>
          <a:xfrm>
            <a:off x="731520" y="3931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9F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marketing department for every small business.</a:t>
            </a:r>
            <a:endParaRPr lang="en-US" sz="1900" dirty="0"/>
          </a:p>
        </p:txBody>
      </p:sp>
      <p:sp>
        <p:nvSpPr>
          <p:cNvPr id="8" name="Text 3"/>
          <p:cNvSpPr txBox="1"/>
          <p:nvPr/>
        </p:nvSpPr>
        <p:spPr>
          <a:xfrm>
            <a:off x="731520" y="4572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的红利，不只属于会用 AI 的人。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731520" y="6126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 ·   Singapore   ·   Powered by Jimeng Network 绩盟网络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ThinkNova 产品介绍 | Product Overview</dc:title>
  <dc:subject>PptxGenJS Presentation</dc:subject>
  <dc:creator>ThinkNova</dc:creator>
  <cp:lastModifiedBy>ThinkNova</cp:lastModifiedBy>
  <cp:revision>1</cp:revision>
  <dcterms:created xsi:type="dcterms:W3CDTF">2026-09-27T07:53:19Z</dcterms:created>
  <dcterms:modified xsi:type="dcterms:W3CDTF">2026-09-27T07:53:19Z</dcterms:modified>
</cp:coreProperties>
</file>